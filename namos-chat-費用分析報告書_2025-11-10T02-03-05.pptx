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5" r:id="rId30"/>
    <p:sldId id="286" r:id="rId31"/>
    <p:sldId id="287" r:id="rId32"/>
    <p:sldId id="288" r:id="rId33"/>
    <p:sldId id="289" r:id="rId34"/>
    <p:sldId id="290" r:id="rId35"/>
    <p:sldId id="291" r:id="rId36"/>
    <p:sldId id="292"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616233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marL="0" indent="0" algn="ctr">
              <a:buNone/>
            </a:pPr>
            <a:r>
              <a:rPr lang="en-US" sz="4400" b="1" dirty="0">
                <a:solidFill>
                  <a:srgbClr val="1F4788"/>
                </a:solidFill>
              </a:rPr>
              <a:t>namos-chat-v1</a:t>
            </a:r>
            <a:endParaRPr lang="en-US" sz="4400" dirty="0"/>
          </a:p>
        </p:txBody>
      </p:sp>
      <p:sp>
        <p:nvSpPr>
          <p:cNvPr id="3" name="Text 1"/>
          <p:cNvSpPr/>
          <p:nvPr/>
        </p:nvSpPr>
        <p:spPr>
          <a:xfrm>
            <a:off x="457200" y="2286000"/>
            <a:ext cx="8229600" cy="731520"/>
          </a:xfrm>
          <a:prstGeom prst="rect">
            <a:avLst/>
          </a:prstGeom>
          <a:noFill/>
          <a:ln/>
        </p:spPr>
        <p:txBody>
          <a:bodyPr wrap="square" rtlCol="0" anchor="ctr"/>
          <a:lstStyle/>
          <a:p>
            <a:pPr marL="0" indent="0" algn="ctr">
              <a:buNone/>
            </a:pPr>
            <a:r>
              <a:rPr lang="en-US" sz="2800" dirty="0">
                <a:solidFill>
                  <a:srgbClr val="4472C4"/>
                </a:solidFill>
              </a:rPr>
              <a:t>総合費用分析及び運営戦略報告書</a:t>
            </a:r>
            <a:endParaRPr lang="en-US" sz="2800" dirty="0"/>
          </a:p>
        </p:txBody>
      </p:sp>
      <p:sp>
        <p:nvSpPr>
          <p:cNvPr id="4" name="Text 2"/>
          <p:cNvSpPr/>
          <p:nvPr/>
        </p:nvSpPr>
        <p:spPr>
          <a:xfrm>
            <a:off x="914400" y="3474720"/>
            <a:ext cx="7315200" cy="457200"/>
          </a:xfrm>
          <a:prstGeom prst="rect">
            <a:avLst/>
          </a:prstGeom>
          <a:noFill/>
          <a:ln/>
        </p:spPr>
        <p:txBody>
          <a:bodyPr wrap="square" rtlCol="0" anchor="ctr"/>
          <a:lstStyle/>
          <a:p>
            <a:pPr marL="0" indent="0" algn="ctr">
              <a:buNone/>
            </a:pPr>
            <a:r>
              <a:rPr lang="en-US" sz="1600" dirty="0">
                <a:solidFill>
                  <a:srgbClr val="666666"/>
                </a:solidFill>
              </a:rPr>
              <a:t>AI チャットサービスの詳細な財務分析と戦略提案</a:t>
            </a:r>
            <a:endParaRPr lang="en-US" sz="1600" dirty="0"/>
          </a:p>
        </p:txBody>
      </p:sp>
      <p:sp>
        <p:nvSpPr>
          <p:cNvPr id="5" name="Text 3"/>
          <p:cNvSpPr/>
          <p:nvPr/>
        </p:nvSpPr>
        <p:spPr>
          <a:xfrm>
            <a:off x="914400" y="4389120"/>
            <a:ext cx="7315200" cy="365760"/>
          </a:xfrm>
          <a:prstGeom prst="rect">
            <a:avLst/>
          </a:prstGeom>
          <a:noFill/>
          <a:ln/>
        </p:spPr>
        <p:txBody>
          <a:bodyPr wrap="square" rtlCol="0" anchor="ctr"/>
          <a:lstStyle/>
          <a:p>
            <a:pPr marL="0" indent="0" algn="ctr">
              <a:buNone/>
            </a:pPr>
            <a:r>
              <a:rPr lang="en-US" sz="1400" i="1" dirty="0">
                <a:solidFill>
                  <a:srgbClr val="999999"/>
                </a:solidFill>
              </a:rPr>
              <a:t>為替レート: $1 USD = 150 JPY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marL="0" indent="0">
              <a:buNone/>
            </a:pPr>
            <a:r>
              <a:rPr lang="en-US" sz="2400" b="1" dirty="0">
                <a:solidFill>
                  <a:srgbClr val="1F4788"/>
                </a:solidFill>
              </a:rPr>
              <a:t>目次</a:t>
            </a:r>
            <a:endParaRPr lang="en-US" sz="2400" dirty="0"/>
          </a:p>
        </p:txBody>
      </p:sp>
      <p:sp>
        <p:nvSpPr>
          <p:cNvPr id="3" name="Text 1"/>
          <p:cNvSpPr/>
          <p:nvPr/>
        </p:nvSpPr>
        <p:spPr>
          <a:xfrm>
            <a:off x="1371600" y="1371600"/>
            <a:ext cx="6400800" cy="3657600"/>
          </a:xfrm>
          <a:prstGeom prst="rect">
            <a:avLst/>
          </a:prstGeom>
          <a:noFill/>
          <a:ln/>
        </p:spPr>
        <p:txBody>
          <a:bodyPr wrap="square" rtlCol="0" anchor="ctr"/>
          <a:lstStyle/>
          <a:p>
            <a:pPr marL="342900" indent="-342900">
              <a:lnSpc>
                <a:spcPts val="3600"/>
              </a:lnSpc>
              <a:buSzPct val="100000"/>
              <a:buChar char="•"/>
            </a:pPr>
            <a:r>
              <a:rPr lang="en-US" sz="1600" dirty="0">
                <a:solidFill>
                  <a:srgbClr val="333333"/>
                </a:solidFill>
              </a:rPr>
              <a:t>1. 核心単位経済性分析</a:t>
            </a:r>
            <a:endParaRPr lang="en-US" sz="1600" dirty="0"/>
          </a:p>
          <a:p>
            <a:pPr marL="342900" indent="-342900">
              <a:lnSpc>
                <a:spcPts val="3600"/>
              </a:lnSpc>
              <a:buSzPct val="100000"/>
              <a:buChar char="•"/>
            </a:pPr>
            <a:r>
              <a:rPr lang="en-US" sz="1600" dirty="0">
                <a:solidFill>
                  <a:srgbClr val="333333"/>
                </a:solidFill>
              </a:rPr>
              <a:t>2. 固定費用分析</a:t>
            </a:r>
            <a:endParaRPr lang="en-US" sz="1600" dirty="0"/>
          </a:p>
          <a:p>
            <a:pPr marL="342900" indent="-342900">
              <a:lnSpc>
                <a:spcPts val="3600"/>
              </a:lnSpc>
              <a:buSzPct val="100000"/>
              <a:buChar char="•"/>
            </a:pPr>
            <a:r>
              <a:rPr lang="en-US" sz="1600" dirty="0">
                <a:solidFill>
                  <a:srgbClr val="333333"/>
                </a:solidFill>
              </a:rPr>
              <a:t>3. 損益分岐点（BEP）分析</a:t>
            </a:r>
            <a:endParaRPr lang="en-US" sz="1600" dirty="0"/>
          </a:p>
          <a:p>
            <a:pPr marL="342900" indent="-342900">
              <a:lnSpc>
                <a:spcPts val="3600"/>
              </a:lnSpc>
              <a:buSzPct val="100000"/>
              <a:buChar char="•"/>
            </a:pPr>
            <a:r>
              <a:rPr lang="en-US" sz="1600" dirty="0">
                <a:solidFill>
                  <a:srgbClr val="333333"/>
                </a:solidFill>
              </a:rPr>
              <a:t>4. 初期赤字シナリオ</a:t>
            </a:r>
            <a:endParaRPr lang="en-US" sz="1600" dirty="0"/>
          </a:p>
          <a:p>
            <a:pPr marL="342900" indent="-342900">
              <a:lnSpc>
                <a:spcPts val="3600"/>
              </a:lnSpc>
              <a:buSzPct val="100000"/>
              <a:buChar char="•"/>
            </a:pPr>
            <a:r>
              <a:rPr lang="en-US" sz="1600" dirty="0">
                <a:solidFill>
                  <a:srgbClr val="333333"/>
                </a:solidFill>
              </a:rPr>
              <a:t>5. 損益（P&amp;L）分析</a:t>
            </a:r>
            <a:endParaRPr lang="en-US" sz="1600" dirty="0"/>
          </a:p>
          <a:p>
            <a:pPr marL="342900" indent="-342900">
              <a:lnSpc>
                <a:spcPts val="3600"/>
              </a:lnSpc>
              <a:buSzPct val="100000"/>
              <a:buChar char="•"/>
            </a:pPr>
            <a:r>
              <a:rPr lang="en-US" sz="1600" dirty="0">
                <a:solidFill>
                  <a:srgbClr val="333333"/>
                </a:solidFill>
              </a:rPr>
              <a:t>6. 費用構造詳細分析</a:t>
            </a:r>
            <a:endParaRPr lang="en-US" sz="1600" dirty="0"/>
          </a:p>
          <a:p>
            <a:pPr marL="342900" indent="-342900">
              <a:lnSpc>
                <a:spcPts val="3600"/>
              </a:lnSpc>
              <a:buSzPct val="100000"/>
              <a:buChar char="•"/>
            </a:pPr>
            <a:r>
              <a:rPr lang="en-US" sz="1600" dirty="0">
                <a:solidFill>
                  <a:srgbClr val="333333"/>
                </a:solidFill>
              </a:rPr>
              <a:t>7. 収益性シナリオ分析</a:t>
            </a:r>
            <a:endParaRPr lang="en-US" sz="1600" dirty="0"/>
          </a:p>
          <a:p>
            <a:pPr marL="342900" indent="-342900">
              <a:lnSpc>
                <a:spcPts val="3600"/>
              </a:lnSpc>
              <a:buSzPct val="100000"/>
              <a:buChar char="•"/>
            </a:pPr>
            <a:r>
              <a:rPr lang="en-US" sz="1600" dirty="0">
                <a:solidFill>
                  <a:srgbClr val="333333"/>
                </a:solidFill>
              </a:rPr>
              <a:t>8. インフラ比較（Netlify vs AWS）</a:t>
            </a:r>
            <a:endParaRPr lang="en-US" sz="1600" dirty="0"/>
          </a:p>
          <a:p>
            <a:pPr marL="342900" indent="-342900">
              <a:lnSpc>
                <a:spcPts val="3600"/>
              </a:lnSpc>
              <a:buSzPct val="100000"/>
              <a:buChar char="•"/>
            </a:pPr>
            <a:r>
              <a:rPr lang="en-US" sz="1600" dirty="0">
                <a:solidFill>
                  <a:srgbClr val="333333"/>
                </a:solidFill>
              </a:rPr>
              <a:t>9. モデル変更シナリオ</a:t>
            </a:r>
            <a:endParaRPr lang="en-US" sz="1600" dirty="0"/>
          </a:p>
          <a:p>
            <a:pPr marL="342900" indent="-342900">
              <a:lnSpc>
                <a:spcPts val="3600"/>
              </a:lnSpc>
              <a:buSzPct val="100000"/>
              <a:buChar char="•"/>
            </a:pPr>
            <a:r>
              <a:rPr lang="en-US" sz="1600" dirty="0">
                <a:solidFill>
                  <a:srgbClr val="333333"/>
                </a:solidFill>
              </a:rPr>
              <a:t>10. 最適運営戦略提案</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エグゼクティブサマリー</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buNone/>
            </a:pPr>
            <a:r>
              <a:rPr lang="en-US" sz="2000" b="1" dirty="0">
                <a:solidFill>
                  <a:srgbClr val="4472C4"/>
                </a:solidFill>
              </a:rPr>
              <a:t>重要な発見事項</a:t>
            </a:r>
            <a:endParaRPr lang="en-US" sz="2000" dirty="0"/>
          </a:p>
        </p:txBody>
      </p:sp>
      <p:sp>
        <p:nvSpPr>
          <p:cNvPr id="4" name="Text 2"/>
          <p:cNvSpPr/>
          <p:nvPr/>
        </p:nvSpPr>
        <p:spPr>
          <a:xfrm>
            <a:off x="731520" y="1554480"/>
            <a:ext cx="7772400" cy="3200400"/>
          </a:xfrm>
          <a:prstGeom prst="rect">
            <a:avLst/>
          </a:prstGeom>
          <a:noFill/>
          <a:ln/>
        </p:spPr>
        <p:txBody>
          <a:bodyPr wrap="square" rtlCol="0" anchor="ctr"/>
          <a:lstStyle/>
          <a:p>
            <a:pPr marL="342900" indent="-342900">
              <a:lnSpc>
                <a:spcPts val="3200"/>
              </a:lnSpc>
              <a:buSzPct val="100000"/>
              <a:buFont typeface="+mj-lt"/>
              <a:buAutoNum type="arabicPeriod"/>
            </a:pPr>
            <a:r>
              <a:rPr lang="en-US" sz="1500" dirty="0">
                <a:solidFill>
                  <a:srgbClr val="333333"/>
                </a:solidFill>
              </a:rPr>
              <a:t>貢献利益率95.3% - メッセージ1件当たり8.5円の収益に対し、変動費はわずか0.4円</a:t>
            </a:r>
            <a:endParaRPr lang="en-US" sz="1500" dirty="0"/>
          </a:p>
          <a:p>
            <a:pPr marL="342900" indent="-342900">
              <a:lnSpc>
                <a:spcPts val="3200"/>
              </a:lnSpc>
              <a:buSzPct val="100000"/>
              <a:buFont typeface="+mj-lt"/>
              <a:buAutoNum type="arabicPeriod"/>
            </a:pPr>
            <a:r>
              <a:rPr lang="en-US" sz="1500" dirty="0">
                <a:solidFill>
                  <a:srgbClr val="333333"/>
                </a:solidFill>
              </a:rPr>
              <a:t>最大のコスト要因は「自動要約機能」- LLM費用の48%を占める</a:t>
            </a:r>
            <a:endParaRPr lang="en-US" sz="1500" dirty="0"/>
          </a:p>
          <a:p>
            <a:pPr marL="342900" indent="-342900">
              <a:lnSpc>
                <a:spcPts val="3200"/>
              </a:lnSpc>
              <a:buSzPct val="100000"/>
              <a:buFont typeface="+mj-lt"/>
              <a:buAutoNum type="arabicPeriod"/>
            </a:pPr>
            <a:r>
              <a:rPr lang="en-US" sz="1500" dirty="0">
                <a:solidFill>
                  <a:srgbClr val="333333"/>
                </a:solidFill>
              </a:rPr>
              <a:t>100名のユーザーで月間158万円の純利益を達成可能</a:t>
            </a:r>
            <a:endParaRPr lang="en-US" sz="1500" dirty="0"/>
          </a:p>
          <a:p>
            <a:pPr marL="342900" indent="-342900">
              <a:lnSpc>
                <a:spcPts val="3200"/>
              </a:lnSpc>
              <a:buSzPct val="100000"/>
              <a:buFont typeface="+mj-lt"/>
              <a:buAutoNum type="arabicPeriod"/>
            </a:pPr>
            <a:r>
              <a:rPr lang="en-US" sz="1500" dirty="0">
                <a:solidFill>
                  <a:srgbClr val="333333"/>
                </a:solidFill>
              </a:rPr>
              <a:t>初期段階（50名無料ユーザー）の月間損失は約2.7万円のみ</a:t>
            </a:r>
            <a:endParaRPr lang="en-US" sz="1500" dirty="0"/>
          </a:p>
          <a:p>
            <a:pPr marL="342900" indent="-342900">
              <a:lnSpc>
                <a:spcPts val="3200"/>
              </a:lnSpc>
              <a:buSzPct val="100000"/>
              <a:buFont typeface="+mj-lt"/>
              <a:buAutoNum type="arabicPeriod"/>
            </a:pPr>
            <a:r>
              <a:rPr lang="en-US" sz="1500" dirty="0">
                <a:solidFill>
                  <a:srgbClr val="333333"/>
                </a:solidFill>
              </a:rPr>
              <a:t>Netlify→AWS移行で月間68万円のコスト削減が可能（10,000名時点）</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1. 核心単位経済性分析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サービスの収益性を決定する最も重要な指標</a:t>
            </a:r>
            <a:endParaRPr lang="en-US" sz="1600" dirty="0"/>
          </a:p>
        </p:txBody>
      </p:sp>
      <p:sp>
        <p:nvSpPr>
          <p:cNvPr id="4" name="Shape 2"/>
          <p:cNvSpPr/>
          <p:nvPr/>
        </p:nvSpPr>
        <p:spPr>
          <a:xfrm>
            <a:off x="1371600" y="1645920"/>
            <a:ext cx="6400800" cy="2286000"/>
          </a:xfrm>
          <a:prstGeom prst="rect">
            <a:avLst/>
          </a:prstGeom>
          <a:solidFill>
            <a:srgbClr val="FFF3CD"/>
          </a:solidFill>
          <a:ln w="25400">
            <a:solidFill>
              <a:srgbClr val="FFC107"/>
            </a:solidFill>
            <a:prstDash val="solid"/>
          </a:ln>
        </p:spPr>
      </p:sp>
      <p:sp>
        <p:nvSpPr>
          <p:cNvPr id="5" name="Text 3"/>
          <p:cNvSpPr/>
          <p:nvPr/>
        </p:nvSpPr>
        <p:spPr>
          <a:xfrm>
            <a:off x="1828800" y="1828800"/>
            <a:ext cx="5486400" cy="365760"/>
          </a:xfrm>
          <a:prstGeom prst="rect">
            <a:avLst/>
          </a:prstGeom>
          <a:noFill/>
          <a:ln/>
        </p:spPr>
        <p:txBody>
          <a:bodyPr wrap="square" rtlCol="0" anchor="ctr"/>
          <a:lstStyle/>
          <a:p>
            <a:pPr marL="0" indent="0">
              <a:buNone/>
            </a:pPr>
            <a:r>
              <a:rPr lang="en-US" sz="1800" b="1" dirty="0">
                <a:solidFill>
                  <a:srgbClr val="856404"/>
                </a:solidFill>
              </a:rPr>
              <a:t>メッセージ1,000件当たりの費用</a:t>
            </a:r>
            <a:endParaRPr lang="en-US" sz="1800" dirty="0"/>
          </a:p>
        </p:txBody>
      </p:sp>
      <p:sp>
        <p:nvSpPr>
          <p:cNvPr id="6" name="Text 4"/>
          <p:cNvSpPr/>
          <p:nvPr/>
        </p:nvSpPr>
        <p:spPr>
          <a:xfrm>
            <a:off x="2011680" y="2286000"/>
            <a:ext cx="5120640" cy="1463040"/>
          </a:xfrm>
          <a:prstGeom prst="rect">
            <a:avLst/>
          </a:prstGeom>
          <a:noFill/>
          <a:ln/>
        </p:spPr>
        <p:txBody>
          <a:bodyPr wrap="square" rtlCol="0" anchor="ctr"/>
          <a:lstStyle/>
          <a:p>
            <a:pPr marL="342900" indent="-342900">
              <a:lnSpc>
                <a:spcPts val="2600"/>
              </a:lnSpc>
              <a:buSzPct val="100000"/>
              <a:buChar char="•"/>
            </a:pPr>
            <a:r>
              <a:rPr lang="en-US" sz="1400" dirty="0">
                <a:solidFill>
                  <a:srgbClr val="333333"/>
                </a:solidFill>
              </a:rPr>
              <a:t>LLM - チャット (Gemini 2.5 Flash): 65.0円</a:t>
            </a:r>
            <a:endParaRPr lang="en-US" sz="1400" dirty="0"/>
          </a:p>
          <a:p>
            <a:pPr marL="342900" indent="-342900">
              <a:lnSpc>
                <a:spcPts val="2600"/>
              </a:lnSpc>
              <a:buSzPct val="100000"/>
              <a:buChar char="•"/>
            </a:pPr>
            <a:r>
              <a:rPr lang="en-US" sz="1400" dirty="0">
                <a:solidFill>
                  <a:srgbClr val="333333"/>
                </a:solidFill>
              </a:rPr>
              <a:t>LLM - 要約 (Gemini 2.5 Pro): 337.5円</a:t>
            </a:r>
            <a:endParaRPr lang="en-US" sz="1400" dirty="0"/>
          </a:p>
          <a:p>
            <a:pPr marL="342900" indent="-342900">
              <a:lnSpc>
                <a:spcPts val="2600"/>
              </a:lnSpc>
              <a:buSzPct val="100000"/>
              <a:buChar char="•"/>
            </a:pPr>
            <a:r>
              <a:rPr lang="en-US" sz="1400" dirty="0">
                <a:solidFill>
                  <a:srgbClr val="333333"/>
                </a:solidFill>
              </a:rPr>
              <a:t>Embedding (OpenAI): 0.8円</a:t>
            </a:r>
            <a:endParaRPr lang="en-US" sz="1400" dirty="0"/>
          </a:p>
          <a:p>
            <a:pPr marL="342900" indent="-342900">
              <a:lnSpc>
                <a:spcPts val="2600"/>
              </a:lnSpc>
              <a:buSzPct val="100000"/>
              <a:buChar char="•"/>
            </a:pPr>
            <a:r>
              <a:rPr lang="en-US" sz="1400" dirty="0">
                <a:solidFill>
                  <a:srgbClr val="333333"/>
                </a:solidFill>
              </a:rPr>
              <a:t>合計変動費: 403.3円</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核心単位経済性 - 詳細計算</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1188720"/>
          <a:ext cx="7315200" cy="2011680"/>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402336">
                <a:tc>
                  <a:txBody>
                    <a:bodyPr/>
                    <a:lstStyle/>
                    <a:p>
                      <a:pPr marL="0" indent="0" algn="ctr">
                        <a:buNone/>
                      </a:pPr>
                      <a:r>
                        <a:rPr lang="en-US" sz="1400" dirty="0">
                          <a:solidFill>
                            <a:srgbClr val="333333"/>
                          </a:solidFill>
                        </a:rPr>
                        <a:t>指標</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値</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備考</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2336">
                <a:tc>
                  <a:txBody>
                    <a:bodyPr/>
                    <a:lstStyle/>
                    <a:p>
                      <a:pPr marL="0" indent="0" algn="ctr">
                        <a:buNone/>
                      </a:pPr>
                      <a:r>
                        <a:rPr lang="en-US" sz="1400" dirty="0">
                          <a:solidFill>
                            <a:srgbClr val="333333"/>
                          </a:solidFill>
                        </a:rPr>
                        <a:t>メッセージ1件当たり変動費</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0.403円</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LLM + Embedding</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n-US" sz="1400" dirty="0">
                          <a:solidFill>
                            <a:srgbClr val="333333"/>
                          </a:solidFill>
                        </a:rPr>
                        <a:t>メッセージ1件当たり平均収益</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8.5円</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4つの価格プランの平均</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en-US" sz="1400" dirty="0">
                          <a:solidFill>
                            <a:srgbClr val="333333"/>
                          </a:solidFill>
                        </a:rPr>
                        <a:t>メッセージ1件当たり貢献利益</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8.097円</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収益 - 変動費</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ctr">
                        <a:buNone/>
                      </a:pPr>
                      <a:r>
                        <a:rPr lang="en-US" sz="1400" dirty="0">
                          <a:solidFill>
                            <a:srgbClr val="333333"/>
                          </a:solidFill>
                        </a:rPr>
                        <a:t>貢献利益率</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95.3%</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8.097 / 8.5</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hape 1"/>
          <p:cNvSpPr/>
          <p:nvPr/>
        </p:nvSpPr>
        <p:spPr>
          <a:xfrm>
            <a:off x="1371600" y="3657600"/>
            <a:ext cx="6400800" cy="1097280"/>
          </a:xfrm>
          <a:prstGeom prst="rect">
            <a:avLst/>
          </a:prstGeom>
          <a:solidFill>
            <a:srgbClr val="D4EDDA"/>
          </a:solidFill>
          <a:ln w="25400">
            <a:solidFill>
              <a:srgbClr val="28A745"/>
            </a:solidFill>
            <a:prstDash val="solid"/>
          </a:ln>
        </p:spPr>
      </p:sp>
      <p:sp>
        <p:nvSpPr>
          <p:cNvPr id="5" name="Text 2"/>
          <p:cNvSpPr/>
          <p:nvPr/>
        </p:nvSpPr>
        <p:spPr>
          <a:xfrm>
            <a:off x="1828800" y="3749040"/>
            <a:ext cx="5486400" cy="274320"/>
          </a:xfrm>
          <a:prstGeom prst="rect">
            <a:avLst/>
          </a:prstGeom>
          <a:noFill/>
          <a:ln/>
        </p:spPr>
        <p:txBody>
          <a:bodyPr wrap="square" rtlCol="0" anchor="ctr"/>
          <a:lstStyle/>
          <a:p>
            <a:pPr marL="0" indent="0">
              <a:buNone/>
            </a:pPr>
            <a:r>
              <a:rPr lang="en-US" sz="1600" b="1" dirty="0">
                <a:solidFill>
                  <a:srgbClr val="155724"/>
                </a:solidFill>
              </a:rPr>
              <a:t>重要な洞察</a:t>
            </a:r>
            <a:endParaRPr lang="en-US" sz="1600" dirty="0"/>
          </a:p>
        </p:txBody>
      </p:sp>
      <p:sp>
        <p:nvSpPr>
          <p:cNvPr id="3" name="Text 3"/>
          <p:cNvSpPr/>
          <p:nvPr/>
        </p:nvSpPr>
        <p:spPr>
          <a:xfrm>
            <a:off x="1828800" y="4114800"/>
            <a:ext cx="5486400" cy="548640"/>
          </a:xfrm>
          <a:prstGeom prst="rect">
            <a:avLst/>
          </a:prstGeom>
          <a:noFill/>
          <a:ln/>
        </p:spPr>
        <p:txBody>
          <a:bodyPr wrap="square" rtlCol="0" anchor="t"/>
          <a:lstStyle/>
          <a:p>
            <a:pPr marL="0" indent="0" algn="l">
              <a:buNone/>
            </a:pPr>
            <a:r>
              <a:rPr lang="en-US" sz="1200" dirty="0">
                <a:solidFill>
                  <a:srgbClr val="333333"/>
                </a:solidFill>
              </a:rPr>
              <a:t>貢献利益率95.3%は、有料ユーザー獲得と同時に高い収益性を確保できることを意味します。ビジネスの主要リスクは個別メッセージコストではなく、(A)インフラ拡張費用、(B)無料ユーザーサポートによる初期赤字です。</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2. 固定費用分析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ユーザー0名でも毎月発生する最小費用</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7680960" cy="2560320"/>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512064">
                <a:tc>
                  <a:txBody>
                    <a:bodyPr/>
                    <a:lstStyle/>
                    <a:p>
                      <a:pPr marL="0" indent="0" algn="ctr">
                        <a:buNone/>
                      </a:pPr>
                      <a:r>
                        <a:rPr lang="en-US" sz="1300" dirty="0">
                          <a:solidFill>
                            <a:srgbClr val="333333"/>
                          </a:solidFill>
                        </a:rPr>
                        <a:t>項目</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USD/月</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JPY/月</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備考</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12064">
                <a:tc>
                  <a:txBody>
                    <a:bodyPr/>
                    <a:lstStyle/>
                    <a:p>
                      <a:pPr marL="0" indent="0" algn="ctr">
                        <a:buNone/>
                      </a:pPr>
                      <a:r>
                        <a:rPr lang="en-US" sz="1300" dirty="0">
                          <a:solidFill>
                            <a:srgbClr val="333333"/>
                          </a:solidFill>
                        </a:rPr>
                        <a:t>Netlify Pro プラン</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$19.00</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2,850円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基本ホスティング</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ctr">
                        <a:buNone/>
                      </a:pPr>
                      <a:r>
                        <a:rPr lang="en-US" sz="1300" dirty="0">
                          <a:solidFill>
                            <a:srgbClr val="333333"/>
                          </a:solidFill>
                        </a:rPr>
                        <a:t>ドメイン (.com)</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$1.00</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150円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年$12を月割</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ctr">
                        <a:buNone/>
                      </a:pPr>
                      <a:r>
                        <a:rPr lang="en-US" sz="1300" dirty="0">
                          <a:solidFill>
                            <a:srgbClr val="333333"/>
                          </a:solidFill>
                        </a:rPr>
                        <a:t>データベース (Supabase Pro)</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$25.00</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3,750円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最小運用プラン</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ctr">
                        <a:buNone/>
                      </a:pPr>
                      <a:r>
                        <a:rPr lang="en-US" sz="1300" dirty="0">
                          <a:solidFill>
                            <a:srgbClr val="333333"/>
                          </a:solidFill>
                        </a:rPr>
                        <a:t>決済処理 (PayPay)</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1,980円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月間固定利用料</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lgn="ctr">
                        <a:buNone/>
                      </a:pPr>
                      <a:r>
                        <a:rPr lang="en-US" sz="1300" dirty="0">
                          <a:solidFill>
                            <a:srgbClr val="333333"/>
                          </a:solidFill>
                        </a:rPr>
                        <a:t>合計</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$45.00</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8,730円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731520" y="1554480"/>
            <a:ext cx="7680960" cy="512064"/>
          </a:xfrm>
          <a:prstGeom prst="rect">
            <a:avLst/>
          </a:prstGeom>
          <a:solidFill>
            <a:srgbClr val="4472C4"/>
          </a:solidFill>
          <a:ln/>
        </p:spPr>
      </p:sp>
      <p:sp>
        <p:nvSpPr>
          <p:cNvPr id="6" name="Text 3"/>
          <p:cNvSpPr/>
          <p:nvPr/>
        </p:nvSpPr>
        <p:spPr>
          <a:xfrm>
            <a:off x="1828800" y="4389120"/>
            <a:ext cx="5486400" cy="457200"/>
          </a:xfrm>
          <a:prstGeom prst="rect">
            <a:avLst/>
          </a:prstGeom>
          <a:noFill/>
          <a:ln/>
        </p:spPr>
        <p:txBody>
          <a:bodyPr wrap="square" rtlCol="0" anchor="ctr"/>
          <a:lstStyle/>
          <a:p>
            <a:pPr marL="0" indent="0" algn="ctr">
              <a:buNone/>
            </a:pPr>
            <a:r>
              <a:rPr lang="en-US" sz="2000" b="1" dirty="0">
                <a:solidFill>
                  <a:srgbClr val="C00000"/>
                </a:solidFill>
              </a:rPr>
              <a:t>月間最小運営費用: 8,730円</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3. 損益分岐点（BEP）分析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総費用と総収益が一致する地点</a:t>
            </a:r>
            <a:endParaRPr lang="en-US" sz="1600" dirty="0"/>
          </a:p>
        </p:txBody>
      </p:sp>
      <p:sp>
        <p:nvSpPr>
          <p:cNvPr id="4" name="Text 2"/>
          <p:cNvSpPr/>
          <p:nvPr/>
        </p:nvSpPr>
        <p:spPr>
          <a:xfrm>
            <a:off x="731520" y="1554480"/>
            <a:ext cx="7680960" cy="365760"/>
          </a:xfrm>
          <a:prstGeom prst="rect">
            <a:avLst/>
          </a:prstGeom>
          <a:noFill/>
          <a:ln/>
        </p:spPr>
        <p:txBody>
          <a:bodyPr wrap="square" rtlCol="0" anchor="ctr"/>
          <a:lstStyle/>
          <a:p>
            <a:pPr marL="0" indent="0">
              <a:buNone/>
            </a:pPr>
            <a:r>
              <a:rPr lang="en-US" sz="1800" b="1" dirty="0">
                <a:solidFill>
                  <a:srgbClr val="5B9BD5"/>
                </a:solidFill>
              </a:rPr>
              <a:t>総変動費の再計算</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828800" y="2011680"/>
          <a:ext cx="5486400" cy="256032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512064">
                <a:tc>
                  <a:txBody>
                    <a:bodyPr/>
                    <a:lstStyle/>
                    <a:p>
                      <a:pPr marL="0" indent="0" algn="ctr">
                        <a:buNone/>
                      </a:pPr>
                      <a:r>
                        <a:rPr lang="en-US" sz="1400" dirty="0">
                          <a:solidFill>
                            <a:srgbClr val="333333"/>
                          </a:solidFill>
                        </a:rPr>
                        <a:t>費目</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金額（円）</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12064">
                <a:tc>
                  <a:txBody>
                    <a:bodyPr/>
                    <a:lstStyle/>
                    <a:p>
                      <a:pPr marL="0" indent="0" algn="ctr">
                        <a:buNone/>
                      </a:pPr>
                      <a:r>
                        <a:rPr lang="en-US" sz="1400" dirty="0">
                          <a:solidFill>
                            <a:srgbClr val="333333"/>
                          </a:solidFill>
                        </a:rPr>
                        <a:t>LLM費用</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0.403</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ctr">
                        <a:buNone/>
                      </a:pPr>
                      <a:r>
                        <a:rPr lang="en-US" sz="1400" dirty="0">
                          <a:solidFill>
                            <a:srgbClr val="333333"/>
                          </a:solidFill>
                        </a:rPr>
                        <a:t>Netlify超過分（リクエスト1件当たり）</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0.03</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ctr">
                        <a:buNone/>
                      </a:pPr>
                      <a:r>
                        <a:rPr lang="en-US" sz="1400" dirty="0">
                          <a:solidFill>
                            <a:srgbClr val="333333"/>
                          </a:solidFill>
                        </a:rPr>
                        <a:t>決済手数料（売上の3.6%）</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0.306</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ctr">
                        <a:buNone/>
                      </a:pPr>
                      <a:r>
                        <a:rPr lang="en-US" sz="1400" dirty="0">
                          <a:solidFill>
                            <a:srgbClr val="333333"/>
                          </a:solidFill>
                        </a:rPr>
                        <a:t>総変動費（有料メッセージ1件）</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0.739</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lgn="ctr">
                        <a:buNone/>
                      </a:pPr>
                      <a:r>
                        <a:rPr lang="en-US" sz="1400" dirty="0">
                          <a:solidFill>
                            <a:srgbClr val="333333"/>
                          </a:solidFill>
                        </a:rPr>
                        <a:t>総貢献利益</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7.761</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000" b="1" dirty="0">
                <a:solidFill>
                  <a:srgbClr val="4472C4"/>
                </a:solidFill>
              </a:rPr>
              <a:t>BEP分析 - シナリオA（全メッセージ有料）</a:t>
            </a:r>
            <a:endParaRPr lang="en-US" sz="2000" dirty="0"/>
          </a:p>
        </p:txBody>
      </p:sp>
      <p:sp>
        <p:nvSpPr>
          <p:cNvPr id="3" name="Text 1"/>
          <p:cNvSpPr/>
          <p:nvPr/>
        </p:nvSpPr>
        <p:spPr>
          <a:xfrm>
            <a:off x="731520" y="1097280"/>
            <a:ext cx="3657600" cy="365760"/>
          </a:xfrm>
          <a:prstGeom prst="rect">
            <a:avLst/>
          </a:prstGeom>
          <a:noFill/>
          <a:ln/>
        </p:spPr>
        <p:txBody>
          <a:bodyPr wrap="square" rtlCol="0" anchor="ctr"/>
          <a:lstStyle/>
          <a:p>
            <a:pPr marL="0" indent="0">
              <a:buNone/>
            </a:pPr>
            <a:r>
              <a:rPr lang="en-US" sz="1800" b="1" dirty="0">
                <a:solidFill>
                  <a:srgbClr val="5B9BD5"/>
                </a:solidFill>
              </a:rPr>
              <a:t>前提条件</a:t>
            </a:r>
            <a:endParaRPr lang="en-US" sz="1800" dirty="0"/>
          </a:p>
        </p:txBody>
      </p:sp>
      <p:sp>
        <p:nvSpPr>
          <p:cNvPr id="4" name="Text 2"/>
          <p:cNvSpPr/>
          <p:nvPr/>
        </p:nvSpPr>
        <p:spPr>
          <a:xfrm>
            <a:off x="914400" y="1554480"/>
            <a:ext cx="3657600" cy="1371600"/>
          </a:xfrm>
          <a:prstGeom prst="rect">
            <a:avLst/>
          </a:prstGeom>
          <a:noFill/>
          <a:ln/>
        </p:spPr>
        <p:txBody>
          <a:bodyPr wrap="square" rtlCol="0" anchor="ctr"/>
          <a:lstStyle/>
          <a:p>
            <a:pPr marL="342900" indent="-342900">
              <a:lnSpc>
                <a:spcPts val="2800"/>
              </a:lnSpc>
              <a:buSzPct val="100000"/>
              <a:buChar char="•"/>
            </a:pPr>
            <a:r>
              <a:rPr lang="en-US" sz="1300" dirty="0">
                <a:solidFill>
                  <a:srgbClr val="333333"/>
                </a:solidFill>
              </a:rPr>
              <a:t>月間固定費: 8,730円</a:t>
            </a:r>
            <a:endParaRPr lang="en-US" sz="1300" dirty="0"/>
          </a:p>
          <a:p>
            <a:pPr marL="342900" indent="-342900">
              <a:lnSpc>
                <a:spcPts val="2800"/>
              </a:lnSpc>
              <a:buSzPct val="100000"/>
              <a:buChar char="•"/>
            </a:pPr>
            <a:r>
              <a:rPr lang="en-US" sz="1300" dirty="0">
                <a:solidFill>
                  <a:srgbClr val="333333"/>
                </a:solidFill>
              </a:rPr>
              <a:t>メッセージ当たり貢献利益: 7.761円</a:t>
            </a:r>
            <a:endParaRPr lang="en-US" sz="1300" dirty="0"/>
          </a:p>
          <a:p>
            <a:pPr marL="342900" indent="-342900">
              <a:lnSpc>
                <a:spcPts val="2800"/>
              </a:lnSpc>
              <a:buSzPct val="100000"/>
              <a:buChar char="•"/>
            </a:pPr>
            <a:r>
              <a:rPr lang="en-US" sz="1300" dirty="0">
                <a:solidFill>
                  <a:srgbClr val="333333"/>
                </a:solidFill>
              </a:rPr>
              <a:t>ユーザー1人当たり月平均メッセージ: 7,800件</a:t>
            </a:r>
            <a:endParaRPr lang="en-US" sz="1300" dirty="0"/>
          </a:p>
        </p:txBody>
      </p:sp>
      <p:sp>
        <p:nvSpPr>
          <p:cNvPr id="5" name="Shape 3"/>
          <p:cNvSpPr/>
          <p:nvPr/>
        </p:nvSpPr>
        <p:spPr>
          <a:xfrm>
            <a:off x="5029200" y="1097280"/>
            <a:ext cx="3657600" cy="2286000"/>
          </a:xfrm>
          <a:prstGeom prst="rect">
            <a:avLst/>
          </a:prstGeom>
          <a:solidFill>
            <a:srgbClr val="E7F3FF"/>
          </a:solidFill>
          <a:ln w="25400">
            <a:solidFill>
              <a:srgbClr val="4472C4"/>
            </a:solidFill>
            <a:prstDash val="solid"/>
          </a:ln>
        </p:spPr>
      </p:sp>
      <p:sp>
        <p:nvSpPr>
          <p:cNvPr id="6" name="Text 4"/>
          <p:cNvSpPr/>
          <p:nvPr/>
        </p:nvSpPr>
        <p:spPr>
          <a:xfrm>
            <a:off x="5212080" y="1280160"/>
            <a:ext cx="3291840" cy="365760"/>
          </a:xfrm>
          <a:prstGeom prst="rect">
            <a:avLst/>
          </a:prstGeom>
          <a:noFill/>
          <a:ln/>
        </p:spPr>
        <p:txBody>
          <a:bodyPr wrap="square" rtlCol="0" anchor="ctr"/>
          <a:lstStyle/>
          <a:p>
            <a:pPr marL="0" indent="0">
              <a:buNone/>
            </a:pPr>
            <a:r>
              <a:rPr lang="en-US" sz="1600" b="1" dirty="0">
                <a:solidFill>
                  <a:srgbClr val="1F4788"/>
                </a:solidFill>
              </a:rPr>
              <a:t>計算結果</a:t>
            </a:r>
            <a:endParaRPr lang="en-US" sz="1600" dirty="0"/>
          </a:p>
        </p:txBody>
      </p:sp>
      <p:sp>
        <p:nvSpPr>
          <p:cNvPr id="7" name="Text 5"/>
          <p:cNvSpPr/>
          <p:nvPr/>
        </p:nvSpPr>
        <p:spPr>
          <a:xfrm>
            <a:off x="5212080" y="1737360"/>
            <a:ext cx="3291840" cy="1463040"/>
          </a:xfrm>
          <a:prstGeom prst="rect">
            <a:avLst/>
          </a:prstGeom>
          <a:noFill/>
          <a:ln/>
        </p:spPr>
        <p:txBody>
          <a:bodyPr wrap="square" rtlCol="0" anchor="t"/>
          <a:lstStyle/>
          <a:p>
            <a:pPr marL="0" indent="0" algn="l">
              <a:buNone/>
            </a:pPr>
            <a:r>
              <a:rPr lang="en-US" sz="1400" dirty="0">
                <a:solidFill>
                  <a:srgbClr val="333333"/>
                </a:solidFill>
              </a:rPr>
              <a:t>BEP（メッセージ数）:</a:t>
            </a:r>
            <a:endParaRPr lang="en-US" sz="1400" dirty="0"/>
          </a:p>
          <a:p>
            <a:pPr marL="0" indent="0" algn="l">
              <a:buNone/>
            </a:pPr>
            <a:r>
              <a:rPr lang="en-US" sz="1400" dirty="0">
                <a:solidFill>
                  <a:srgbClr val="333333"/>
                </a:solidFill>
              </a:rPr>
              <a:t>8,730 ÷ 7.761 = 1,125件</a:t>
            </a:r>
            <a:endParaRPr lang="en-US" sz="1400" dirty="0"/>
          </a:p>
          <a:p>
            <a:pPr marL="0" indent="0" algn="l">
              <a:buNone/>
            </a:pPr>
            <a:endParaRPr lang="en-US" sz="1400" dirty="0"/>
          </a:p>
          <a:p>
            <a:pPr marL="0" indent="0" algn="l">
              <a:buNone/>
            </a:pPr>
            <a:r>
              <a:rPr lang="en-US" sz="1400" dirty="0">
                <a:solidFill>
                  <a:srgbClr val="333333"/>
                </a:solidFill>
              </a:rPr>
              <a:t>BEP（ユーザー数）:</a:t>
            </a:r>
            <a:endParaRPr lang="en-US" sz="1400" dirty="0"/>
          </a:p>
          <a:p>
            <a:pPr marL="0" indent="0" algn="l">
              <a:buNone/>
            </a:pPr>
            <a:r>
              <a:rPr lang="en-US" sz="1400" dirty="0">
                <a:solidFill>
                  <a:srgbClr val="333333"/>
                </a:solidFill>
              </a:rPr>
              <a:t>1,125 ÷ 7,800 = 0.14名</a:t>
            </a:r>
            <a:endParaRPr lang="en-US" sz="1400" dirty="0"/>
          </a:p>
        </p:txBody>
      </p:sp>
      <p:sp>
        <p:nvSpPr>
          <p:cNvPr id="8" name="Text 6"/>
          <p:cNvSpPr/>
          <p:nvPr/>
        </p:nvSpPr>
        <p:spPr>
          <a:xfrm>
            <a:off x="914400" y="3840480"/>
            <a:ext cx="7315200" cy="548640"/>
          </a:xfrm>
          <a:prstGeom prst="rect">
            <a:avLst/>
          </a:prstGeom>
          <a:noFill/>
          <a:ln/>
        </p:spPr>
        <p:txBody>
          <a:bodyPr wrap="square" rtlCol="0" anchor="ctr"/>
          <a:lstStyle/>
          <a:p>
            <a:pPr marL="0" indent="0" algn="ctr">
              <a:buNone/>
            </a:pPr>
            <a:r>
              <a:rPr lang="en-US" sz="1600" b="1" dirty="0">
                <a:solidFill>
                  <a:srgbClr val="C00000"/>
                </a:solidFill>
              </a:rPr>
              <a:t>⭐ 有料ユーザー1名で固定費を超える利益が発生</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000" b="1" dirty="0">
                <a:solidFill>
                  <a:srgbClr val="4472C4"/>
                </a:solidFill>
              </a:rPr>
              <a:t>BEP分析 - シナリオB（混合：30%アクティブ）</a:t>
            </a:r>
            <a:endParaRPr lang="en-US" sz="2000" dirty="0"/>
          </a:p>
        </p:txBody>
      </p:sp>
      <p:sp>
        <p:nvSpPr>
          <p:cNvPr id="3" name="Text 1"/>
          <p:cNvSpPr/>
          <p:nvPr/>
        </p:nvSpPr>
        <p:spPr>
          <a:xfrm>
            <a:off x="731520" y="1097280"/>
            <a:ext cx="8229600" cy="365760"/>
          </a:xfrm>
          <a:prstGeom prst="rect">
            <a:avLst/>
          </a:prstGeom>
          <a:noFill/>
          <a:ln/>
        </p:spPr>
        <p:txBody>
          <a:bodyPr wrap="square" rtlCol="0" anchor="ctr"/>
          <a:lstStyle/>
          <a:p>
            <a:pPr marL="0" indent="0">
              <a:buNone/>
            </a:pPr>
            <a:r>
              <a:rPr lang="en-US" sz="1800" b="1" dirty="0">
                <a:solidFill>
                  <a:srgbClr val="5B9BD5"/>
                </a:solidFill>
              </a:rPr>
              <a:t>前提条件</a:t>
            </a:r>
            <a:endParaRPr lang="en-US" sz="1800" dirty="0"/>
          </a:p>
        </p:txBody>
      </p:sp>
      <p:sp>
        <p:nvSpPr>
          <p:cNvPr id="4" name="Text 2"/>
          <p:cNvSpPr/>
          <p:nvPr/>
        </p:nvSpPr>
        <p:spPr>
          <a:xfrm>
            <a:off x="914400" y="1554480"/>
            <a:ext cx="7315200" cy="1371600"/>
          </a:xfrm>
          <a:prstGeom prst="rect">
            <a:avLst/>
          </a:prstGeom>
          <a:noFill/>
          <a:ln/>
        </p:spPr>
        <p:txBody>
          <a:bodyPr wrap="square" rtlCol="0" anchor="ctr"/>
          <a:lstStyle/>
          <a:p>
            <a:pPr marL="342900" indent="-342900">
              <a:lnSpc>
                <a:spcPts val="2600"/>
              </a:lnSpc>
              <a:buSzPct val="100000"/>
              <a:buChar char="•"/>
            </a:pPr>
            <a:r>
              <a:rPr lang="en-US" sz="1300" dirty="0">
                <a:solidFill>
                  <a:srgbClr val="333333"/>
                </a:solidFill>
              </a:rPr>
              <a:t>アクティブユーザー: 30%</a:t>
            </a:r>
            <a:endParaRPr lang="en-US" sz="1300" dirty="0"/>
          </a:p>
          <a:p>
            <a:pPr marL="342900" indent="-342900">
              <a:lnSpc>
                <a:spcPts val="2600"/>
              </a:lnSpc>
              <a:buSzPct val="100000"/>
              <a:buChar char="•"/>
            </a:pPr>
            <a:r>
              <a:rPr lang="en-US" sz="1300" dirty="0">
                <a:solidFill>
                  <a:srgbClr val="333333"/>
                </a:solidFill>
              </a:rPr>
              <a:t>月間無料ポイント: 900P</a:t>
            </a:r>
            <a:endParaRPr lang="en-US" sz="1300" dirty="0"/>
          </a:p>
          <a:p>
            <a:pPr marL="342900" indent="-342900">
              <a:lnSpc>
                <a:spcPts val="2600"/>
              </a:lnSpc>
              <a:buSzPct val="100000"/>
              <a:buChar char="•"/>
            </a:pPr>
            <a:r>
              <a:rPr lang="en-US" sz="1300" dirty="0">
                <a:solidFill>
                  <a:srgbClr val="333333"/>
                </a:solidFill>
              </a:rPr>
              <a:t>ユーザー1人当たり月平均メッセージ: 7,800件</a:t>
            </a:r>
            <a:endParaRPr lang="en-US" sz="1300" dirty="0"/>
          </a:p>
          <a:p>
            <a:pPr marL="342900" indent="-342900">
              <a:lnSpc>
                <a:spcPts val="2600"/>
              </a:lnSpc>
              <a:buSzPct val="100000"/>
              <a:buChar char="•"/>
            </a:pPr>
            <a:r>
              <a:rPr lang="en-US" sz="1300" dirty="0">
                <a:solidFill>
                  <a:srgbClr val="333333"/>
                </a:solidFill>
              </a:rPr>
              <a:t>有料メッセージ: 7,800 - 900 = 6,900件</a:t>
            </a:r>
            <a:endParaRPr lang="en-US" sz="1300" dirty="0"/>
          </a:p>
        </p:txBody>
      </p:sp>
      <p:sp>
        <p:nvSpPr>
          <p:cNvPr id="5" name="Text 3"/>
          <p:cNvSpPr/>
          <p:nvPr/>
        </p:nvSpPr>
        <p:spPr>
          <a:xfrm>
            <a:off x="914400" y="3017520"/>
            <a:ext cx="7315200" cy="274320"/>
          </a:xfrm>
          <a:prstGeom prst="rect">
            <a:avLst/>
          </a:prstGeom>
          <a:noFill/>
          <a:ln/>
        </p:spPr>
        <p:txBody>
          <a:bodyPr wrap="square" rtlCol="0" anchor="ctr"/>
          <a:lstStyle/>
          <a:p>
            <a:pPr marL="0" indent="0">
              <a:buNone/>
            </a:pPr>
            <a:r>
              <a:rPr lang="en-US" sz="1400" b="1" dirty="0">
                <a:solidFill>
                  <a:srgbClr val="1F4788"/>
                </a:solidFill>
              </a:rPr>
              <a:t>計算式</a:t>
            </a:r>
            <a:endParaRPr lang="en-US" sz="1400" dirty="0"/>
          </a:p>
        </p:txBody>
      </p:sp>
      <p:sp>
        <p:nvSpPr>
          <p:cNvPr id="6" name="Text 4"/>
          <p:cNvSpPr/>
          <p:nvPr/>
        </p:nvSpPr>
        <p:spPr>
          <a:xfrm>
            <a:off x="1371600" y="3383280"/>
            <a:ext cx="6400800" cy="1097280"/>
          </a:xfrm>
          <a:prstGeom prst="rect">
            <a:avLst/>
          </a:prstGeom>
          <a:noFill/>
          <a:ln/>
        </p:spPr>
        <p:txBody>
          <a:bodyPr wrap="square" rtlCol="0" anchor="ctr"/>
          <a:lstStyle/>
          <a:p>
            <a:pPr marL="0" indent="0">
              <a:buNone/>
            </a:pPr>
            <a:r>
              <a:rPr lang="en-US" sz="1300" dirty="0">
                <a:solidFill>
                  <a:srgbClr val="333333"/>
                </a:solidFill>
                <a:latin typeface="Courier New" pitchFamily="34" charset="0"/>
                <a:ea typeface="Courier New" pitchFamily="34" charset="-122"/>
                <a:cs typeface="Courier New" pitchFamily="34" charset="-120"/>
              </a:rPr>
              <a:t>総収益 = (N × 0.3 × 6,900) × 8.5円 = 17,595 × N</a:t>
            </a:r>
            <a:endParaRPr lang="en-US" sz="1300" dirty="0"/>
          </a:p>
          <a:p>
            <a:pPr marL="0" indent="0">
              <a:buNone/>
            </a:pPr>
            <a:r>
              <a:rPr lang="en-US" sz="1300" dirty="0">
                <a:solidFill>
                  <a:srgbClr val="333333"/>
                </a:solidFill>
                <a:latin typeface="Courier New" pitchFamily="34" charset="0"/>
                <a:ea typeface="Courier New" pitchFamily="34" charset="-122"/>
                <a:cs typeface="Courier New" pitchFamily="34" charset="-120"/>
              </a:rPr>
              <a:t>総費用 = 8,730 + 1,647 × N</a:t>
            </a:r>
            <a:endParaRPr lang="en-US" sz="1300" dirty="0"/>
          </a:p>
          <a:p>
            <a:pPr marL="0" indent="0">
              <a:buNone/>
            </a:pPr>
            <a:endParaRPr lang="en-US" sz="1300" dirty="0"/>
          </a:p>
          <a:p>
            <a:pPr marL="0" indent="0">
              <a:buNone/>
            </a:pPr>
            <a:r>
              <a:rPr lang="en-US" sz="1300" dirty="0">
                <a:solidFill>
                  <a:srgbClr val="333333"/>
                </a:solidFill>
                <a:latin typeface="Courier New" pitchFamily="34" charset="0"/>
                <a:ea typeface="Courier New" pitchFamily="34" charset="-122"/>
                <a:cs typeface="Courier New" pitchFamily="34" charset="-120"/>
              </a:rPr>
              <a:t>BEP: 17,595 × N = 8,730 + 1,647 × N  →  N = 0.55名</a:t>
            </a:r>
            <a:endParaRPr lang="en-US" sz="1300" dirty="0"/>
          </a:p>
        </p:txBody>
      </p:sp>
      <p:sp>
        <p:nvSpPr>
          <p:cNvPr id="7" name="Text 5"/>
          <p:cNvSpPr/>
          <p:nvPr/>
        </p:nvSpPr>
        <p:spPr>
          <a:xfrm>
            <a:off x="914400" y="4663440"/>
            <a:ext cx="7315200" cy="457200"/>
          </a:xfrm>
          <a:prstGeom prst="rect">
            <a:avLst/>
          </a:prstGeom>
          <a:noFill/>
          <a:ln/>
        </p:spPr>
        <p:txBody>
          <a:bodyPr wrap="square" rtlCol="0" anchor="ctr"/>
          <a:lstStyle/>
          <a:p>
            <a:pPr marL="0" indent="0" algn="ctr">
              <a:buNone/>
            </a:pPr>
            <a:r>
              <a:rPr lang="en-US" sz="1600" b="1" dirty="0">
                <a:solidFill>
                  <a:srgbClr val="C00000"/>
                </a:solidFill>
              </a:rPr>
              <a:t>⭐ 総ユーザー1名でBEP達成（貢献利益率90%超）</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4. 初期ローンチ赤字分析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30～50名の無料ユーザーシナリオ（収益0円）</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14400" y="1554480"/>
          <a:ext cx="7315200" cy="3657600"/>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457200">
                <a:tc>
                  <a:txBody>
                    <a:bodyPr/>
                    <a:lstStyle/>
                    <a:p>
                      <a:pPr marL="0" indent="0" algn="ctr">
                        <a:buNone/>
                      </a:pPr>
                      <a:r>
                        <a:rPr lang="en-US" sz="1300" dirty="0">
                          <a:solidFill>
                            <a:srgbClr val="333333"/>
                          </a:solidFill>
                        </a:rPr>
                        <a:t>項目</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30名無料ユーザー</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50名無料ユーザー</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ctr">
                        <a:buNone/>
                      </a:pPr>
                      <a:r>
                        <a:rPr lang="en-US" sz="1300" dirty="0">
                          <a:solidFill>
                            <a:srgbClr val="333333"/>
                          </a:solidFill>
                        </a:rPr>
                        <a:t>収益</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300" dirty="0">
                          <a:solidFill>
                            <a:srgbClr val="333333"/>
                          </a:solidFill>
                        </a:rPr>
                        <a:t>固定費用</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8,730円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8,730円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300" dirty="0">
                          <a:solidFill>
                            <a:srgbClr val="333333"/>
                          </a:solidFill>
                        </a:rPr>
                        <a:t>変動費用（LLM）</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10,881円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18,135円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300" dirty="0">
                          <a:solidFill>
                            <a:srgbClr val="333333"/>
                          </a:solidFill>
                        </a:rPr>
                        <a:t>Netlify超過費用</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ctr">
                        <a:buNone/>
                      </a:pPr>
                      <a:r>
                        <a:rPr lang="en-US" sz="1300" dirty="0">
                          <a:solidFill>
                            <a:srgbClr val="333333"/>
                          </a:solidFill>
                        </a:rPr>
                        <a:t>決済手数料</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300" dirty="0">
                          <a:solidFill>
                            <a:srgbClr val="333333"/>
                          </a:solidFill>
                        </a:rPr>
                        <a:t>月間総費用</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19,611円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26,865円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ctr">
                        <a:buNone/>
                      </a:pPr>
                      <a:r>
                        <a:rPr lang="en-US" sz="1300" dirty="0">
                          <a:solidFill>
                            <a:srgbClr val="333333"/>
                          </a:solidFill>
                        </a:rPr>
                        <a:t>月間純損失</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-19,611円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-26,865円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1371600" y="4937760"/>
            <a:ext cx="6400800" cy="731520"/>
          </a:xfrm>
          <a:prstGeom prst="rect">
            <a:avLst/>
          </a:prstGeom>
          <a:solidFill>
            <a:srgbClr val="FFF3CD"/>
          </a:solidFill>
          <a:ln w="25400">
            <a:solidFill>
              <a:srgbClr val="FFC107"/>
            </a:solidFill>
            <a:prstDash val="solid"/>
          </a:ln>
        </p:spPr>
      </p:sp>
      <p:sp>
        <p:nvSpPr>
          <p:cNvPr id="6" name="Text 3"/>
          <p:cNvSpPr/>
          <p:nvPr/>
        </p:nvSpPr>
        <p:spPr>
          <a:xfrm>
            <a:off x="1554480" y="5029200"/>
            <a:ext cx="6035040" cy="548640"/>
          </a:xfrm>
          <a:prstGeom prst="rect">
            <a:avLst/>
          </a:prstGeom>
          <a:noFill/>
          <a:ln/>
        </p:spPr>
        <p:txBody>
          <a:bodyPr wrap="square" rtlCol="0" anchor="ctr"/>
          <a:lstStyle/>
          <a:p>
            <a:pPr marL="0" indent="0" algn="ctr">
              <a:buNone/>
            </a:pPr>
            <a:r>
              <a:rPr lang="en-US" sz="1300" dirty="0">
                <a:solidFill>
                  <a:srgbClr val="856404"/>
                </a:solidFill>
              </a:rPr>
              <a:t>⚠️ 初期50名の無料ユーザー維持に月間約27,000円の費用が発生。これは有料転換前の必須初期投資費用です。</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5. 損益（P&amp;L）分析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ユーザー数増加に伴う月間損益予測</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554480"/>
          <a:ext cx="8595360" cy="3703320"/>
        </p:xfrm>
        <a:graphic>
          <a:graphicData uri="http://schemas.openxmlformats.org/drawingml/2006/table">
            <a:tbl>
              <a:tblPr/>
              <a:tblGrid>
                <a:gridCol w="1432560">
                  <a:extLst>
                    <a:ext uri="{9D8B030D-6E8A-4147-A177-3AD203B41FA5}">
                      <a16:colId xmlns:a16="http://schemas.microsoft.com/office/drawing/2014/main" val="20000"/>
                    </a:ext>
                  </a:extLst>
                </a:gridCol>
                <a:gridCol w="1432560">
                  <a:extLst>
                    <a:ext uri="{9D8B030D-6E8A-4147-A177-3AD203B41FA5}">
                      <a16:colId xmlns:a16="http://schemas.microsoft.com/office/drawing/2014/main" val="20001"/>
                    </a:ext>
                  </a:extLst>
                </a:gridCol>
                <a:gridCol w="1432560">
                  <a:extLst>
                    <a:ext uri="{9D8B030D-6E8A-4147-A177-3AD203B41FA5}">
                      <a16:colId xmlns:a16="http://schemas.microsoft.com/office/drawing/2014/main" val="20002"/>
                    </a:ext>
                  </a:extLst>
                </a:gridCol>
                <a:gridCol w="1432560">
                  <a:extLst>
                    <a:ext uri="{9D8B030D-6E8A-4147-A177-3AD203B41FA5}">
                      <a16:colId xmlns:a16="http://schemas.microsoft.com/office/drawing/2014/main" val="20003"/>
                    </a:ext>
                  </a:extLst>
                </a:gridCol>
                <a:gridCol w="1432560">
                  <a:extLst>
                    <a:ext uri="{9D8B030D-6E8A-4147-A177-3AD203B41FA5}">
                      <a16:colId xmlns:a16="http://schemas.microsoft.com/office/drawing/2014/main" val="20004"/>
                    </a:ext>
                  </a:extLst>
                </a:gridCol>
                <a:gridCol w="1432560">
                  <a:extLst>
                    <a:ext uri="{9D8B030D-6E8A-4147-A177-3AD203B41FA5}">
                      <a16:colId xmlns:a16="http://schemas.microsoft.com/office/drawing/2014/main" val="20005"/>
                    </a:ext>
                  </a:extLst>
                </a:gridCol>
              </a:tblGrid>
              <a:tr h="411480">
                <a:tc>
                  <a:txBody>
                    <a:bodyPr/>
                    <a:lstStyle/>
                    <a:p>
                      <a:pPr marL="0" indent="0" algn="ctr">
                        <a:buNone/>
                      </a:pPr>
                      <a:r>
                        <a:rPr lang="en-US" sz="1100" dirty="0">
                          <a:solidFill>
                            <a:srgbClr val="333333"/>
                          </a:solidFill>
                        </a:rPr>
                        <a:t>ユーザー数</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シナリオ</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月間総収益</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月間総費用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純利益/純損失</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マージン率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marL="0" indent="0" algn="ctr">
                        <a:buNone/>
                      </a:pPr>
                      <a:r>
                        <a:rPr lang="en-US" sz="1100" dirty="0">
                          <a:solidFill>
                            <a:srgbClr val="333333"/>
                          </a:solidFill>
                        </a:rPr>
                        <a:t>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8,730円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-8,730円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N/A</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ctr">
                        <a:buNone/>
                      </a:pPr>
                      <a:r>
                        <a:rPr lang="en-US" sz="1100" dirty="0">
                          <a:solidFill>
                            <a:srgbClr val="333333"/>
                          </a:solidFill>
                        </a:rPr>
                        <a:t>30名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初期（無料）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19,611円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-19,611円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N/A</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lgn="ctr">
                        <a:buNone/>
                      </a:pPr>
                      <a:r>
                        <a:rPr lang="en-US" sz="1100" dirty="0">
                          <a:solidFill>
                            <a:srgbClr val="333333"/>
                          </a:solidFill>
                        </a:rPr>
                        <a:t>50名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初期（無料）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26,865円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-26,865円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N/A</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ctr">
                        <a:buNone/>
                      </a:pPr>
                      <a:r>
                        <a:rPr lang="en-US" sz="1100" dirty="0">
                          <a:solidFill>
                            <a:srgbClr val="333333"/>
                          </a:solidFill>
                        </a:rPr>
                        <a:t>100名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混合（30%）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1,759,500円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172,974円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1,586,526円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lgn="ctr">
                        <a:buNone/>
                      </a:pPr>
                      <a:r>
                        <a:rPr lang="en-US" sz="1100" dirty="0">
                          <a:solidFill>
                            <a:srgbClr val="333333"/>
                          </a:solidFill>
                        </a:rPr>
                        <a:t>500名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混合（30%）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8,797,500円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832,230円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7,965,270円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lgn="ctr">
                        <a:buNone/>
                      </a:pPr>
                      <a:r>
                        <a:rPr lang="en-US" sz="1100" dirty="0">
                          <a:solidFill>
                            <a:srgbClr val="333333"/>
                          </a:solidFill>
                        </a:rPr>
                        <a:t>1,000名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混合（30%）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17,595,000円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1,655,520円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15,939,480円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90.6%</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1480">
                <a:tc>
                  <a:txBody>
                    <a:bodyPr/>
                    <a:lstStyle/>
                    <a:p>
                      <a:pPr marL="0" indent="0" algn="ctr">
                        <a:buNone/>
                      </a:pPr>
                      <a:r>
                        <a:rPr lang="en-US" sz="1100" dirty="0">
                          <a:solidFill>
                            <a:srgbClr val="333333"/>
                          </a:solidFill>
                        </a:rPr>
                        <a:t>5,000名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混合（30%）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87,975,000円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8,247,060円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79,727,940円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90.6%</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11480">
                <a:tc>
                  <a:txBody>
                    <a:bodyPr/>
                    <a:lstStyle/>
                    <a:p>
                      <a:pPr marL="0" indent="0" algn="ctr">
                        <a:buNone/>
                      </a:pPr>
                      <a:r>
                        <a:rPr lang="en-US" sz="1100" dirty="0">
                          <a:solidFill>
                            <a:srgbClr val="333333"/>
                          </a:solidFill>
                        </a:rPr>
                        <a:t>10,000名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混合（30%）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175,950,000円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16,477,230円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159,472,770円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90.6%</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P&amp;L分析 - 重要な洞察</a:t>
            </a:r>
            <a:endParaRPr lang="en-US" sz="2400" dirty="0"/>
          </a:p>
        </p:txBody>
      </p:sp>
      <p:sp>
        <p:nvSpPr>
          <p:cNvPr id="3" name="Shape 1"/>
          <p:cNvSpPr/>
          <p:nvPr/>
        </p:nvSpPr>
        <p:spPr>
          <a:xfrm>
            <a:off x="731520" y="1097280"/>
            <a:ext cx="7680960" cy="1097280"/>
          </a:xfrm>
          <a:prstGeom prst="rect">
            <a:avLst/>
          </a:prstGeom>
          <a:solidFill>
            <a:srgbClr val="FFEBEE"/>
          </a:solidFill>
          <a:ln w="25400">
            <a:solidFill>
              <a:srgbClr val="F44336"/>
            </a:solidFill>
            <a:prstDash val="solid"/>
          </a:ln>
        </p:spPr>
      </p:sp>
      <p:sp>
        <p:nvSpPr>
          <p:cNvPr id="4" name="Text 2"/>
          <p:cNvSpPr/>
          <p:nvPr/>
        </p:nvSpPr>
        <p:spPr>
          <a:xfrm>
            <a:off x="914400" y="1188720"/>
            <a:ext cx="7315200" cy="274320"/>
          </a:xfrm>
          <a:prstGeom prst="rect">
            <a:avLst/>
          </a:prstGeom>
          <a:noFill/>
          <a:ln/>
        </p:spPr>
        <p:txBody>
          <a:bodyPr wrap="square" rtlCol="0" anchor="ctr"/>
          <a:lstStyle/>
          <a:p>
            <a:pPr marL="0" indent="0">
              <a:buNone/>
            </a:pPr>
            <a:r>
              <a:rPr lang="en-US" sz="1500" b="1" dirty="0">
                <a:solidFill>
                  <a:srgbClr val="C62828"/>
                </a:solidFill>
              </a:rPr>
              <a:t>❶ 初期赤字区間（0～50名）</a:t>
            </a:r>
            <a:endParaRPr lang="en-US" sz="1500" dirty="0"/>
          </a:p>
        </p:txBody>
      </p:sp>
      <p:sp>
        <p:nvSpPr>
          <p:cNvPr id="5" name="Text 3"/>
          <p:cNvSpPr/>
          <p:nvPr/>
        </p:nvSpPr>
        <p:spPr>
          <a:xfrm>
            <a:off x="914400" y="1554480"/>
            <a:ext cx="7315200" cy="548640"/>
          </a:xfrm>
          <a:prstGeom prst="rect">
            <a:avLst/>
          </a:prstGeom>
          <a:noFill/>
          <a:ln/>
        </p:spPr>
        <p:txBody>
          <a:bodyPr wrap="square" rtlCol="0" anchor="ctr"/>
          <a:lstStyle/>
          <a:p>
            <a:pPr marL="0" indent="0">
              <a:buNone/>
            </a:pPr>
            <a:r>
              <a:rPr lang="en-US" sz="1300" dirty="0">
                <a:solidFill>
                  <a:srgbClr val="333333"/>
                </a:solidFill>
              </a:rPr>
              <a:t>収益が発生しない状態で月2～3万円の赤字が発生。この区間を迅速に通過し、有料ユーザーを獲得することがサービス生存の鍵。</a:t>
            </a:r>
            <a:endParaRPr lang="en-US" sz="1300" dirty="0"/>
          </a:p>
        </p:txBody>
      </p:sp>
      <p:sp>
        <p:nvSpPr>
          <p:cNvPr id="6" name="Shape 4"/>
          <p:cNvSpPr/>
          <p:nvPr/>
        </p:nvSpPr>
        <p:spPr>
          <a:xfrm>
            <a:off x="731520" y="2377440"/>
            <a:ext cx="7680960" cy="1097280"/>
          </a:xfrm>
          <a:prstGeom prst="rect">
            <a:avLst/>
          </a:prstGeom>
          <a:solidFill>
            <a:srgbClr val="E8F5E9"/>
          </a:solidFill>
          <a:ln w="25400">
            <a:solidFill>
              <a:srgbClr val="4CAF50"/>
            </a:solidFill>
            <a:prstDash val="solid"/>
          </a:ln>
        </p:spPr>
      </p:sp>
      <p:sp>
        <p:nvSpPr>
          <p:cNvPr id="7" name="Text 5"/>
          <p:cNvSpPr/>
          <p:nvPr/>
        </p:nvSpPr>
        <p:spPr>
          <a:xfrm>
            <a:off x="914400" y="2468880"/>
            <a:ext cx="7315200" cy="274320"/>
          </a:xfrm>
          <a:prstGeom prst="rect">
            <a:avLst/>
          </a:prstGeom>
          <a:noFill/>
          <a:ln/>
        </p:spPr>
        <p:txBody>
          <a:bodyPr wrap="square" rtlCol="0" anchor="ctr"/>
          <a:lstStyle/>
          <a:p>
            <a:pPr marL="0" indent="0">
              <a:buNone/>
            </a:pPr>
            <a:r>
              <a:rPr lang="en-US" sz="1500" b="1" dirty="0">
                <a:solidFill>
                  <a:srgbClr val="2E7D32"/>
                </a:solidFill>
              </a:rPr>
              <a:t>❷ 爆発的収益性（100名+）</a:t>
            </a:r>
            <a:endParaRPr lang="en-US" sz="1500" dirty="0"/>
          </a:p>
        </p:txBody>
      </p:sp>
      <p:sp>
        <p:nvSpPr>
          <p:cNvPr id="8" name="Text 6"/>
          <p:cNvSpPr/>
          <p:nvPr/>
        </p:nvSpPr>
        <p:spPr>
          <a:xfrm>
            <a:off x="914400" y="2834640"/>
            <a:ext cx="7315200" cy="548640"/>
          </a:xfrm>
          <a:prstGeom prst="rect">
            <a:avLst/>
          </a:prstGeom>
          <a:noFill/>
          <a:ln/>
        </p:spPr>
        <p:txBody>
          <a:bodyPr wrap="square" rtlCol="0" anchor="ctr"/>
          <a:lstStyle/>
          <a:p>
            <a:pPr marL="0" indent="0">
              <a:buNone/>
            </a:pPr>
            <a:r>
              <a:rPr lang="en-US" sz="1300" dirty="0">
                <a:solidFill>
                  <a:srgbClr val="333333"/>
                </a:solidFill>
              </a:rPr>
              <a:t>100名のユーザー（うちアクティブ30名）で月間158万円以上の純利益が発生。高いポイント価格（8.5円）と低いLLM単位費用（0.4円）の成功的な組み合わせの結果。</a:t>
            </a:r>
            <a:endParaRPr lang="en-US" sz="1300" dirty="0"/>
          </a:p>
        </p:txBody>
      </p:sp>
      <p:sp>
        <p:nvSpPr>
          <p:cNvPr id="9" name="Shape 7"/>
          <p:cNvSpPr/>
          <p:nvPr/>
        </p:nvSpPr>
        <p:spPr>
          <a:xfrm>
            <a:off x="731520" y="3657600"/>
            <a:ext cx="7680960" cy="1097280"/>
          </a:xfrm>
          <a:prstGeom prst="rect">
            <a:avLst/>
          </a:prstGeom>
          <a:solidFill>
            <a:srgbClr val="E3F2FD"/>
          </a:solidFill>
          <a:ln w="25400">
            <a:solidFill>
              <a:srgbClr val="2196F3"/>
            </a:solidFill>
            <a:prstDash val="solid"/>
          </a:ln>
        </p:spPr>
      </p:sp>
      <p:sp>
        <p:nvSpPr>
          <p:cNvPr id="10" name="Text 8"/>
          <p:cNvSpPr/>
          <p:nvPr/>
        </p:nvSpPr>
        <p:spPr>
          <a:xfrm>
            <a:off x="914400" y="3749040"/>
            <a:ext cx="7315200" cy="274320"/>
          </a:xfrm>
          <a:prstGeom prst="rect">
            <a:avLst/>
          </a:prstGeom>
          <a:noFill/>
          <a:ln/>
        </p:spPr>
        <p:txBody>
          <a:bodyPr wrap="square" rtlCol="0" anchor="ctr"/>
          <a:lstStyle/>
          <a:p>
            <a:pPr marL="0" indent="0">
              <a:buNone/>
            </a:pPr>
            <a:r>
              <a:rPr lang="en-US" sz="1500" b="1" dirty="0">
                <a:solidFill>
                  <a:srgbClr val="1565C0"/>
                </a:solidFill>
              </a:rPr>
              <a:t>❸ 安定的拡張性</a:t>
            </a:r>
            <a:endParaRPr lang="en-US" sz="1500" dirty="0"/>
          </a:p>
        </p:txBody>
      </p:sp>
      <p:sp>
        <p:nvSpPr>
          <p:cNvPr id="11" name="Text 9"/>
          <p:cNvSpPr/>
          <p:nvPr/>
        </p:nvSpPr>
        <p:spPr>
          <a:xfrm>
            <a:off x="914400" y="4114800"/>
            <a:ext cx="7315200" cy="548640"/>
          </a:xfrm>
          <a:prstGeom prst="rect">
            <a:avLst/>
          </a:prstGeom>
          <a:noFill/>
          <a:ln/>
        </p:spPr>
        <p:txBody>
          <a:bodyPr wrap="square" rtlCol="0" anchor="ctr"/>
          <a:lstStyle/>
          <a:p>
            <a:pPr marL="0" indent="0">
              <a:buNone/>
            </a:pPr>
            <a:r>
              <a:rPr lang="en-US" sz="1300" dirty="0">
                <a:solidFill>
                  <a:srgbClr val="333333"/>
                </a:solidFill>
              </a:rPr>
              <a:t>ユーザー数が100名→10,000名へ100倍増加する間、マージン率は90%台で非常に安定的に維持。ビジネスモデルがトラフィック増加に伴い線形的に拡張可能であることを強く示唆。</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6. 費用構造詳細分析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1,000名 &amp; 10,000名ユーザー時の費用項目別比重</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320040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57200">
                <a:tc>
                  <a:txBody>
                    <a:bodyPr/>
                    <a:lstStyle/>
                    <a:p>
                      <a:pPr marL="0" indent="0" algn="ctr">
                        <a:buNone/>
                      </a:pPr>
                      <a:r>
                        <a:rPr lang="en-US" sz="1100" dirty="0">
                          <a:solidFill>
                            <a:srgbClr val="333333"/>
                          </a:solidFill>
                        </a:rPr>
                        <a:t>項目</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1,000名ユーザー</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比率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10,000名ユーザー</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比率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ctr">
                        <a:buNone/>
                      </a:pPr>
                      <a:r>
                        <a:rPr lang="en-US" sz="1100" dirty="0">
                          <a:solidFill>
                            <a:srgbClr val="333333"/>
                          </a:solidFill>
                        </a:rPr>
                        <a:t>総費用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1,655,520円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16,477,230円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100" dirty="0">
                          <a:solidFill>
                            <a:srgbClr val="333333"/>
                          </a:solidFill>
                        </a:rPr>
                        <a:t>LLM - 要約 (Pro)</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789,308円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47.7%</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7,893,077円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47.9%</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100" dirty="0">
                          <a:solidFill>
                            <a:srgbClr val="333333"/>
                          </a:solidFill>
                        </a:rPr>
                        <a:t>決済手数料 (3.6%)</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633,420円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38.3%</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6,334,200円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38.4%</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100" dirty="0">
                          <a:solidFill>
                            <a:srgbClr val="333333"/>
                          </a:solidFill>
                        </a:rPr>
                        <a:t>LLM - チャット (Flash)</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151,826円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1,518,262円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ctr">
                        <a:buNone/>
                      </a:pPr>
                      <a:r>
                        <a:rPr lang="en-US" sz="1100" dirty="0">
                          <a:solidFill>
                            <a:srgbClr val="333333"/>
                          </a:solidFill>
                        </a:rPr>
                        <a:t>インフラ (Netlify)</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70,350円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704,100円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4.3%</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100" dirty="0">
                          <a:solidFill>
                            <a:srgbClr val="333333"/>
                          </a:solidFill>
                        </a:rPr>
                        <a:t>固定費用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5,880円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0.4%</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5,880円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0.04%</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ctr">
                        <a:buNone/>
                      </a:pPr>
                      <a:r>
                        <a:rPr lang="en-US" sz="1100" dirty="0">
                          <a:solidFill>
                            <a:srgbClr val="333333"/>
                          </a:solidFill>
                        </a:rPr>
                        <a:t>Embedding</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1,872円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0.1%</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18,720円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0.1%</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費用構造 - 重要な洞察</a:t>
            </a:r>
            <a:endParaRPr lang="en-US" sz="2400" dirty="0"/>
          </a:p>
        </p:txBody>
      </p:sp>
      <p:sp>
        <p:nvSpPr>
          <p:cNvPr id="3" name="Shape 1"/>
          <p:cNvSpPr/>
          <p:nvPr/>
        </p:nvSpPr>
        <p:spPr>
          <a:xfrm>
            <a:off x="731520" y="1097280"/>
            <a:ext cx="7680960" cy="1097280"/>
          </a:xfrm>
          <a:prstGeom prst="rect">
            <a:avLst/>
          </a:prstGeom>
          <a:solidFill>
            <a:srgbClr val="FFF3CD"/>
          </a:solidFill>
          <a:ln w="25400">
            <a:solidFill>
              <a:srgbClr val="FFC107"/>
            </a:solidFill>
            <a:prstDash val="solid"/>
          </a:ln>
        </p:spPr>
      </p:sp>
      <p:sp>
        <p:nvSpPr>
          <p:cNvPr id="4" name="Text 2"/>
          <p:cNvSpPr/>
          <p:nvPr/>
        </p:nvSpPr>
        <p:spPr>
          <a:xfrm>
            <a:off x="914400" y="1188720"/>
            <a:ext cx="7315200" cy="274320"/>
          </a:xfrm>
          <a:prstGeom prst="rect">
            <a:avLst/>
          </a:prstGeom>
          <a:noFill/>
          <a:ln/>
        </p:spPr>
        <p:txBody>
          <a:bodyPr wrap="square" rtlCol="0" anchor="ctr"/>
          <a:lstStyle/>
          <a:p>
            <a:pPr marL="0" indent="0">
              <a:buNone/>
            </a:pPr>
            <a:r>
              <a:rPr lang="en-US" sz="1400" b="1" dirty="0">
                <a:solidFill>
                  <a:srgbClr val="333333"/>
                </a:solidFill>
              </a:rPr>
              <a:t>❶ 費用の86%は2項目に集中</a:t>
            </a:r>
            <a:endParaRPr lang="en-US" sz="1400" dirty="0"/>
          </a:p>
        </p:txBody>
      </p:sp>
      <p:sp>
        <p:nvSpPr>
          <p:cNvPr id="5" name="Text 3"/>
          <p:cNvSpPr/>
          <p:nvPr/>
        </p:nvSpPr>
        <p:spPr>
          <a:xfrm>
            <a:off x="914400" y="1508760"/>
            <a:ext cx="7315200" cy="640080"/>
          </a:xfrm>
          <a:prstGeom prst="rect">
            <a:avLst/>
          </a:prstGeom>
          <a:noFill/>
          <a:ln/>
        </p:spPr>
        <p:txBody>
          <a:bodyPr wrap="square" rtlCol="0" anchor="ctr"/>
          <a:lstStyle/>
          <a:p>
            <a:pPr marL="0" indent="0">
              <a:buNone/>
            </a:pPr>
            <a:r>
              <a:rPr lang="en-US" sz="1200" dirty="0">
                <a:solidFill>
                  <a:srgbClr val="333333"/>
                </a:solidFill>
              </a:rPr>
              <a:t>サービスが拡張するほど、総費用は「LLM要約」（約48%）と「決済手数料」（約38%）という2つの核心要因によって決定される。</a:t>
            </a:r>
            <a:endParaRPr lang="en-US" sz="1200" dirty="0"/>
          </a:p>
        </p:txBody>
      </p:sp>
      <p:sp>
        <p:nvSpPr>
          <p:cNvPr id="6" name="Shape 4"/>
          <p:cNvSpPr/>
          <p:nvPr/>
        </p:nvSpPr>
        <p:spPr>
          <a:xfrm>
            <a:off x="731520" y="2377440"/>
            <a:ext cx="7680960" cy="1097280"/>
          </a:xfrm>
          <a:prstGeom prst="rect">
            <a:avLst/>
          </a:prstGeom>
          <a:solidFill>
            <a:srgbClr val="E8F5E9"/>
          </a:solidFill>
          <a:ln w="25400">
            <a:solidFill>
              <a:srgbClr val="4CAF50"/>
            </a:solidFill>
            <a:prstDash val="solid"/>
          </a:ln>
        </p:spPr>
      </p:sp>
      <p:sp>
        <p:nvSpPr>
          <p:cNvPr id="7" name="Text 5"/>
          <p:cNvSpPr/>
          <p:nvPr/>
        </p:nvSpPr>
        <p:spPr>
          <a:xfrm>
            <a:off x="914400" y="2468880"/>
            <a:ext cx="7315200" cy="274320"/>
          </a:xfrm>
          <a:prstGeom prst="rect">
            <a:avLst/>
          </a:prstGeom>
          <a:noFill/>
          <a:ln/>
        </p:spPr>
        <p:txBody>
          <a:bodyPr wrap="square" rtlCol="0" anchor="ctr"/>
          <a:lstStyle/>
          <a:p>
            <a:pPr marL="0" indent="0">
              <a:buNone/>
            </a:pPr>
            <a:r>
              <a:rPr lang="en-US" sz="1400" b="1" dirty="0">
                <a:solidFill>
                  <a:srgbClr val="333333"/>
                </a:solidFill>
              </a:rPr>
              <a:t>❷ 最適化優先順位</a:t>
            </a:r>
            <a:endParaRPr lang="en-US" sz="1400" dirty="0"/>
          </a:p>
        </p:txBody>
      </p:sp>
      <p:sp>
        <p:nvSpPr>
          <p:cNvPr id="8" name="Text 6"/>
          <p:cNvSpPr/>
          <p:nvPr/>
        </p:nvSpPr>
        <p:spPr>
          <a:xfrm>
            <a:off x="914400" y="2788920"/>
            <a:ext cx="7315200" cy="640080"/>
          </a:xfrm>
          <a:prstGeom prst="rect">
            <a:avLst/>
          </a:prstGeom>
          <a:noFill/>
          <a:ln/>
        </p:spPr>
        <p:txBody>
          <a:bodyPr wrap="square" rtlCol="0" anchor="ctr"/>
          <a:lstStyle/>
          <a:p>
            <a:pPr marL="0" indent="0">
              <a:buNone/>
            </a:pPr>
            <a:r>
              <a:rPr lang="en-US" sz="1200" dirty="0">
                <a:solidFill>
                  <a:srgbClr val="333333"/>
                </a:solidFill>
              </a:rPr>
              <a:t>費用削減のための努力は、(1) LLM要約機能の呼び出し頻度を減らすかモデルを変更すること、(2) 決済手数料を交渉することに集中すべき。</a:t>
            </a:r>
            <a:endParaRPr lang="en-US" sz="1200" dirty="0"/>
          </a:p>
        </p:txBody>
      </p:sp>
      <p:sp>
        <p:nvSpPr>
          <p:cNvPr id="9" name="Shape 7"/>
          <p:cNvSpPr/>
          <p:nvPr/>
        </p:nvSpPr>
        <p:spPr>
          <a:xfrm>
            <a:off x="731520" y="3657600"/>
            <a:ext cx="7680960" cy="1097280"/>
          </a:xfrm>
          <a:prstGeom prst="rect">
            <a:avLst/>
          </a:prstGeom>
          <a:solidFill>
            <a:srgbClr val="FFEBEE"/>
          </a:solidFill>
          <a:ln w="25400">
            <a:solidFill>
              <a:srgbClr val="F44336"/>
            </a:solidFill>
            <a:prstDash val="solid"/>
          </a:ln>
        </p:spPr>
      </p:sp>
      <p:sp>
        <p:nvSpPr>
          <p:cNvPr id="10" name="Text 8"/>
          <p:cNvSpPr/>
          <p:nvPr/>
        </p:nvSpPr>
        <p:spPr>
          <a:xfrm>
            <a:off x="914400" y="3749040"/>
            <a:ext cx="7315200" cy="274320"/>
          </a:xfrm>
          <a:prstGeom prst="rect">
            <a:avLst/>
          </a:prstGeom>
          <a:noFill/>
          <a:ln/>
        </p:spPr>
        <p:txBody>
          <a:bodyPr wrap="square" rtlCol="0" anchor="ctr"/>
          <a:lstStyle/>
          <a:p>
            <a:pPr marL="0" indent="0">
              <a:buNone/>
            </a:pPr>
            <a:r>
              <a:rPr lang="en-US" sz="1400" b="1" dirty="0">
                <a:solidFill>
                  <a:srgbClr val="333333"/>
                </a:solidFill>
              </a:rPr>
              <a:t>❸ インフラ費用の罠</a:t>
            </a:r>
            <a:endParaRPr lang="en-US" sz="1400" dirty="0"/>
          </a:p>
        </p:txBody>
      </p:sp>
      <p:sp>
        <p:nvSpPr>
          <p:cNvPr id="11" name="Text 9"/>
          <p:cNvSpPr/>
          <p:nvPr/>
        </p:nvSpPr>
        <p:spPr>
          <a:xfrm>
            <a:off x="914400" y="4069080"/>
            <a:ext cx="7315200" cy="640080"/>
          </a:xfrm>
          <a:prstGeom prst="rect">
            <a:avLst/>
          </a:prstGeom>
          <a:noFill/>
          <a:ln/>
        </p:spPr>
        <p:txBody>
          <a:bodyPr wrap="square" rtlCol="0" anchor="ctr"/>
          <a:lstStyle/>
          <a:p>
            <a:pPr marL="0" indent="0">
              <a:buNone/>
            </a:pPr>
            <a:r>
              <a:rPr lang="en-US" sz="1200" dirty="0">
                <a:solidFill>
                  <a:srgbClr val="333333"/>
                </a:solidFill>
              </a:rPr>
              <a:t>Netlify費用比重は現在4.2%と低く見えるが、これはメッセージ当たり1回の関数呼び出しを仮定。実際のアーキテクチャがより複雑でメッセージ当たり3～4回関数を呼び出す場合、インフラ費用は3～4倍に増加しLLMチャット費用を超える可能性がある。</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7. 収益性シナリオ分析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400" dirty="0">
                <a:solidFill>
                  <a:srgbClr val="666666"/>
                </a:solidFill>
              </a:rPr>
              <a:t>ユーザー参加度が収益性に及ぼす影響（1,000名ユーザー基準）</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554480"/>
          <a:ext cx="8412480" cy="1828800"/>
        </p:xfrm>
        <a:graphic>
          <a:graphicData uri="http://schemas.openxmlformats.org/drawingml/2006/table">
            <a:tbl>
              <a:tblPr/>
              <a:tblGrid>
                <a:gridCol w="1201783">
                  <a:extLst>
                    <a:ext uri="{9D8B030D-6E8A-4147-A177-3AD203B41FA5}">
                      <a16:colId xmlns:a16="http://schemas.microsoft.com/office/drawing/2014/main" val="20000"/>
                    </a:ext>
                  </a:extLst>
                </a:gridCol>
                <a:gridCol w="1201783">
                  <a:extLst>
                    <a:ext uri="{9D8B030D-6E8A-4147-A177-3AD203B41FA5}">
                      <a16:colId xmlns:a16="http://schemas.microsoft.com/office/drawing/2014/main" val="20001"/>
                    </a:ext>
                  </a:extLst>
                </a:gridCol>
                <a:gridCol w="1201783">
                  <a:extLst>
                    <a:ext uri="{9D8B030D-6E8A-4147-A177-3AD203B41FA5}">
                      <a16:colId xmlns:a16="http://schemas.microsoft.com/office/drawing/2014/main" val="20002"/>
                    </a:ext>
                  </a:extLst>
                </a:gridCol>
                <a:gridCol w="1201783">
                  <a:extLst>
                    <a:ext uri="{9D8B030D-6E8A-4147-A177-3AD203B41FA5}">
                      <a16:colId xmlns:a16="http://schemas.microsoft.com/office/drawing/2014/main" val="20003"/>
                    </a:ext>
                  </a:extLst>
                </a:gridCol>
                <a:gridCol w="1201783">
                  <a:extLst>
                    <a:ext uri="{9D8B030D-6E8A-4147-A177-3AD203B41FA5}">
                      <a16:colId xmlns:a16="http://schemas.microsoft.com/office/drawing/2014/main" val="20004"/>
                    </a:ext>
                  </a:extLst>
                </a:gridCol>
                <a:gridCol w="1201783">
                  <a:extLst>
                    <a:ext uri="{9D8B030D-6E8A-4147-A177-3AD203B41FA5}">
                      <a16:colId xmlns:a16="http://schemas.microsoft.com/office/drawing/2014/main" val="20005"/>
                    </a:ext>
                  </a:extLst>
                </a:gridCol>
                <a:gridCol w="1201783">
                  <a:extLst>
                    <a:ext uri="{9D8B030D-6E8A-4147-A177-3AD203B41FA5}">
                      <a16:colId xmlns:a16="http://schemas.microsoft.com/office/drawing/2014/main" val="20006"/>
                    </a:ext>
                  </a:extLst>
                </a:gridCol>
              </a:tblGrid>
              <a:tr h="457200">
                <a:tc>
                  <a:txBody>
                    <a:bodyPr/>
                    <a:lstStyle/>
                    <a:p>
                      <a:pPr marL="0" indent="0" algn="ctr">
                        <a:buNone/>
                      </a:pPr>
                      <a:r>
                        <a:rPr lang="en-US" sz="1100" dirty="0">
                          <a:solidFill>
                            <a:srgbClr val="333333"/>
                          </a:solidFill>
                        </a:rPr>
                        <a:t>シナリオ</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日平均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月有料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月総収益</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月総費用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月純利益</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マージン率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ctr">
                        <a:buNone/>
                      </a:pPr>
                      <a:r>
                        <a:rPr lang="en-US" sz="1100" dirty="0">
                          <a:solidFill>
                            <a:srgbClr val="333333"/>
                          </a:solidFill>
                        </a:rPr>
                        <a:t>1: 低活動</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50件</a:t>
                      </a:r>
                      <a:endParaRPr lang="en-US" sz="1100" dirty="0"/>
                    </a:p>
                    <a:p>
                      <a:pPr marL="0" indent="0" algn="ctr">
                        <a:buNone/>
                      </a:pPr>
                      <a:r>
                        <a:rPr lang="en-US" sz="1100" dirty="0">
                          <a:solidFill>
                            <a:srgbClr val="333333"/>
                          </a:solidFill>
                        </a:rPr>
                        <a:t>(月1,500)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1,530,000円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256,410円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1,273,590円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83.2%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100" dirty="0">
                          <a:solidFill>
                            <a:srgbClr val="333333"/>
                          </a:solidFill>
                        </a:rPr>
                        <a:t>2: 中間活動</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200件</a:t>
                      </a:r>
                      <a:endParaRPr lang="en-US" sz="1100" dirty="0"/>
                    </a:p>
                    <a:p>
                      <a:pPr marL="0" indent="0" algn="ctr">
                        <a:buNone/>
                      </a:pPr>
                      <a:r>
                        <a:rPr lang="en-US" sz="1100" dirty="0">
                          <a:solidFill>
                            <a:srgbClr val="333333"/>
                          </a:solidFill>
                        </a:rPr>
                        <a:t>(月6,000)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5,100件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13,005,000円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1,254,810円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11,750,190円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90.4%</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100" dirty="0">
                          <a:solidFill>
                            <a:srgbClr val="333333"/>
                          </a:solidFill>
                        </a:rPr>
                        <a:t>3: 高活動</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500件</a:t>
                      </a:r>
                      <a:endParaRPr lang="en-US" sz="1100" dirty="0"/>
                    </a:p>
                    <a:p>
                      <a:pPr marL="0" indent="0" algn="ctr">
                        <a:buNone/>
                      </a:pPr>
                      <a:r>
                        <a:rPr lang="en-US" sz="1100" dirty="0">
                          <a:solidFill>
                            <a:srgbClr val="333333"/>
                          </a:solidFill>
                        </a:rPr>
                        <a:t>(月15,000)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14,100件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35,955,000円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3,247,860円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32,707,140円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90.9%</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731520" y="3657600"/>
            <a:ext cx="7680960" cy="365760"/>
          </a:xfrm>
          <a:prstGeom prst="rect">
            <a:avLst/>
          </a:prstGeom>
          <a:noFill/>
          <a:ln/>
        </p:spPr>
        <p:txBody>
          <a:bodyPr wrap="square" rtlCol="0" anchor="ctr"/>
          <a:lstStyle/>
          <a:p>
            <a:pPr marL="0" indent="0">
              <a:buNone/>
            </a:pPr>
            <a:r>
              <a:rPr lang="en-US" sz="1800" b="1" dirty="0">
                <a:solidFill>
                  <a:srgbClr val="5B9BD5"/>
                </a:solidFill>
              </a:rPr>
              <a:t>月900無料ポイント政策の両面性</a:t>
            </a:r>
            <a:endParaRPr lang="en-US" sz="1800" dirty="0"/>
          </a:p>
        </p:txBody>
      </p:sp>
      <p:sp>
        <p:nvSpPr>
          <p:cNvPr id="6" name="Text 3"/>
          <p:cNvSpPr/>
          <p:nvPr/>
        </p:nvSpPr>
        <p:spPr>
          <a:xfrm>
            <a:off x="914400" y="4114800"/>
            <a:ext cx="7315200" cy="1188720"/>
          </a:xfrm>
          <a:prstGeom prst="rect">
            <a:avLst/>
          </a:prstGeom>
          <a:noFill/>
          <a:ln/>
        </p:spPr>
        <p:txBody>
          <a:bodyPr wrap="square" rtlCol="0" anchor="ctr"/>
          <a:lstStyle/>
          <a:p>
            <a:pPr marL="342900" indent="-342900">
              <a:lnSpc>
                <a:spcPts val="2600"/>
              </a:lnSpc>
              <a:buSzPct val="100000"/>
              <a:buChar char="•"/>
            </a:pPr>
            <a:r>
              <a:rPr lang="en-US" sz="1300" dirty="0">
                <a:solidFill>
                  <a:srgbClr val="333333"/>
                </a:solidFill>
              </a:rPr>
              <a:t>低活動ユーザー: 無料ポイントが総使用量の60% (900/1,500)を占め、収益貢献度が非常に低い</a:t>
            </a:r>
            <a:endParaRPr lang="en-US" sz="1300" dirty="0"/>
          </a:p>
          <a:p>
            <a:pPr marL="342900" indent="-342900">
              <a:lnSpc>
                <a:spcPts val="2600"/>
              </a:lnSpc>
              <a:buSzPct val="100000"/>
              <a:buChar char="•"/>
            </a:pPr>
            <a:r>
              <a:rPr lang="en-US" sz="1300" dirty="0">
                <a:solidFill>
                  <a:srgbClr val="333333"/>
                </a:solidFill>
              </a:rPr>
              <a:t>高活動ユーザー: 無料ポイントは総使用量のわずか6% (900/15,000)。これらのユーザーが収益性の核心動力</a:t>
            </a:r>
            <a:endParaRPr lang="en-US" sz="1300" dirty="0"/>
          </a:p>
          <a:p>
            <a:pPr marL="342900" indent="-342900">
              <a:lnSpc>
                <a:spcPts val="2600"/>
              </a:lnSpc>
              <a:buSzPct val="100000"/>
              <a:buChar char="•"/>
            </a:pPr>
            <a:r>
              <a:rPr lang="en-US" sz="1300" dirty="0">
                <a:solidFill>
                  <a:srgbClr val="333333"/>
                </a:solidFill>
              </a:rPr>
              <a:t>戦略的示唆: サービスの収益性は「ヘビーユーザー」をどれだけ確保・維持するかにかかっている</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8. インフラ比較: Netlify vs AWS</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サーバーレス関数費用の比較</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13716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57200">
                <a:tc>
                  <a:txBody>
                    <a:bodyPr/>
                    <a:lstStyle/>
                    <a:p>
                      <a:pPr marL="0" indent="0" algn="ctr">
                        <a:buNone/>
                      </a:pPr>
                      <a:r>
                        <a:rPr lang="en-US" sz="1200" dirty="0">
                          <a:solidFill>
                            <a:srgbClr val="333333"/>
                          </a:solidFill>
                        </a:rPr>
                        <a:t>ユーザー数</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月間リクエスト数</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Netlify月額</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AWS月額(推定)</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月間節約額</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費用削減率</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ctr">
                        <a:buNone/>
                      </a:pPr>
                      <a:r>
                        <a:rPr lang="en-US" sz="1200" dirty="0">
                          <a:solidFill>
                            <a:srgbClr val="333333"/>
                          </a:solidFill>
                        </a:rPr>
                        <a:t>1,000名</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234万</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70,350円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1,921円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68,429円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97.3%</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200" dirty="0">
                          <a:solidFill>
                            <a:srgbClr val="333333"/>
                          </a:solidFill>
                        </a:rPr>
                        <a:t>10,000名</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2,340万</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704,100円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19,212円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684,888円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97.3%</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Text 2"/>
          <p:cNvSpPr/>
          <p:nvPr/>
        </p:nvSpPr>
        <p:spPr>
          <a:xfrm>
            <a:off x="731520" y="3108960"/>
            <a:ext cx="3657600" cy="365760"/>
          </a:xfrm>
          <a:prstGeom prst="rect">
            <a:avLst/>
          </a:prstGeom>
          <a:noFill/>
          <a:ln/>
        </p:spPr>
        <p:txBody>
          <a:bodyPr wrap="square" rtlCol="0" anchor="ctr"/>
          <a:lstStyle/>
          <a:p>
            <a:pPr marL="0" indent="0">
              <a:buNone/>
            </a:pPr>
            <a:r>
              <a:rPr lang="en-US" sz="1800" b="1" dirty="0">
                <a:solidFill>
                  <a:srgbClr val="5B9BD5"/>
                </a:solidFill>
              </a:rPr>
              <a:t>費用詳細（Netlify）</a:t>
            </a:r>
            <a:endParaRPr lang="en-US" sz="1800" dirty="0"/>
          </a:p>
        </p:txBody>
      </p:sp>
      <p:sp>
        <p:nvSpPr>
          <p:cNvPr id="6" name="Text 3"/>
          <p:cNvSpPr/>
          <p:nvPr/>
        </p:nvSpPr>
        <p:spPr>
          <a:xfrm>
            <a:off x="914400" y="3566160"/>
            <a:ext cx="3200400" cy="731520"/>
          </a:xfrm>
          <a:prstGeom prst="rect">
            <a:avLst/>
          </a:prstGeom>
          <a:noFill/>
          <a:ln/>
        </p:spPr>
        <p:txBody>
          <a:bodyPr wrap="square" rtlCol="0" anchor="ctr"/>
          <a:lstStyle/>
          <a:p>
            <a:pPr marL="0" indent="0">
              <a:buNone/>
            </a:pPr>
            <a:r>
              <a:rPr lang="en-US" sz="1300" dirty="0">
                <a:solidFill>
                  <a:srgbClr val="333333"/>
                </a:solidFill>
              </a:rPr>
              <a:t>月125,000件無料</a:t>
            </a:r>
            <a:endParaRPr lang="en-US" sz="1300" dirty="0"/>
          </a:p>
          <a:p>
            <a:pPr marL="0" indent="0">
              <a:buNone/>
            </a:pPr>
            <a:r>
              <a:rPr lang="en-US" sz="1300" dirty="0">
                <a:solidFill>
                  <a:srgbClr val="333333"/>
                </a:solidFill>
              </a:rPr>
              <a:t>超過125,000件毎に $25 (3,750円)</a:t>
            </a:r>
            <a:endParaRPr lang="en-US" sz="1300" dirty="0"/>
          </a:p>
        </p:txBody>
      </p:sp>
      <p:sp>
        <p:nvSpPr>
          <p:cNvPr id="7" name="Text 4"/>
          <p:cNvSpPr/>
          <p:nvPr/>
        </p:nvSpPr>
        <p:spPr>
          <a:xfrm>
            <a:off x="4754880" y="3108960"/>
            <a:ext cx="3657600" cy="365760"/>
          </a:xfrm>
          <a:prstGeom prst="rect">
            <a:avLst/>
          </a:prstGeom>
          <a:noFill/>
          <a:ln/>
        </p:spPr>
        <p:txBody>
          <a:bodyPr wrap="square" rtlCol="0" anchor="ctr"/>
          <a:lstStyle/>
          <a:p>
            <a:pPr marL="0" indent="0">
              <a:buNone/>
            </a:pPr>
            <a:r>
              <a:rPr lang="en-US" sz="1800" b="1" dirty="0">
                <a:solidFill>
                  <a:srgbClr val="5B9BD5"/>
                </a:solidFill>
              </a:rPr>
              <a:t>費用詳細（AWS）</a:t>
            </a:r>
            <a:endParaRPr lang="en-US" sz="1800" dirty="0"/>
          </a:p>
        </p:txBody>
      </p:sp>
      <p:sp>
        <p:nvSpPr>
          <p:cNvPr id="8" name="Text 5"/>
          <p:cNvSpPr/>
          <p:nvPr/>
        </p:nvSpPr>
        <p:spPr>
          <a:xfrm>
            <a:off x="4937760" y="3566160"/>
            <a:ext cx="3200400" cy="1097280"/>
          </a:xfrm>
          <a:prstGeom prst="rect">
            <a:avLst/>
          </a:prstGeom>
          <a:noFill/>
          <a:ln/>
        </p:spPr>
        <p:txBody>
          <a:bodyPr wrap="square" rtlCol="0" anchor="ctr"/>
          <a:lstStyle/>
          <a:p>
            <a:pPr marL="0" indent="0">
              <a:buNone/>
            </a:pPr>
            <a:r>
              <a:rPr lang="en-US" sz="1300" dirty="0">
                <a:solidFill>
                  <a:srgbClr val="333333"/>
                </a:solidFill>
              </a:rPr>
              <a:t>Lambda $0.20/1M</a:t>
            </a:r>
            <a:endParaRPr lang="en-US" sz="1300" dirty="0"/>
          </a:p>
          <a:p>
            <a:pPr marL="0" indent="0">
              <a:buNone/>
            </a:pPr>
            <a:r>
              <a:rPr lang="en-US" sz="1300" dirty="0">
                <a:solidFill>
                  <a:srgbClr val="333333"/>
                </a:solidFill>
              </a:rPr>
              <a:t>API Gateway $1.00/1M</a:t>
            </a:r>
            <a:endParaRPr lang="en-US" sz="1300" dirty="0"/>
          </a:p>
          <a:p>
            <a:pPr marL="0" indent="0">
              <a:buNone/>
            </a:pPr>
            <a:r>
              <a:rPr lang="en-US" sz="1300" dirty="0">
                <a:solidFill>
                  <a:srgbClr val="333333"/>
                </a:solidFill>
              </a:rPr>
              <a:t>合計 180円/1M リクエスト</a:t>
            </a:r>
            <a:endParaRPr lang="en-US" sz="1300" dirty="0"/>
          </a:p>
          <a:p>
            <a:pPr marL="0" indent="0">
              <a:buNone/>
            </a:pPr>
            <a:r>
              <a:rPr lang="en-US" sz="1300" dirty="0">
                <a:solidFill>
                  <a:srgbClr val="333333"/>
                </a:solidFill>
              </a:rPr>
              <a:t>+ Lambda実行時間</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インフラ比較 - 戦略的示唆</a:t>
            </a:r>
            <a:endParaRPr lang="en-US" sz="2400" dirty="0"/>
          </a:p>
        </p:txBody>
      </p:sp>
      <p:sp>
        <p:nvSpPr>
          <p:cNvPr id="3" name="Shape 1"/>
          <p:cNvSpPr/>
          <p:nvPr/>
        </p:nvSpPr>
        <p:spPr>
          <a:xfrm>
            <a:off x="731520" y="1097280"/>
            <a:ext cx="7680960" cy="1371600"/>
          </a:xfrm>
          <a:prstGeom prst="rect">
            <a:avLst/>
          </a:prstGeom>
          <a:solidFill>
            <a:srgbClr val="FFF3CD"/>
          </a:solidFill>
          <a:ln w="25400">
            <a:solidFill>
              <a:srgbClr val="FFC107"/>
            </a:solidFill>
            <a:prstDash val="solid"/>
          </a:ln>
        </p:spPr>
      </p:sp>
      <p:sp>
        <p:nvSpPr>
          <p:cNvPr id="4" name="Text 2"/>
          <p:cNvSpPr/>
          <p:nvPr/>
        </p:nvSpPr>
        <p:spPr>
          <a:xfrm>
            <a:off x="914400" y="1280160"/>
            <a:ext cx="7315200" cy="365760"/>
          </a:xfrm>
          <a:prstGeom prst="rect">
            <a:avLst/>
          </a:prstGeom>
          <a:noFill/>
          <a:ln/>
        </p:spPr>
        <p:txBody>
          <a:bodyPr wrap="square" rtlCol="0" anchor="ctr"/>
          <a:lstStyle/>
          <a:p>
            <a:pPr marL="0" indent="0">
              <a:buNone/>
            </a:pPr>
            <a:r>
              <a:rPr lang="en-US" sz="1800" b="1" dirty="0">
                <a:solidFill>
                  <a:srgbClr val="856404"/>
                </a:solidFill>
              </a:rPr>
              <a:t>⚠️ Netlifyは36倍高い</a:t>
            </a:r>
            <a:endParaRPr lang="en-US" sz="1800" dirty="0"/>
          </a:p>
        </p:txBody>
      </p:sp>
      <p:sp>
        <p:nvSpPr>
          <p:cNvPr id="5" name="Text 3"/>
          <p:cNvSpPr/>
          <p:nvPr/>
        </p:nvSpPr>
        <p:spPr>
          <a:xfrm>
            <a:off x="1097280" y="1737360"/>
            <a:ext cx="6949440" cy="640080"/>
          </a:xfrm>
          <a:prstGeom prst="rect">
            <a:avLst/>
          </a:prstGeom>
          <a:noFill/>
          <a:ln/>
        </p:spPr>
        <p:txBody>
          <a:bodyPr wrap="square" rtlCol="0" anchor="ctr"/>
          <a:lstStyle/>
          <a:p>
            <a:pPr marL="0" indent="0">
              <a:buNone/>
            </a:pPr>
            <a:r>
              <a:rPr lang="en-US" sz="1300" dirty="0">
                <a:solidFill>
                  <a:srgbClr val="333333"/>
                </a:solidFill>
              </a:rPr>
              <a:t>Netlifyは初期開発速度と運営便宜性を提供するが、拡張時に費用が幾何級数的に増加。1,000名ユーザー基準で月7万円の費用は「DevOpsエンジニア0.1人月」より安価な可能性があるが、10,000名ユーザーの月70万円は正当化が困難。</a:t>
            </a:r>
            <a:endParaRPr lang="en-US" sz="1300" dirty="0"/>
          </a:p>
        </p:txBody>
      </p:sp>
      <p:sp>
        <p:nvSpPr>
          <p:cNvPr id="6" name="Text 4"/>
          <p:cNvSpPr/>
          <p:nvPr/>
        </p:nvSpPr>
        <p:spPr>
          <a:xfrm>
            <a:off x="731520" y="2743200"/>
            <a:ext cx="7680960" cy="365760"/>
          </a:xfrm>
          <a:prstGeom prst="rect">
            <a:avLst/>
          </a:prstGeom>
          <a:noFill/>
          <a:ln/>
        </p:spPr>
        <p:txBody>
          <a:bodyPr wrap="square" rtlCol="0" anchor="ctr"/>
          <a:lstStyle/>
          <a:p>
            <a:pPr marL="0" indent="0">
              <a:buNone/>
            </a:pPr>
            <a:r>
              <a:rPr lang="en-US" sz="2000" b="1" dirty="0">
                <a:solidFill>
                  <a:srgbClr val="4472C4"/>
                </a:solidFill>
              </a:rPr>
              <a:t>移行戦略</a:t>
            </a:r>
            <a:endParaRPr lang="en-US" sz="2000" dirty="0"/>
          </a:p>
        </p:txBody>
      </p:sp>
      <p:sp>
        <p:nvSpPr>
          <p:cNvPr id="7" name="Text 5"/>
          <p:cNvSpPr/>
          <p:nvPr/>
        </p:nvSpPr>
        <p:spPr>
          <a:xfrm>
            <a:off x="914400" y="3200400"/>
            <a:ext cx="7315200" cy="1645920"/>
          </a:xfrm>
          <a:prstGeom prst="rect">
            <a:avLst/>
          </a:prstGeom>
          <a:noFill/>
          <a:ln/>
        </p:spPr>
        <p:txBody>
          <a:bodyPr wrap="square" rtlCol="0" anchor="ctr"/>
          <a:lstStyle/>
          <a:p>
            <a:pPr marL="342900" indent="-342900">
              <a:lnSpc>
                <a:spcPts val="3200"/>
              </a:lnSpc>
              <a:buSzPct val="100000"/>
              <a:buFont typeface="+mj-lt"/>
              <a:buAutoNum type="arabicPeriod"/>
            </a:pPr>
            <a:r>
              <a:rPr lang="en-US" sz="1400" dirty="0">
                <a:solidFill>
                  <a:srgbClr val="333333"/>
                </a:solidFill>
              </a:rPr>
              <a:t>Phase 1 (0～500名): Netlifyを維持。この区間では開発速度が月7万円未満の費用より重要</a:t>
            </a:r>
            <a:endParaRPr lang="en-US" sz="1400" dirty="0"/>
          </a:p>
          <a:p>
            <a:pPr marL="342900" indent="-342900">
              <a:lnSpc>
                <a:spcPts val="3200"/>
              </a:lnSpc>
              <a:buSzPct val="100000"/>
              <a:buFont typeface="+mj-lt"/>
              <a:buAutoNum type="arabicPeriod"/>
            </a:pPr>
            <a:r>
              <a:rPr lang="en-US" sz="1400" dirty="0">
                <a:solidFill>
                  <a:srgbClr val="333333"/>
                </a:solidFill>
              </a:rPr>
              <a:t>Phase 2 (500名+): AWS Lambda/API Gateway/CloudFront（日本リージョン）への移行に即時着手</a:t>
            </a:r>
            <a:endParaRPr lang="en-US" sz="1400" dirty="0"/>
          </a:p>
          <a:p>
            <a:pPr marL="342900" indent="-342900">
              <a:lnSpc>
                <a:spcPts val="3200"/>
              </a:lnSpc>
              <a:buSzPct val="100000"/>
              <a:buFont typeface="+mj-lt"/>
              <a:buAutoNum type="arabicPeriod"/>
            </a:pPr>
            <a:r>
              <a:rPr lang="en-US" sz="1400" dirty="0">
                <a:solidFill>
                  <a:srgbClr val="333333"/>
                </a:solidFill>
              </a:rPr>
              <a:t>10,000名基準で月70万円の費用差はDevOpsエンジニア雇用費用を上回る</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9. モデル変更シナリオ分析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400" dirty="0">
                <a:solidFill>
                  <a:srgbClr val="666666"/>
                </a:solidFill>
              </a:rPr>
              <a:t>LLMモデル組み合わせ変更の影響（1,000名ユーザー基準）</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74320" y="1554480"/>
          <a:ext cx="8595360" cy="2286000"/>
        </p:xfrm>
        <a:graphic>
          <a:graphicData uri="http://schemas.openxmlformats.org/drawingml/2006/table">
            <a:tbl>
              <a:tblPr/>
              <a:tblGrid>
                <a:gridCol w="1432560">
                  <a:extLst>
                    <a:ext uri="{9D8B030D-6E8A-4147-A177-3AD203B41FA5}">
                      <a16:colId xmlns:a16="http://schemas.microsoft.com/office/drawing/2014/main" val="20000"/>
                    </a:ext>
                  </a:extLst>
                </a:gridCol>
                <a:gridCol w="1432560">
                  <a:extLst>
                    <a:ext uri="{9D8B030D-6E8A-4147-A177-3AD203B41FA5}">
                      <a16:colId xmlns:a16="http://schemas.microsoft.com/office/drawing/2014/main" val="20001"/>
                    </a:ext>
                  </a:extLst>
                </a:gridCol>
                <a:gridCol w="1432560">
                  <a:extLst>
                    <a:ext uri="{9D8B030D-6E8A-4147-A177-3AD203B41FA5}">
                      <a16:colId xmlns:a16="http://schemas.microsoft.com/office/drawing/2014/main" val="20002"/>
                    </a:ext>
                  </a:extLst>
                </a:gridCol>
                <a:gridCol w="1432560">
                  <a:extLst>
                    <a:ext uri="{9D8B030D-6E8A-4147-A177-3AD203B41FA5}">
                      <a16:colId xmlns:a16="http://schemas.microsoft.com/office/drawing/2014/main" val="20003"/>
                    </a:ext>
                  </a:extLst>
                </a:gridCol>
                <a:gridCol w="1432560">
                  <a:extLst>
                    <a:ext uri="{9D8B030D-6E8A-4147-A177-3AD203B41FA5}">
                      <a16:colId xmlns:a16="http://schemas.microsoft.com/office/drawing/2014/main" val="20004"/>
                    </a:ext>
                  </a:extLst>
                </a:gridCol>
                <a:gridCol w="1432560">
                  <a:extLst>
                    <a:ext uri="{9D8B030D-6E8A-4147-A177-3AD203B41FA5}">
                      <a16:colId xmlns:a16="http://schemas.microsoft.com/office/drawing/2014/main" val="20005"/>
                    </a:ext>
                  </a:extLst>
                </a:gridCol>
              </a:tblGrid>
              <a:tr h="457200">
                <a:tc>
                  <a:txBody>
                    <a:bodyPr/>
                    <a:lstStyle/>
                    <a:p>
                      <a:pPr marL="0" indent="0" algn="ctr">
                        <a:buNone/>
                      </a:pPr>
                      <a:r>
                        <a:rPr lang="en-US" sz="1100" dirty="0">
                          <a:solidFill>
                            <a:srgbClr val="333333"/>
                          </a:solidFill>
                        </a:rPr>
                        <a:t>シナリオ</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チャット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要約</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月総LLM費用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基準(A)との差額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基準(A)との比率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ctr">
                        <a:buNone/>
                      </a:pPr>
                      <a:r>
                        <a:rPr lang="en-US" sz="1100" dirty="0">
                          <a:solidFill>
                            <a:srgbClr val="333333"/>
                          </a:solidFill>
                        </a:rPr>
                        <a:t>A (現在)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Flash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Pro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941,777円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100" dirty="0">
                          <a:solidFill>
                            <a:srgbClr val="333333"/>
                          </a:solidFill>
                        </a:rPr>
                        <a:t>B (費用削減)</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Flash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Flash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199,412円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-742,365円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21.2%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100" dirty="0">
                          <a:solidFill>
                            <a:srgbClr val="333333"/>
                          </a:solidFill>
                        </a:rPr>
                        <a:t>C (高級化)</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Pro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Pro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3,323,531円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+2,381,754円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352.9%</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100" dirty="0">
                          <a:solidFill>
                            <a:srgbClr val="333333"/>
                          </a:solidFill>
                        </a:rPr>
                        <a:t>D (ハイブリッド)</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Pro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Flash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2,581,166円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+1,639,389円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274.1%</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731520" y="4023360"/>
            <a:ext cx="7680960" cy="365760"/>
          </a:xfrm>
          <a:prstGeom prst="rect">
            <a:avLst/>
          </a:prstGeom>
          <a:noFill/>
          <a:ln/>
        </p:spPr>
        <p:txBody>
          <a:bodyPr wrap="square" rtlCol="0" anchor="ctr"/>
          <a:lstStyle/>
          <a:p>
            <a:pPr marL="0" indent="0">
              <a:buNone/>
            </a:pPr>
            <a:r>
              <a:rPr lang="en-US" sz="1800" b="1" dirty="0">
                <a:solidFill>
                  <a:srgbClr val="5B9BD5"/>
                </a:solidFill>
              </a:rPr>
              <a:t>重要な発見事項</a:t>
            </a:r>
            <a:endParaRPr lang="en-US" sz="1800" dirty="0"/>
          </a:p>
        </p:txBody>
      </p:sp>
      <p:sp>
        <p:nvSpPr>
          <p:cNvPr id="6" name="Text 3"/>
          <p:cNvSpPr/>
          <p:nvPr/>
        </p:nvSpPr>
        <p:spPr>
          <a:xfrm>
            <a:off x="914400" y="4480560"/>
            <a:ext cx="7315200" cy="1097280"/>
          </a:xfrm>
          <a:prstGeom prst="rect">
            <a:avLst/>
          </a:prstGeom>
          <a:noFill/>
          <a:ln/>
        </p:spPr>
        <p:txBody>
          <a:bodyPr wrap="square" rtlCol="0" anchor="ctr"/>
          <a:lstStyle/>
          <a:p>
            <a:pPr marL="342900" indent="-342900">
              <a:lnSpc>
                <a:spcPts val="2600"/>
              </a:lnSpc>
              <a:buSzPct val="100000"/>
              <a:buChar char="•"/>
            </a:pPr>
            <a:r>
              <a:rPr lang="en-US" sz="1300" dirty="0">
                <a:solidFill>
                  <a:srgbClr val="333333"/>
                </a:solidFill>
              </a:rPr>
              <a:t>最強の費用削減（A→B）: 要約モデルをPro→Flashに変更するだけで月74万円を即時削減（78.8%削減）</a:t>
            </a:r>
            <a:endParaRPr lang="en-US" sz="1300" dirty="0"/>
          </a:p>
          <a:p>
            <a:pPr marL="342900" indent="-342900">
              <a:lnSpc>
                <a:spcPts val="2600"/>
              </a:lnSpc>
              <a:buSzPct val="100000"/>
              <a:buChar char="•"/>
            </a:pPr>
            <a:r>
              <a:rPr lang="en-US" sz="1300" dirty="0">
                <a:solidFill>
                  <a:srgbClr val="333333"/>
                </a:solidFill>
              </a:rPr>
              <a:t>Proチャットの財務的リスク（A→C）: チャットモデルをProに変更すると月238万円の費用爆発</a:t>
            </a:r>
            <a:endParaRPr lang="en-US" sz="1300" dirty="0"/>
          </a:p>
          <a:p>
            <a:pPr marL="342900" indent="-342900">
              <a:lnSpc>
                <a:spcPts val="2600"/>
              </a:lnSpc>
              <a:buSzPct val="100000"/>
              <a:buChar char="•"/>
            </a:pPr>
            <a:r>
              <a:rPr lang="en-US" sz="1300" dirty="0">
                <a:solidFill>
                  <a:srgbClr val="333333"/>
                </a:solidFill>
              </a:rPr>
              <a:t>推奨: Flash チャット + Flash 要約（シナリオB）で出発し、費用を最小化</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10. 最適運営戦略提案</a:t>
            </a:r>
            <a:endParaRPr lang="en-US" sz="24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2000" b="1" dirty="0">
                <a:solidFill>
                  <a:srgbClr val="4472C4"/>
                </a:solidFill>
              </a:rPr>
              <a:t>❶ 費用最適化方案</a:t>
            </a:r>
            <a:endParaRPr lang="en-US" sz="2000" dirty="0"/>
          </a:p>
        </p:txBody>
      </p:sp>
      <p:sp>
        <p:nvSpPr>
          <p:cNvPr id="4" name="Shape 2"/>
          <p:cNvSpPr/>
          <p:nvPr/>
        </p:nvSpPr>
        <p:spPr>
          <a:xfrm>
            <a:off x="731520" y="1554480"/>
            <a:ext cx="7680960" cy="1463040"/>
          </a:xfrm>
          <a:prstGeom prst="rect">
            <a:avLst/>
          </a:prstGeom>
          <a:solidFill>
            <a:srgbClr val="E8F5E9"/>
          </a:solidFill>
          <a:ln w="25400">
            <a:solidFill>
              <a:srgbClr val="4CAF50"/>
            </a:solidFill>
            <a:prstDash val="solid"/>
          </a:ln>
        </p:spPr>
      </p:sp>
      <p:sp>
        <p:nvSpPr>
          <p:cNvPr id="5" name="Text 3"/>
          <p:cNvSpPr/>
          <p:nvPr/>
        </p:nvSpPr>
        <p:spPr>
          <a:xfrm>
            <a:off x="914400" y="1691640"/>
            <a:ext cx="7315200" cy="320040"/>
          </a:xfrm>
          <a:prstGeom prst="rect">
            <a:avLst/>
          </a:prstGeom>
          <a:noFill/>
          <a:ln/>
        </p:spPr>
        <p:txBody>
          <a:bodyPr wrap="square" rtlCol="0" anchor="ctr"/>
          <a:lstStyle/>
          <a:p>
            <a:pPr marL="0" indent="0">
              <a:buNone/>
            </a:pPr>
            <a:r>
              <a:rPr lang="en-US" sz="1400" b="1" dirty="0">
                <a:solidFill>
                  <a:srgbClr val="2E7D32"/>
                </a:solidFill>
              </a:rPr>
              <a:t>[即時実行] 自動要約機能の再設計（月74万円削減 @ 1k users）</a:t>
            </a:r>
            <a:endParaRPr lang="en-US" sz="1400" dirty="0"/>
          </a:p>
        </p:txBody>
      </p:sp>
      <p:sp>
        <p:nvSpPr>
          <p:cNvPr id="6" name="Text 4"/>
          <p:cNvSpPr/>
          <p:nvPr/>
        </p:nvSpPr>
        <p:spPr>
          <a:xfrm>
            <a:off x="1097280" y="2103120"/>
            <a:ext cx="6949440" cy="822960"/>
          </a:xfrm>
          <a:prstGeom prst="rect">
            <a:avLst/>
          </a:prstGeom>
          <a:noFill/>
          <a:ln/>
        </p:spPr>
        <p:txBody>
          <a:bodyPr wrap="square" rtlCol="0" anchor="ctr"/>
          <a:lstStyle/>
          <a:p>
            <a:pPr marL="0" indent="0">
              <a:buNone/>
            </a:pPr>
            <a:r>
              <a:rPr lang="en-US" sz="1100" dirty="0">
                <a:solidFill>
                  <a:srgbClr val="333333"/>
                </a:solidFill>
              </a:rPr>
              <a:t>現在「5メッセージ毎にPro要約」は費用構造の48%を占める最大の財務負担。</a:t>
            </a:r>
            <a:endParaRPr lang="en-US" sz="1100" dirty="0"/>
          </a:p>
          <a:p>
            <a:pPr marL="0" indent="0">
              <a:buNone/>
            </a:pPr>
            <a:endParaRPr lang="en-US" sz="1100" dirty="0"/>
          </a:p>
          <a:p>
            <a:pPr marL="0" indent="0">
              <a:buNone/>
            </a:pPr>
            <a:r>
              <a:rPr lang="en-US" sz="1100" dirty="0">
                <a:solidFill>
                  <a:srgbClr val="333333"/>
                </a:solidFill>
              </a:rPr>
              <a:t>代案1（推奨）: モデルを「Gemini 2.5 Pro」→「Flash」に即時変更</a:t>
            </a:r>
            <a:endParaRPr lang="en-US" sz="1100" dirty="0"/>
          </a:p>
          <a:p>
            <a:pPr marL="0" indent="0">
              <a:buNone/>
            </a:pPr>
            <a:r>
              <a:rPr lang="en-US" sz="1100" dirty="0">
                <a:solidFill>
                  <a:srgbClr val="333333"/>
                </a:solidFill>
              </a:rPr>
              <a:t>代案2: トリガーを変更（「チャットセッション終了時1回」または「ユーザー要請時（有料ポイント差引）」）</a:t>
            </a:r>
            <a:endParaRPr lang="en-US" sz="1100" dirty="0"/>
          </a:p>
        </p:txBody>
      </p:sp>
      <p:sp>
        <p:nvSpPr>
          <p:cNvPr id="7" name="Shape 5"/>
          <p:cNvSpPr/>
          <p:nvPr/>
        </p:nvSpPr>
        <p:spPr>
          <a:xfrm>
            <a:off x="731520" y="3200400"/>
            <a:ext cx="7680960" cy="1463040"/>
          </a:xfrm>
          <a:prstGeom prst="rect">
            <a:avLst/>
          </a:prstGeom>
          <a:solidFill>
            <a:srgbClr val="E3F2FD"/>
          </a:solidFill>
          <a:ln w="25400">
            <a:solidFill>
              <a:srgbClr val="2196F3"/>
            </a:solidFill>
            <a:prstDash val="solid"/>
          </a:ln>
        </p:spPr>
      </p:sp>
      <p:sp>
        <p:nvSpPr>
          <p:cNvPr id="8" name="Text 6"/>
          <p:cNvSpPr/>
          <p:nvPr/>
        </p:nvSpPr>
        <p:spPr>
          <a:xfrm>
            <a:off x="914400" y="3337560"/>
            <a:ext cx="7315200" cy="320040"/>
          </a:xfrm>
          <a:prstGeom prst="rect">
            <a:avLst/>
          </a:prstGeom>
          <a:noFill/>
          <a:ln/>
        </p:spPr>
        <p:txBody>
          <a:bodyPr wrap="square" rtlCol="0" anchor="ctr"/>
          <a:lstStyle/>
          <a:p>
            <a:pPr marL="0" indent="0">
              <a:buNone/>
            </a:pPr>
            <a:r>
              <a:rPr lang="en-US" sz="1400" b="1" dirty="0">
                <a:solidFill>
                  <a:srgbClr val="1565C0"/>
                </a:solidFill>
              </a:rPr>
              <a:t>[中期計画] NetlifyからAWSへのインフラ移行（月68万円削減 @ 10k users）</a:t>
            </a:r>
            <a:endParaRPr lang="en-US" sz="1400" dirty="0"/>
          </a:p>
        </p:txBody>
      </p:sp>
      <p:sp>
        <p:nvSpPr>
          <p:cNvPr id="9" name="Text 7"/>
          <p:cNvSpPr/>
          <p:nvPr/>
        </p:nvSpPr>
        <p:spPr>
          <a:xfrm>
            <a:off x="1097280" y="3749040"/>
            <a:ext cx="6949440" cy="822960"/>
          </a:xfrm>
          <a:prstGeom prst="rect">
            <a:avLst/>
          </a:prstGeom>
          <a:noFill/>
          <a:ln/>
        </p:spPr>
        <p:txBody>
          <a:bodyPr wrap="square" rtlCol="0" anchor="ctr"/>
          <a:lstStyle/>
          <a:p>
            <a:pPr marL="0" indent="0">
              <a:buNone/>
            </a:pPr>
            <a:r>
              <a:rPr lang="en-US" sz="1100" dirty="0">
                <a:solidFill>
                  <a:srgbClr val="333333"/>
                </a:solidFill>
              </a:rPr>
              <a:t>Netlify関数はAWS Lambda/APGWに比べ36倍以上高価。</a:t>
            </a:r>
            <a:endParaRPr lang="en-US" sz="1100" dirty="0"/>
          </a:p>
          <a:p>
            <a:pPr marL="0" indent="0">
              <a:buNone/>
            </a:pPr>
            <a:endParaRPr lang="en-US" sz="1100" dirty="0"/>
          </a:p>
          <a:p>
            <a:pPr marL="0" indent="0">
              <a:buNone/>
            </a:pPr>
            <a:r>
              <a:rPr lang="en-US" sz="1100" dirty="0">
                <a:solidFill>
                  <a:srgbClr val="333333"/>
                </a:solidFill>
              </a:rPr>
              <a:t>Phase 1（0～500名）: Netlifyを維持（開発速度が月7万円未満の費用より重要）</a:t>
            </a:r>
            <a:endParaRPr lang="en-US" sz="1100" dirty="0"/>
          </a:p>
          <a:p>
            <a:pPr marL="0" indent="0">
              <a:buNone/>
            </a:pPr>
            <a:r>
              <a:rPr lang="en-US" sz="1100" dirty="0">
                <a:solidFill>
                  <a:srgbClr val="333333"/>
                </a:solidFill>
              </a:rPr>
              <a:t>Phase 2（500名+）: AWS Lambda/APIGW/CloudFront（日本リージョン）への移行に即時着手</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最適運営戦略提案（続き）</a:t>
            </a:r>
            <a:endParaRPr lang="en-US" sz="24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2000" b="1" dirty="0">
                <a:solidFill>
                  <a:srgbClr val="4472C4"/>
                </a:solidFill>
              </a:rPr>
              <a:t>❷ 収益最大化方案</a:t>
            </a:r>
            <a:endParaRPr lang="en-US" sz="2000" dirty="0"/>
          </a:p>
        </p:txBody>
      </p:sp>
      <p:sp>
        <p:nvSpPr>
          <p:cNvPr id="4" name="Shape 2"/>
          <p:cNvSpPr/>
          <p:nvPr/>
        </p:nvSpPr>
        <p:spPr>
          <a:xfrm>
            <a:off x="731520" y="1554480"/>
            <a:ext cx="7680960" cy="1280160"/>
          </a:xfrm>
          <a:prstGeom prst="rect">
            <a:avLst/>
          </a:prstGeom>
          <a:solidFill>
            <a:srgbClr val="FFF3CD"/>
          </a:solidFill>
          <a:ln w="25400">
            <a:solidFill>
              <a:srgbClr val="FFC107"/>
            </a:solidFill>
            <a:prstDash val="solid"/>
          </a:ln>
        </p:spPr>
      </p:sp>
      <p:sp>
        <p:nvSpPr>
          <p:cNvPr id="5" name="Text 3"/>
          <p:cNvSpPr/>
          <p:nvPr/>
        </p:nvSpPr>
        <p:spPr>
          <a:xfrm>
            <a:off x="914400" y="1691640"/>
            <a:ext cx="7315200" cy="320040"/>
          </a:xfrm>
          <a:prstGeom prst="rect">
            <a:avLst/>
          </a:prstGeom>
          <a:noFill/>
          <a:ln/>
        </p:spPr>
        <p:txBody>
          <a:bodyPr wrap="square" rtlCol="0" anchor="ctr"/>
          <a:lstStyle/>
          <a:p>
            <a:pPr marL="0" indent="0">
              <a:buNone/>
            </a:pPr>
            <a:r>
              <a:rPr lang="en-US" sz="1400" b="1" dirty="0">
                <a:solidFill>
                  <a:srgbClr val="856404"/>
                </a:solidFill>
              </a:rPr>
              <a:t>[即時実行] 無料ポイント政策の調整</a:t>
            </a:r>
            <a:endParaRPr lang="en-US" sz="1400" dirty="0"/>
          </a:p>
        </p:txBody>
      </p:sp>
      <p:sp>
        <p:nvSpPr>
          <p:cNvPr id="6" name="Text 4"/>
          <p:cNvSpPr/>
          <p:nvPr/>
        </p:nvSpPr>
        <p:spPr>
          <a:xfrm>
            <a:off x="1097280" y="2103120"/>
            <a:ext cx="6949440" cy="640080"/>
          </a:xfrm>
          <a:prstGeom prst="rect">
            <a:avLst/>
          </a:prstGeom>
          <a:noFill/>
          <a:ln/>
        </p:spPr>
        <p:txBody>
          <a:bodyPr wrap="square" rtlCol="0" anchor="ctr"/>
          <a:lstStyle/>
          <a:p>
            <a:pPr marL="0" indent="0">
              <a:buNone/>
            </a:pPr>
            <a:r>
              <a:rPr lang="en-US" sz="1100" dirty="0">
                <a:solidFill>
                  <a:srgbClr val="333333"/>
                </a:solidFill>
              </a:rPr>
              <a:t>「月900ポイント」は低活性ユーザー（月1,500 msg）の使用量60%をカバーし、有料転換を妨害。</a:t>
            </a:r>
            <a:endParaRPr lang="en-US" sz="1100" dirty="0"/>
          </a:p>
          <a:p>
            <a:pPr marL="0" indent="0">
              <a:buNone/>
            </a:pPr>
            <a:endParaRPr lang="en-US" sz="1100" dirty="0"/>
          </a:p>
          <a:p>
            <a:pPr marL="0" indent="0">
              <a:buNone/>
            </a:pPr>
            <a:r>
              <a:rPr lang="en-US" sz="1100" dirty="0">
                <a:solidFill>
                  <a:srgbClr val="333333"/>
                </a:solidFill>
              </a:rPr>
              <a:t>代案: 毎日出席ポイントを30P→10P（月300P）に削減。これは依然としてユーザーの毎日接続を誘導しつつ、低活性ユーザーも有料ポイント購入を促す。</a:t>
            </a:r>
            <a:endParaRPr lang="en-US" sz="1100" dirty="0"/>
          </a:p>
        </p:txBody>
      </p:sp>
      <p:sp>
        <p:nvSpPr>
          <p:cNvPr id="7" name="Shape 5"/>
          <p:cNvSpPr/>
          <p:nvPr/>
        </p:nvSpPr>
        <p:spPr>
          <a:xfrm>
            <a:off x="731520" y="3017520"/>
            <a:ext cx="7680960" cy="1280160"/>
          </a:xfrm>
          <a:prstGeom prst="rect">
            <a:avLst/>
          </a:prstGeom>
          <a:solidFill>
            <a:srgbClr val="FFEBEE"/>
          </a:solidFill>
          <a:ln w="25400">
            <a:solidFill>
              <a:srgbClr val="F44336"/>
            </a:solidFill>
            <a:prstDash val="solid"/>
          </a:ln>
        </p:spPr>
      </p:sp>
      <p:sp>
        <p:nvSpPr>
          <p:cNvPr id="8" name="Text 6"/>
          <p:cNvSpPr/>
          <p:nvPr/>
        </p:nvSpPr>
        <p:spPr>
          <a:xfrm>
            <a:off x="914400" y="3154680"/>
            <a:ext cx="7315200" cy="320040"/>
          </a:xfrm>
          <a:prstGeom prst="rect">
            <a:avLst/>
          </a:prstGeom>
          <a:noFill/>
          <a:ln/>
        </p:spPr>
        <p:txBody>
          <a:bodyPr wrap="square" rtlCol="0" anchor="ctr"/>
          <a:lstStyle/>
          <a:p>
            <a:pPr marL="0" indent="0">
              <a:buNone/>
            </a:pPr>
            <a:r>
              <a:rPr lang="en-US" sz="1400" b="1" dirty="0">
                <a:solidFill>
                  <a:srgbClr val="C62828"/>
                </a:solidFill>
              </a:rPr>
              <a:t>[初期戦略] 初期赤字（Burn Rate）管理</a:t>
            </a:r>
            <a:endParaRPr lang="en-US" sz="1400" dirty="0"/>
          </a:p>
        </p:txBody>
      </p:sp>
      <p:sp>
        <p:nvSpPr>
          <p:cNvPr id="9" name="Text 7"/>
          <p:cNvSpPr/>
          <p:nvPr/>
        </p:nvSpPr>
        <p:spPr>
          <a:xfrm>
            <a:off x="1097280" y="3566160"/>
            <a:ext cx="6949440" cy="640080"/>
          </a:xfrm>
          <a:prstGeom prst="rect">
            <a:avLst/>
          </a:prstGeom>
          <a:noFill/>
          <a:ln/>
        </p:spPr>
        <p:txBody>
          <a:bodyPr wrap="square" rtlCol="0" anchor="ctr"/>
          <a:lstStyle/>
          <a:p>
            <a:pPr marL="0" indent="0">
              <a:buNone/>
            </a:pPr>
            <a:r>
              <a:rPr lang="en-US" sz="1100" dirty="0">
                <a:solidFill>
                  <a:srgbClr val="333333"/>
                </a:solidFill>
              </a:rPr>
              <a:t>初期50名無料ユーザーによる月2.7万円の赤字は「顧客獲得費用（CAC）」。</a:t>
            </a:r>
            <a:endParaRPr lang="en-US" sz="1100" dirty="0"/>
          </a:p>
          <a:p>
            <a:pPr marL="0" indent="0">
              <a:buNone/>
            </a:pPr>
            <a:endParaRPr lang="en-US" sz="1100" dirty="0"/>
          </a:p>
          <a:p>
            <a:pPr marL="0" indent="0">
              <a:buNone/>
            </a:pPr>
            <a:r>
              <a:rPr lang="en-US" sz="1100" dirty="0">
                <a:solidFill>
                  <a:srgbClr val="333333"/>
                </a:solidFill>
              </a:rPr>
              <a:t>最大3ヶ月（約8万円）の予算を設定し、この期間内に有料転換が発生しなければ、マーケティングまたはサービス魅力度を即時再検討すべき。</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最適運営戦略提案（続き）</a:t>
            </a:r>
            <a:endParaRPr lang="en-US" sz="24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2000" b="1" dirty="0">
                <a:solidFill>
                  <a:srgbClr val="4472C4"/>
                </a:solidFill>
              </a:rPr>
              <a:t>❸ モデル選択戦略</a:t>
            </a:r>
            <a:endParaRPr lang="en-US" sz="2000" dirty="0"/>
          </a:p>
        </p:txBody>
      </p:sp>
      <p:sp>
        <p:nvSpPr>
          <p:cNvPr id="4" name="Text 2"/>
          <p:cNvSpPr/>
          <p:nvPr/>
        </p:nvSpPr>
        <p:spPr>
          <a:xfrm>
            <a:off x="914400" y="1554480"/>
            <a:ext cx="7315200" cy="1371600"/>
          </a:xfrm>
          <a:prstGeom prst="rect">
            <a:avLst/>
          </a:prstGeom>
          <a:noFill/>
          <a:ln/>
        </p:spPr>
        <p:txBody>
          <a:bodyPr wrap="square" rtlCol="0" anchor="ctr"/>
          <a:lstStyle/>
          <a:p>
            <a:pPr marL="342900" indent="-342900">
              <a:lnSpc>
                <a:spcPts val="3000"/>
              </a:lnSpc>
              <a:buSzPct val="100000"/>
              <a:buChar char="•"/>
            </a:pPr>
            <a:r>
              <a:rPr lang="en-US" sz="1400" dirty="0">
                <a:solidFill>
                  <a:srgbClr val="333333"/>
                </a:solidFill>
              </a:rPr>
              <a:t>基本: Flash チャット + Flash 要約（シナリオB）でローンチし、費用を最小化</a:t>
            </a:r>
            <a:endParaRPr lang="en-US" sz="1400" dirty="0"/>
          </a:p>
          <a:p>
            <a:pPr marL="342900" indent="-342900">
              <a:lnSpc>
                <a:spcPts val="3000"/>
              </a:lnSpc>
              <a:buSzPct val="100000"/>
              <a:buChar char="•"/>
            </a:pPr>
            <a:r>
              <a:rPr lang="en-US" sz="1400" dirty="0">
                <a:solidFill>
                  <a:srgbClr val="333333"/>
                </a:solidFill>
              </a:rPr>
              <a:t>有料オプション: Pro チャット（シナリオD）は「月1,000円追加購読」または「メッセージ当たり3ポイント差引」のようなプレミアム（Upsell）商品として提供</a:t>
            </a:r>
            <a:endParaRPr lang="en-US" sz="1400" dirty="0"/>
          </a:p>
          <a:p>
            <a:pPr marL="342900" indent="-342900">
              <a:lnSpc>
                <a:spcPts val="3000"/>
              </a:lnSpc>
              <a:buSzPct val="100000"/>
              <a:buChar char="•"/>
            </a:pPr>
            <a:r>
              <a:rPr lang="en-US" sz="1400" dirty="0">
                <a:solidFill>
                  <a:srgbClr val="333333"/>
                </a:solidFill>
              </a:rPr>
              <a:t>❌ Pro モデルをデフォルトで提供してはいけない</a:t>
            </a:r>
            <a:endParaRPr lang="en-US" sz="1400" dirty="0"/>
          </a:p>
        </p:txBody>
      </p:sp>
      <p:sp>
        <p:nvSpPr>
          <p:cNvPr id="5" name="Text 3"/>
          <p:cNvSpPr/>
          <p:nvPr/>
        </p:nvSpPr>
        <p:spPr>
          <a:xfrm>
            <a:off x="457200" y="3108960"/>
            <a:ext cx="8229600" cy="457200"/>
          </a:xfrm>
          <a:prstGeom prst="rect">
            <a:avLst/>
          </a:prstGeom>
          <a:noFill/>
          <a:ln/>
        </p:spPr>
        <p:txBody>
          <a:bodyPr wrap="square" rtlCol="0" anchor="ctr"/>
          <a:lstStyle/>
          <a:p>
            <a:pPr marL="0" indent="0">
              <a:buNone/>
            </a:pPr>
            <a:r>
              <a:rPr lang="en-US" sz="2000" b="1" dirty="0">
                <a:solidFill>
                  <a:srgbClr val="4472C4"/>
                </a:solidFill>
              </a:rPr>
              <a:t>❹ ポイント価格戦略</a:t>
            </a:r>
            <a:endParaRPr lang="en-US" sz="2000" dirty="0"/>
          </a:p>
        </p:txBody>
      </p:sp>
      <p:sp>
        <p:nvSpPr>
          <p:cNvPr id="6" name="Shape 4"/>
          <p:cNvSpPr/>
          <p:nvPr/>
        </p:nvSpPr>
        <p:spPr>
          <a:xfrm>
            <a:off x="1097280" y="3657600"/>
            <a:ext cx="6949440" cy="1188720"/>
          </a:xfrm>
          <a:prstGeom prst="rect">
            <a:avLst/>
          </a:prstGeom>
          <a:solidFill>
            <a:srgbClr val="E8F5E9"/>
          </a:solidFill>
          <a:ln w="25400">
            <a:solidFill>
              <a:srgbClr val="4CAF50"/>
            </a:solidFill>
            <a:prstDash val="solid"/>
          </a:ln>
        </p:spPr>
      </p:sp>
      <p:sp>
        <p:nvSpPr>
          <p:cNvPr id="7" name="Text 5"/>
          <p:cNvSpPr/>
          <p:nvPr/>
        </p:nvSpPr>
        <p:spPr>
          <a:xfrm>
            <a:off x="1280160" y="3794760"/>
            <a:ext cx="6583680" cy="320040"/>
          </a:xfrm>
          <a:prstGeom prst="rect">
            <a:avLst/>
          </a:prstGeom>
          <a:noFill/>
          <a:ln/>
        </p:spPr>
        <p:txBody>
          <a:bodyPr wrap="square" rtlCol="0" anchor="ctr"/>
          <a:lstStyle/>
          <a:p>
            <a:pPr marL="0" indent="0">
              <a:buNone/>
            </a:pPr>
            <a:r>
              <a:rPr lang="en-US" sz="1500" b="1" dirty="0">
                <a:solidFill>
                  <a:srgbClr val="2E7D32"/>
                </a:solidFill>
              </a:rPr>
              <a:t>✅ 現在の価格政策は非常に優れている（維持推奨）</a:t>
            </a:r>
            <a:endParaRPr lang="en-US" sz="1500" dirty="0"/>
          </a:p>
        </p:txBody>
      </p:sp>
      <p:sp>
        <p:nvSpPr>
          <p:cNvPr id="8" name="Text 6"/>
          <p:cNvSpPr/>
          <p:nvPr/>
        </p:nvSpPr>
        <p:spPr>
          <a:xfrm>
            <a:off x="1280160" y="4206240"/>
            <a:ext cx="6583680" cy="548640"/>
          </a:xfrm>
          <a:prstGeom prst="rect">
            <a:avLst/>
          </a:prstGeom>
          <a:noFill/>
          <a:ln/>
        </p:spPr>
        <p:txBody>
          <a:bodyPr wrap="square" rtlCol="0" anchor="ctr"/>
          <a:lstStyle/>
          <a:p>
            <a:pPr marL="0" indent="0">
              <a:buNone/>
            </a:pPr>
            <a:r>
              <a:rPr lang="en-US" sz="1200" dirty="0">
                <a:solidFill>
                  <a:srgbClr val="333333"/>
                </a:solidFill>
              </a:rPr>
              <a:t>メッセージ当たり平均収益（8.5円）対LLM費用（0.4円）は21倍で、貢献利益率95%に達する。</a:t>
            </a:r>
            <a:endParaRPr lang="en-US" sz="1200" dirty="0"/>
          </a:p>
          <a:p>
            <a:pPr marL="0" indent="0">
              <a:buNone/>
            </a:pPr>
            <a:endParaRPr lang="en-US" sz="1200" dirty="0"/>
          </a:p>
          <a:p>
            <a:pPr marL="0" indent="0">
              <a:buNone/>
            </a:pPr>
            <a:r>
              <a:rPr lang="en-US" sz="1200" dirty="0">
                <a:solidFill>
                  <a:srgbClr val="333333"/>
                </a:solidFill>
              </a:rPr>
              <a:t>収益性問題は価格ではなく、「無料ユーザーの有料転換率」にある。</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結論</a:t>
            </a:r>
            <a:endParaRPr lang="en-US" sz="2400" dirty="0"/>
          </a:p>
        </p:txBody>
      </p:sp>
      <p:sp>
        <p:nvSpPr>
          <p:cNvPr id="3" name="Text 1"/>
          <p:cNvSpPr/>
          <p:nvPr/>
        </p:nvSpPr>
        <p:spPr>
          <a:xfrm>
            <a:off x="457200" y="1097280"/>
            <a:ext cx="8229600" cy="457200"/>
          </a:xfrm>
          <a:prstGeom prst="rect">
            <a:avLst/>
          </a:prstGeom>
          <a:noFill/>
          <a:ln/>
        </p:spPr>
        <p:txBody>
          <a:bodyPr wrap="square" rtlCol="0" anchor="ctr"/>
          <a:lstStyle/>
          <a:p>
            <a:pPr marL="0" indent="0" algn="ctr">
              <a:buNone/>
            </a:pPr>
            <a:r>
              <a:rPr lang="en-US" sz="1800" b="1" dirty="0" err="1">
                <a:solidFill>
                  <a:srgbClr val="1F4788"/>
                </a:solidFill>
              </a:rPr>
              <a:t>namos-chatは極めて高い収益性を持つビジネスモデル</a:t>
            </a:r>
            <a:endParaRPr lang="en-US" sz="1800" dirty="0"/>
          </a:p>
        </p:txBody>
      </p:sp>
      <p:sp>
        <p:nvSpPr>
          <p:cNvPr id="4" name="Text 2"/>
          <p:cNvSpPr/>
          <p:nvPr/>
        </p:nvSpPr>
        <p:spPr>
          <a:xfrm>
            <a:off x="914400" y="1737360"/>
            <a:ext cx="7315200" cy="1463040"/>
          </a:xfrm>
          <a:prstGeom prst="rect">
            <a:avLst/>
          </a:prstGeom>
          <a:noFill/>
          <a:ln/>
        </p:spPr>
        <p:txBody>
          <a:bodyPr wrap="square" rtlCol="0" anchor="ctr"/>
          <a:lstStyle/>
          <a:p>
            <a:pPr marL="342900" indent="-342900">
              <a:lnSpc>
                <a:spcPts val="2600"/>
              </a:lnSpc>
              <a:buSzPct val="100000"/>
              <a:buFont typeface="+mj-lt"/>
              <a:buAutoNum type="arabicPeriod"/>
            </a:pPr>
            <a:r>
              <a:rPr lang="en-US" sz="1400" dirty="0">
                <a:solidFill>
                  <a:srgbClr val="333333"/>
                </a:solidFill>
              </a:rPr>
              <a:t>貢献利益率95.3% - 有料ユーザー獲得直後から高収益</a:t>
            </a:r>
            <a:endParaRPr lang="en-US" sz="1400" dirty="0"/>
          </a:p>
          <a:p>
            <a:pPr marL="342900" indent="-342900">
              <a:lnSpc>
                <a:spcPts val="2600"/>
              </a:lnSpc>
              <a:buSzPct val="100000"/>
              <a:buFont typeface="+mj-lt"/>
              <a:buAutoNum type="arabicPeriod"/>
            </a:pPr>
            <a:r>
              <a:rPr lang="en-US" sz="1400" dirty="0">
                <a:solidFill>
                  <a:srgbClr val="333333"/>
                </a:solidFill>
              </a:rPr>
              <a:t>100名ユーザーで月158万円の純利益 - 急速なスケーリングが可能</a:t>
            </a:r>
            <a:endParaRPr lang="en-US" sz="1400" dirty="0"/>
          </a:p>
          <a:p>
            <a:pPr marL="342900" indent="-342900">
              <a:lnSpc>
                <a:spcPts val="2600"/>
              </a:lnSpc>
              <a:buSzPct val="100000"/>
              <a:buFont typeface="+mj-lt"/>
              <a:buAutoNum type="arabicPeriod"/>
            </a:pPr>
            <a:r>
              <a:rPr lang="en-US" sz="1400" dirty="0">
                <a:solidFill>
                  <a:srgbClr val="333333"/>
                </a:solidFill>
              </a:rPr>
              <a:t>初期赤字はわずか月2～3万円 - 財務的リスクは極めて低い</a:t>
            </a:r>
            <a:endParaRPr lang="en-US" sz="1400" dirty="0"/>
          </a:p>
          <a:p>
            <a:pPr marL="342900" indent="-342900">
              <a:lnSpc>
                <a:spcPts val="2600"/>
              </a:lnSpc>
              <a:buSzPct val="100000"/>
              <a:buFont typeface="+mj-lt"/>
              <a:buAutoNum type="arabicPeriod"/>
            </a:pPr>
            <a:r>
              <a:rPr lang="en-US" sz="1400" dirty="0">
                <a:solidFill>
                  <a:srgbClr val="333333"/>
                </a:solidFill>
              </a:rPr>
              <a:t>主要コスト要因は明確 - 最適化の方向性が具体的</a:t>
            </a:r>
            <a:endParaRPr lang="en-US" sz="1400" dirty="0"/>
          </a:p>
        </p:txBody>
      </p:sp>
      <p:sp>
        <p:nvSpPr>
          <p:cNvPr id="5" name="Text 3"/>
          <p:cNvSpPr/>
          <p:nvPr/>
        </p:nvSpPr>
        <p:spPr>
          <a:xfrm>
            <a:off x="914400" y="3248025"/>
            <a:ext cx="7315200" cy="730250"/>
          </a:xfrm>
          <a:prstGeom prst="rect">
            <a:avLst/>
          </a:prstGeom>
          <a:noFill/>
          <a:ln/>
        </p:spPr>
        <p:txBody>
          <a:bodyPr wrap="square" rtlCol="0" anchor="ctr"/>
          <a:lstStyle/>
          <a:p>
            <a:pPr marL="342900" indent="-342900">
              <a:lnSpc>
                <a:spcPts val="2400"/>
              </a:lnSpc>
              <a:buSzPct val="100000"/>
              <a:buFont typeface="+mj-lt"/>
              <a:buAutoNum type="arabicPeriod"/>
            </a:pPr>
            <a:r>
              <a:rPr lang="en-US" sz="1400" dirty="0">
                <a:solidFill>
                  <a:srgbClr val="333333"/>
                </a:solidFill>
              </a:rPr>
              <a:t>戦略的実行項目:  • 自動要約機能の最適化（月74万円削減可能）  • 500名以降のAWS移行準備  • 無料ポイント政策の調整  • ヘビーユーザー獲得に集中したマーケティング</a:t>
            </a:r>
            <a:endParaRPr lang="en-US" sz="1400" dirty="0"/>
          </a:p>
        </p:txBody>
      </p:sp>
      <p:sp>
        <p:nvSpPr>
          <p:cNvPr id="6" name="Shape 4"/>
          <p:cNvSpPr/>
          <p:nvPr/>
        </p:nvSpPr>
        <p:spPr>
          <a:xfrm>
            <a:off x="1270000" y="4210050"/>
            <a:ext cx="6400800" cy="548640"/>
          </a:xfrm>
          <a:prstGeom prst="rect">
            <a:avLst/>
          </a:prstGeom>
          <a:solidFill>
            <a:srgbClr val="4472C4"/>
          </a:solidFill>
          <a:ln/>
        </p:spPr>
      </p:sp>
      <p:sp>
        <p:nvSpPr>
          <p:cNvPr id="7" name="Text 5"/>
          <p:cNvSpPr/>
          <p:nvPr/>
        </p:nvSpPr>
        <p:spPr>
          <a:xfrm>
            <a:off x="1452880" y="4301490"/>
            <a:ext cx="6035040" cy="365760"/>
          </a:xfrm>
          <a:prstGeom prst="rect">
            <a:avLst/>
          </a:prstGeom>
          <a:noFill/>
          <a:ln/>
        </p:spPr>
        <p:txBody>
          <a:bodyPr wrap="square" rtlCol="0" anchor="ctr"/>
          <a:lstStyle/>
          <a:p>
            <a:pPr marL="0" indent="0" algn="ctr">
              <a:buNone/>
            </a:pPr>
            <a:r>
              <a:rPr lang="en-US" sz="1400" b="1" dirty="0">
                <a:solidFill>
                  <a:srgbClr val="FFFFFF"/>
                </a:solidFill>
              </a:rPr>
              <a:t>ビジネスの成功は「初期50名→100名への迅速な移行」にかかっている</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91440"/>
            <a:ext cx="8229600" cy="548640"/>
          </a:xfrm>
          <a:prstGeom prst="rect">
            <a:avLst/>
          </a:prstGeom>
          <a:noFill/>
          <a:ln/>
        </p:spPr>
        <p:txBody>
          <a:bodyPr wrap="square" rtlCol="0" anchor="ctr"/>
          <a:lstStyle/>
          <a:p>
            <a:pPr marL="0" indent="0">
              <a:buNone/>
            </a:pPr>
            <a:r>
              <a:rPr lang="en-US" sz="2400" b="1" dirty="0">
                <a:solidFill>
                  <a:srgbClr val="1F4788"/>
                </a:solidFill>
              </a:rPr>
              <a:t>補足: ドメイン購入及び維持費用</a:t>
            </a:r>
            <a:endParaRPr lang="en-US" sz="2400" dirty="0"/>
          </a:p>
        </p:txBody>
      </p:sp>
      <p:sp>
        <p:nvSpPr>
          <p:cNvPr id="3" name="Text 1"/>
          <p:cNvSpPr/>
          <p:nvPr/>
        </p:nvSpPr>
        <p:spPr>
          <a:xfrm>
            <a:off x="457200" y="636270"/>
            <a:ext cx="3644900" cy="365760"/>
          </a:xfrm>
          <a:prstGeom prst="rect">
            <a:avLst/>
          </a:prstGeom>
          <a:noFill/>
          <a:ln/>
        </p:spPr>
        <p:txBody>
          <a:bodyPr wrap="square" rtlCol="0" anchor="ctr"/>
          <a:lstStyle/>
          <a:p>
            <a:pPr marL="0" indent="0" algn="ctr">
              <a:buNone/>
            </a:pPr>
            <a:r>
              <a:rPr lang="en-US" sz="1600" dirty="0">
                <a:solidFill>
                  <a:srgbClr val="666666"/>
                </a:solidFill>
              </a:rPr>
              <a:t>サービス運営に必要なドメイン費用</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627029118"/>
              </p:ext>
            </p:extLst>
          </p:nvPr>
        </p:nvGraphicFramePr>
        <p:xfrm>
          <a:off x="579120" y="1005078"/>
          <a:ext cx="5777232" cy="2009648"/>
        </p:xfrm>
        <a:graphic>
          <a:graphicData uri="http://schemas.openxmlformats.org/drawingml/2006/table">
            <a:tbl>
              <a:tblPr/>
              <a:tblGrid>
                <a:gridCol w="1444308">
                  <a:extLst>
                    <a:ext uri="{9D8B030D-6E8A-4147-A177-3AD203B41FA5}">
                      <a16:colId xmlns:a16="http://schemas.microsoft.com/office/drawing/2014/main" val="20000"/>
                    </a:ext>
                  </a:extLst>
                </a:gridCol>
                <a:gridCol w="1444308">
                  <a:extLst>
                    <a:ext uri="{9D8B030D-6E8A-4147-A177-3AD203B41FA5}">
                      <a16:colId xmlns:a16="http://schemas.microsoft.com/office/drawing/2014/main" val="20001"/>
                    </a:ext>
                  </a:extLst>
                </a:gridCol>
                <a:gridCol w="1444308">
                  <a:extLst>
                    <a:ext uri="{9D8B030D-6E8A-4147-A177-3AD203B41FA5}">
                      <a16:colId xmlns:a16="http://schemas.microsoft.com/office/drawing/2014/main" val="20002"/>
                    </a:ext>
                  </a:extLst>
                </a:gridCol>
                <a:gridCol w="1444308">
                  <a:extLst>
                    <a:ext uri="{9D8B030D-6E8A-4147-A177-3AD203B41FA5}">
                      <a16:colId xmlns:a16="http://schemas.microsoft.com/office/drawing/2014/main" val="20003"/>
                    </a:ext>
                  </a:extLst>
                </a:gridCol>
              </a:tblGrid>
              <a:tr h="319024">
                <a:tc>
                  <a:txBody>
                    <a:bodyPr/>
                    <a:lstStyle/>
                    <a:p>
                      <a:pPr marL="0" indent="0" algn="ctr">
                        <a:buNone/>
                      </a:pPr>
                      <a:r>
                        <a:rPr lang="en-US" sz="1200" dirty="0">
                          <a:solidFill>
                            <a:srgbClr val="333333"/>
                          </a:solidFill>
                        </a:rPr>
                        <a:t>ドメイン種類</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初年度費用</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更新費用（年間）</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備考</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19024">
                <a:tc>
                  <a:txBody>
                    <a:bodyPr/>
                    <a:lstStyle/>
                    <a:p>
                      <a:pPr marL="0" indent="0" algn="ctr">
                        <a:buNone/>
                      </a:pPr>
                      <a:r>
                        <a:rPr lang="en-US" sz="1200" dirty="0">
                          <a:solidFill>
                            <a:srgbClr val="333333"/>
                          </a:solidFill>
                        </a:rPr>
                        <a:t>.com</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$9~$15</a:t>
                      </a:r>
                      <a:endParaRPr lang="en-US" sz="1200" dirty="0"/>
                    </a:p>
                    <a:p>
                      <a:pPr marL="0" indent="0" algn="ctr">
                        <a:buNone/>
                      </a:pPr>
                      <a:r>
                        <a:rPr lang="en-US" sz="1200" dirty="0">
                          <a:solidFill>
                            <a:srgbClr val="333333"/>
                          </a:solidFill>
                        </a:rPr>
                        <a:t>(1,350~2,250円)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$12~$18</a:t>
                      </a:r>
                      <a:endParaRPr lang="en-US" sz="1200" dirty="0"/>
                    </a:p>
                    <a:p>
                      <a:pPr marL="0" indent="0" algn="ctr">
                        <a:buNone/>
                      </a:pPr>
                      <a:r>
                        <a:rPr lang="en-US" sz="1200" dirty="0">
                          <a:solidFill>
                            <a:srgbClr val="333333"/>
                          </a:solidFill>
                        </a:rPr>
                        <a:t>(1,800~2,700円)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最も一般的なドメイン</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9024">
                <a:tc>
                  <a:txBody>
                    <a:bodyPr/>
                    <a:lstStyle/>
                    <a:p>
                      <a:pPr marL="0" indent="0" algn="ctr">
                        <a:buNone/>
                      </a:pPr>
                      <a:r>
                        <a:rPr lang="en-US" sz="1200" dirty="0">
                          <a:solidFill>
                            <a:srgbClr val="333333"/>
                          </a:solidFill>
                        </a:rPr>
                        <a:t>.jp</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¥3,000~¥4,000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¥3,500~¥5,000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日本向けサービスに適合</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9024">
                <a:tc>
                  <a:txBody>
                    <a:bodyPr/>
                    <a:lstStyle/>
                    <a:p>
                      <a:pPr marL="0" indent="0" algn="ctr">
                        <a:buNone/>
                      </a:pPr>
                      <a:r>
                        <a:rPr lang="en-US" sz="1200" dirty="0">
                          <a:solidFill>
                            <a:srgbClr val="333333"/>
                          </a:solidFill>
                        </a:rPr>
                        <a:t>.co.jp</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¥6,000~¥8,000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¥6,000~¥8,000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日本の法人専用</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9024">
                <a:tc>
                  <a:txBody>
                    <a:bodyPr/>
                    <a:lstStyle/>
                    <a:p>
                      <a:pPr marL="0" indent="0" algn="ctr">
                        <a:buNone/>
                      </a:pPr>
                      <a:r>
                        <a:rPr lang="en-US" sz="1200" dirty="0">
                          <a:solidFill>
                            <a:srgbClr val="333333"/>
                          </a:solidFill>
                        </a:rPr>
                        <a:t>.net</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$10~$13</a:t>
                      </a:r>
                      <a:endParaRPr lang="en-US" sz="1200" dirty="0"/>
                    </a:p>
                    <a:p>
                      <a:pPr marL="0" indent="0" algn="ctr">
                        <a:buNone/>
                      </a:pPr>
                      <a:r>
                        <a:rPr lang="en-US" sz="1200" dirty="0">
                          <a:solidFill>
                            <a:srgbClr val="333333"/>
                          </a:solidFill>
                        </a:rPr>
                        <a:t>(1,500~1,950円)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$13~$16</a:t>
                      </a:r>
                      <a:endParaRPr lang="en-US" sz="1200" dirty="0"/>
                    </a:p>
                    <a:p>
                      <a:pPr marL="0" indent="0" algn="ctr">
                        <a:buNone/>
                      </a:pPr>
                      <a:r>
                        <a:rPr lang="en-US" sz="1200" dirty="0">
                          <a:solidFill>
                            <a:srgbClr val="333333"/>
                          </a:solidFill>
                        </a:rPr>
                        <a:t>(1,950~2,400円)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技術系サービス向け</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3191510"/>
            <a:ext cx="7680960" cy="365760"/>
          </a:xfrm>
          <a:prstGeom prst="rect">
            <a:avLst/>
          </a:prstGeom>
          <a:noFill/>
          <a:ln/>
        </p:spPr>
        <p:txBody>
          <a:bodyPr wrap="square" rtlCol="0" anchor="ctr"/>
          <a:lstStyle/>
          <a:p>
            <a:pPr marL="0" indent="0">
              <a:buNone/>
            </a:pPr>
            <a:r>
              <a:rPr lang="en-US" sz="1800" b="1" dirty="0">
                <a:solidFill>
                  <a:srgbClr val="5B9BD5"/>
                </a:solidFill>
              </a:rPr>
              <a:t>推奨ドメインレジストラ</a:t>
            </a:r>
            <a:endParaRPr lang="en-US" sz="1800" dirty="0"/>
          </a:p>
        </p:txBody>
      </p:sp>
      <p:sp>
        <p:nvSpPr>
          <p:cNvPr id="6" name="Text 3"/>
          <p:cNvSpPr/>
          <p:nvPr/>
        </p:nvSpPr>
        <p:spPr>
          <a:xfrm>
            <a:off x="457200" y="3557270"/>
            <a:ext cx="7315200" cy="914400"/>
          </a:xfrm>
          <a:prstGeom prst="rect">
            <a:avLst/>
          </a:prstGeom>
          <a:noFill/>
          <a:ln/>
        </p:spPr>
        <p:txBody>
          <a:bodyPr wrap="square" rtlCol="0" anchor="ctr"/>
          <a:lstStyle/>
          <a:p>
            <a:pPr marL="342900" indent="-342900">
              <a:lnSpc>
                <a:spcPts val="2200"/>
              </a:lnSpc>
              <a:buSzPct val="100000"/>
              <a:buChar char="•"/>
            </a:pPr>
            <a:r>
              <a:rPr lang="en-US" sz="1300" dirty="0">
                <a:solidFill>
                  <a:srgbClr val="333333"/>
                </a:solidFill>
              </a:rPr>
              <a:t>Cloudflare: 低価格 + WHOIS プライバシー無料 + 高速DNS</a:t>
            </a:r>
            <a:endParaRPr lang="en-US" sz="1300" dirty="0"/>
          </a:p>
          <a:p>
            <a:pPr marL="342900" indent="-342900">
              <a:lnSpc>
                <a:spcPts val="2200"/>
              </a:lnSpc>
              <a:buSzPct val="100000"/>
              <a:buChar char="•"/>
            </a:pPr>
            <a:r>
              <a:rPr lang="en-US" sz="1300" dirty="0">
                <a:solidFill>
                  <a:srgbClr val="333333"/>
                </a:solidFill>
              </a:rPr>
              <a:t>Namecheap: 初年度割引が豊富 + 使いやすい管理画面</a:t>
            </a:r>
            <a:endParaRPr lang="en-US" sz="1300" dirty="0"/>
          </a:p>
          <a:p>
            <a:pPr marL="342900" indent="-342900">
              <a:lnSpc>
                <a:spcPts val="2200"/>
              </a:lnSpc>
              <a:buSzPct val="100000"/>
              <a:buChar char="•"/>
            </a:pPr>
            <a:r>
              <a:rPr lang="en-US" sz="1300" dirty="0">
                <a:solidFill>
                  <a:srgbClr val="333333"/>
                </a:solidFill>
              </a:rPr>
              <a:t>お名前.com: 日本語サポート + .jpドメインに強い</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補足: 決済サービス比較 (PayPal vs PayPay)</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サービスに最適な決済手段の選択</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320040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pPr marL="0" indent="0" algn="ctr">
                        <a:buNone/>
                      </a:pPr>
                      <a:r>
                        <a:rPr lang="en-US" sz="1100" dirty="0">
                          <a:solidFill>
                            <a:srgbClr val="333333"/>
                          </a:solidFill>
                        </a:rPr>
                        <a:t>項目</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PayPal</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PayPay</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ctr">
                        <a:buNone/>
                      </a:pPr>
                      <a:r>
                        <a:rPr lang="en-US" sz="1100" dirty="0">
                          <a:solidFill>
                            <a:srgbClr val="333333"/>
                          </a:solidFill>
                        </a:rPr>
                        <a:t>対象地域</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全世界200カ国以上</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日本国内のみ</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100" dirty="0">
                          <a:solidFill>
                            <a:srgbClr val="333333"/>
                          </a:solidFill>
                        </a:rPr>
                        <a:t>変動手数料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3.6% + 40円</a:t>
                      </a:r>
                      <a:endParaRPr lang="en-US" sz="1100" dirty="0"/>
                    </a:p>
                    <a:p>
                      <a:pPr marL="0" indent="0" algn="ctr">
                        <a:buNone/>
                      </a:pPr>
                      <a:r>
                        <a:rPr lang="en-US" sz="1100" dirty="0">
                          <a:solidFill>
                            <a:srgbClr val="333333"/>
                          </a:solidFill>
                        </a:rPr>
                        <a:t>(日本国内取引)</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1.98%~3.74%</a:t>
                      </a:r>
                      <a:endParaRPr lang="en-US" sz="1100" dirty="0"/>
                    </a:p>
                    <a:p>
                      <a:pPr marL="0" indent="0" algn="ctr">
                        <a:buNone/>
                      </a:pPr>
                      <a:r>
                        <a:rPr lang="en-US" sz="1100" dirty="0">
                          <a:solidFill>
                            <a:srgbClr val="333333"/>
                          </a:solidFill>
                        </a:rPr>
                        <a:t>(取引額による)</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100" dirty="0">
                          <a:solidFill>
                            <a:srgbClr val="333333"/>
                          </a:solidFill>
                        </a:rPr>
                        <a:t>固定月額費用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p>
                      <a:pPr marL="0" indent="0" algn="ctr">
                        <a:buNone/>
                      </a:pPr>
                      <a:r>
                        <a:rPr lang="en-US" sz="1100" dirty="0">
                          <a:solidFill>
                            <a:srgbClr val="333333"/>
                          </a:solidFill>
                        </a:rPr>
                        <a:t>(ビジネスアカウント)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0円~1,980円</a:t>
                      </a:r>
                      <a:endParaRPr lang="en-US" sz="1100" dirty="0"/>
                    </a:p>
                    <a:p>
                      <a:pPr marL="0" indent="0" algn="ctr">
                        <a:buNone/>
                      </a:pPr>
                      <a:r>
                        <a:rPr lang="en-US" sz="1100" dirty="0">
                          <a:solidFill>
                            <a:srgbClr val="333333"/>
                          </a:solidFill>
                        </a:rPr>
                        <a:t>(プランによる)</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100" dirty="0">
                          <a:solidFill>
                            <a:srgbClr val="333333"/>
                          </a:solidFill>
                        </a:rPr>
                        <a:t>通貨サポート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25通貨以上</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日本円のみ</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ctr">
                        <a:buNone/>
                      </a:pPr>
                      <a:r>
                        <a:rPr lang="en-US" sz="1100" dirty="0">
                          <a:solidFill>
                            <a:srgbClr val="333333"/>
                          </a:solidFill>
                        </a:rPr>
                        <a:t>国際決済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 可能</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 不可</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100" dirty="0">
                          <a:solidFill>
                            <a:srgbClr val="333333"/>
                          </a:solidFill>
                        </a:rPr>
                        <a:t>セットアップ難易度</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中程度</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簡単（日本のみ）</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0"/>
            <a:ext cx="8229600" cy="548640"/>
          </a:xfrm>
          <a:prstGeom prst="rect">
            <a:avLst/>
          </a:prstGeom>
          <a:noFill/>
          <a:ln/>
        </p:spPr>
        <p:txBody>
          <a:bodyPr wrap="square" rtlCol="0" anchor="ctr"/>
          <a:lstStyle/>
          <a:p>
            <a:pPr marL="0" indent="0">
              <a:buNone/>
            </a:pPr>
            <a:r>
              <a:rPr lang="en-US" sz="2400" b="1" dirty="0">
                <a:solidFill>
                  <a:srgbClr val="1F4788"/>
                </a:solidFill>
              </a:rPr>
              <a:t>決済サービス詳細分析</a:t>
            </a:r>
            <a:endParaRPr lang="en-US" sz="2400" dirty="0"/>
          </a:p>
        </p:txBody>
      </p:sp>
      <p:sp>
        <p:nvSpPr>
          <p:cNvPr id="3" name="Shape 1"/>
          <p:cNvSpPr/>
          <p:nvPr/>
        </p:nvSpPr>
        <p:spPr>
          <a:xfrm>
            <a:off x="514541" y="561917"/>
            <a:ext cx="3275330" cy="1826260"/>
          </a:xfrm>
          <a:prstGeom prst="rect">
            <a:avLst/>
          </a:prstGeom>
          <a:solidFill>
            <a:srgbClr val="E3F2FD"/>
          </a:solidFill>
          <a:ln w="25400">
            <a:solidFill>
              <a:srgbClr val="2196F3"/>
            </a:solidFill>
            <a:prstDash val="solid"/>
          </a:ln>
        </p:spPr>
      </p:sp>
      <p:sp>
        <p:nvSpPr>
          <p:cNvPr id="4" name="Text 2"/>
          <p:cNvSpPr/>
          <p:nvPr/>
        </p:nvSpPr>
        <p:spPr>
          <a:xfrm>
            <a:off x="697421" y="699077"/>
            <a:ext cx="2947797" cy="332047"/>
          </a:xfrm>
          <a:prstGeom prst="rect">
            <a:avLst/>
          </a:prstGeom>
          <a:noFill/>
          <a:ln/>
        </p:spPr>
        <p:txBody>
          <a:bodyPr wrap="square" rtlCol="0" anchor="ctr"/>
          <a:lstStyle/>
          <a:p>
            <a:pPr marL="0" indent="0">
              <a:buNone/>
            </a:pPr>
            <a:r>
              <a:rPr lang="en-US" sz="1600" b="1" dirty="0">
                <a:solidFill>
                  <a:srgbClr val="1565C0"/>
                </a:solidFill>
              </a:rPr>
              <a:t>PayPal の特徴</a:t>
            </a:r>
            <a:endParaRPr lang="en-US" sz="1600" dirty="0"/>
          </a:p>
        </p:txBody>
      </p:sp>
      <p:sp>
        <p:nvSpPr>
          <p:cNvPr id="5" name="Text 3"/>
          <p:cNvSpPr/>
          <p:nvPr/>
        </p:nvSpPr>
        <p:spPr>
          <a:xfrm>
            <a:off x="788861" y="1110557"/>
            <a:ext cx="2784031" cy="1245177"/>
          </a:xfrm>
          <a:prstGeom prst="rect">
            <a:avLst/>
          </a:prstGeom>
          <a:noFill/>
          <a:ln/>
        </p:spPr>
        <p:txBody>
          <a:bodyPr wrap="square" rtlCol="0" anchor="ctr"/>
          <a:lstStyle/>
          <a:p>
            <a:pPr marL="0" indent="0">
              <a:lnSpc>
                <a:spcPts val="1800"/>
              </a:lnSpc>
              <a:buNone/>
            </a:pPr>
            <a:r>
              <a:rPr lang="en-US" sz="1100" dirty="0">
                <a:solidFill>
                  <a:srgbClr val="333333"/>
                </a:solidFill>
              </a:rPr>
              <a:t>✅ グローバル展開に最適✅ 多通貨対応（25通貨以上）✅ 信頼性が高い（世界最大手）⚠️ 手数料が比較的高い（3.6%+40円）⚠️ アカウント凍結リスク⚠️ 日本語サポートが限定的</a:t>
            </a:r>
            <a:endParaRPr lang="en-US" sz="1100" dirty="0"/>
          </a:p>
        </p:txBody>
      </p:sp>
      <p:sp>
        <p:nvSpPr>
          <p:cNvPr id="6" name="Shape 4"/>
          <p:cNvSpPr/>
          <p:nvPr/>
        </p:nvSpPr>
        <p:spPr>
          <a:xfrm>
            <a:off x="4253230" y="548640"/>
            <a:ext cx="3474720" cy="1826260"/>
          </a:xfrm>
          <a:prstGeom prst="rect">
            <a:avLst/>
          </a:prstGeom>
          <a:solidFill>
            <a:srgbClr val="E8F5E9"/>
          </a:solidFill>
          <a:ln w="25400">
            <a:solidFill>
              <a:srgbClr val="4CAF50"/>
            </a:solidFill>
            <a:prstDash val="solid"/>
          </a:ln>
        </p:spPr>
      </p:sp>
      <p:sp>
        <p:nvSpPr>
          <p:cNvPr id="7" name="Text 5"/>
          <p:cNvSpPr/>
          <p:nvPr/>
        </p:nvSpPr>
        <p:spPr>
          <a:xfrm>
            <a:off x="4436110" y="685800"/>
            <a:ext cx="3127248" cy="332047"/>
          </a:xfrm>
          <a:prstGeom prst="rect">
            <a:avLst/>
          </a:prstGeom>
          <a:noFill/>
          <a:ln/>
        </p:spPr>
        <p:txBody>
          <a:bodyPr wrap="square" rtlCol="0" anchor="ctr"/>
          <a:lstStyle/>
          <a:p>
            <a:pPr marL="0" indent="0">
              <a:buNone/>
            </a:pPr>
            <a:r>
              <a:rPr lang="en-US" sz="1600" b="1" dirty="0">
                <a:solidFill>
                  <a:srgbClr val="2E7D32"/>
                </a:solidFill>
              </a:rPr>
              <a:t>PayPay の特徴</a:t>
            </a:r>
            <a:endParaRPr lang="en-US" sz="1600" dirty="0"/>
          </a:p>
        </p:txBody>
      </p:sp>
      <p:sp>
        <p:nvSpPr>
          <p:cNvPr id="8" name="Text 6"/>
          <p:cNvSpPr/>
          <p:nvPr/>
        </p:nvSpPr>
        <p:spPr>
          <a:xfrm>
            <a:off x="4527550" y="1097280"/>
            <a:ext cx="2953512" cy="1245177"/>
          </a:xfrm>
          <a:prstGeom prst="rect">
            <a:avLst/>
          </a:prstGeom>
          <a:noFill/>
          <a:ln/>
        </p:spPr>
        <p:txBody>
          <a:bodyPr wrap="square" rtlCol="0" anchor="ctr"/>
          <a:lstStyle/>
          <a:p>
            <a:pPr marL="0" indent="0">
              <a:lnSpc>
                <a:spcPts val="1800"/>
              </a:lnSpc>
              <a:buNone/>
            </a:pPr>
            <a:r>
              <a:rPr lang="en-US" sz="1100" dirty="0">
                <a:solidFill>
                  <a:srgbClr val="333333"/>
                </a:solidFill>
              </a:rPr>
              <a:t>✅ 日本国内で最も人気✅ 手数料が低い（1.98%~）✅ 日本語サポート充実✅ セットアップが簡単❌ 日本国内のみ使用可能❌ 月額固定費が発生する場合あり</a:t>
            </a:r>
            <a:endParaRPr lang="en-US" sz="1100" dirty="0"/>
          </a:p>
        </p:txBody>
      </p:sp>
      <p:sp>
        <p:nvSpPr>
          <p:cNvPr id="9" name="Text 7"/>
          <p:cNvSpPr/>
          <p:nvPr/>
        </p:nvSpPr>
        <p:spPr>
          <a:xfrm>
            <a:off x="457200" y="2585721"/>
            <a:ext cx="7680960" cy="365760"/>
          </a:xfrm>
          <a:prstGeom prst="rect">
            <a:avLst/>
          </a:prstGeom>
          <a:noFill/>
          <a:ln/>
        </p:spPr>
        <p:txBody>
          <a:bodyPr wrap="square" rtlCol="0" anchor="ctr"/>
          <a:lstStyle/>
          <a:p>
            <a:pPr marL="0" indent="0">
              <a:buNone/>
            </a:pPr>
            <a:r>
              <a:rPr lang="en-US" sz="1800" b="1" dirty="0">
                <a:solidFill>
                  <a:srgbClr val="5B9BD5"/>
                </a:solidFill>
              </a:rPr>
              <a:t>費用シミュレーション（月間売上500万円の場合）</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3719448110"/>
              </p:ext>
            </p:extLst>
          </p:nvPr>
        </p:nvGraphicFramePr>
        <p:xfrm>
          <a:off x="514541" y="2951481"/>
          <a:ext cx="7680960" cy="1828800"/>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457200">
                <a:tc>
                  <a:txBody>
                    <a:bodyPr/>
                    <a:lstStyle/>
                    <a:p>
                      <a:pPr marL="0" indent="0" algn="ctr">
                        <a:buNone/>
                      </a:pPr>
                      <a:r>
                        <a:rPr lang="en-US" sz="1100" dirty="0">
                          <a:solidFill>
                            <a:srgbClr val="333333"/>
                          </a:solidFill>
                        </a:rPr>
                        <a:t>決済サービス</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変動手数料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固定費</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月間総費用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年間総費用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ctr">
                        <a:buNone/>
                      </a:pPr>
                      <a:r>
                        <a:rPr lang="en-US" sz="1100" dirty="0">
                          <a:solidFill>
                            <a:srgbClr val="333333"/>
                          </a:solidFill>
                        </a:rPr>
                        <a:t>PayPal</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3.6% + 40円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180,000円 + 手数料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約216万円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100" dirty="0">
                          <a:solidFill>
                            <a:srgbClr val="333333"/>
                          </a:solidFill>
                        </a:rPr>
                        <a:t>PayPay (低率プラン)</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1.98%</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101,880円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約122万円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100" dirty="0">
                          <a:solidFill>
                            <a:srgbClr val="333333"/>
                          </a:solidFill>
                        </a:rPr>
                        <a:t>PayPay (標準プラン)</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3.24%</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162,000円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約194万円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0"/>
            <a:ext cx="8229600" cy="548640"/>
          </a:xfrm>
          <a:prstGeom prst="rect">
            <a:avLst/>
          </a:prstGeom>
          <a:noFill/>
          <a:ln/>
        </p:spPr>
        <p:txBody>
          <a:bodyPr wrap="square" rtlCol="0" anchor="ctr"/>
          <a:lstStyle/>
          <a:p>
            <a:pPr marL="0" indent="0">
              <a:buNone/>
            </a:pPr>
            <a:r>
              <a:rPr lang="en-US" sz="2400" b="1" dirty="0">
                <a:solidFill>
                  <a:srgbClr val="1F4788"/>
                </a:solidFill>
              </a:rPr>
              <a:t>決済サービス選択 - 推奨戦略</a:t>
            </a:r>
            <a:endParaRPr lang="en-US" sz="2400" dirty="0"/>
          </a:p>
        </p:txBody>
      </p:sp>
      <p:sp>
        <p:nvSpPr>
          <p:cNvPr id="3" name="Shape 1"/>
          <p:cNvSpPr/>
          <p:nvPr/>
        </p:nvSpPr>
        <p:spPr>
          <a:xfrm>
            <a:off x="548640" y="548640"/>
            <a:ext cx="7680960" cy="1188720"/>
          </a:xfrm>
          <a:prstGeom prst="rect">
            <a:avLst/>
          </a:prstGeom>
          <a:solidFill>
            <a:srgbClr val="E8F5E9"/>
          </a:solidFill>
          <a:ln w="38100">
            <a:solidFill>
              <a:srgbClr val="4CAF50"/>
            </a:solidFill>
            <a:prstDash val="solid"/>
          </a:ln>
        </p:spPr>
      </p:sp>
      <p:sp>
        <p:nvSpPr>
          <p:cNvPr id="4" name="Text 2"/>
          <p:cNvSpPr/>
          <p:nvPr/>
        </p:nvSpPr>
        <p:spPr>
          <a:xfrm>
            <a:off x="731520" y="685800"/>
            <a:ext cx="7315200" cy="365760"/>
          </a:xfrm>
          <a:prstGeom prst="rect">
            <a:avLst/>
          </a:prstGeom>
          <a:noFill/>
          <a:ln/>
        </p:spPr>
        <p:txBody>
          <a:bodyPr wrap="square" rtlCol="0" anchor="ctr"/>
          <a:lstStyle/>
          <a:p>
            <a:pPr marL="0" indent="0">
              <a:buNone/>
            </a:pPr>
            <a:r>
              <a:rPr lang="en-US" sz="1800" b="1" dirty="0">
                <a:solidFill>
                  <a:srgbClr val="2E7D32"/>
                </a:solidFill>
              </a:rPr>
              <a:t>🎯 推奨: PayPayを主力に、PayPalを補助として併用</a:t>
            </a:r>
            <a:endParaRPr lang="en-US" sz="1800" dirty="0"/>
          </a:p>
        </p:txBody>
      </p:sp>
      <p:sp>
        <p:nvSpPr>
          <p:cNvPr id="5" name="Text 3"/>
          <p:cNvSpPr/>
          <p:nvPr/>
        </p:nvSpPr>
        <p:spPr>
          <a:xfrm>
            <a:off x="914400" y="1097280"/>
            <a:ext cx="6949440" cy="548640"/>
          </a:xfrm>
          <a:prstGeom prst="rect">
            <a:avLst/>
          </a:prstGeom>
          <a:noFill/>
          <a:ln/>
        </p:spPr>
        <p:txBody>
          <a:bodyPr wrap="square" rtlCol="0" anchor="ctr"/>
          <a:lstStyle/>
          <a:p>
            <a:pPr marL="0" indent="0" algn="l">
              <a:buNone/>
            </a:pPr>
            <a:r>
              <a:rPr lang="en-US" sz="1300" dirty="0">
                <a:solidFill>
                  <a:srgbClr val="333333"/>
                </a:solidFill>
              </a:rPr>
              <a:t>本サービスの市場戦略（日本先行→韓国・東南アジア展開）を考慮すると、初期段階では日本市場に最適化されたPayPayを主力決済手段として採用し、将来的な国際展開に備えてPayPalを補助的に提供する戦略が最適です。</a:t>
            </a:r>
            <a:endParaRPr lang="en-US" sz="1300" dirty="0"/>
          </a:p>
        </p:txBody>
      </p:sp>
      <p:sp>
        <p:nvSpPr>
          <p:cNvPr id="6" name="Text 4"/>
          <p:cNvSpPr/>
          <p:nvPr/>
        </p:nvSpPr>
        <p:spPr>
          <a:xfrm>
            <a:off x="548640" y="1965960"/>
            <a:ext cx="7680960" cy="365760"/>
          </a:xfrm>
          <a:prstGeom prst="rect">
            <a:avLst/>
          </a:prstGeom>
          <a:noFill/>
          <a:ln/>
        </p:spPr>
        <p:txBody>
          <a:bodyPr wrap="square" rtlCol="0" anchor="ctr"/>
          <a:lstStyle/>
          <a:p>
            <a:pPr marL="0" indent="0">
              <a:buNone/>
            </a:pPr>
            <a:r>
              <a:rPr lang="en-US" sz="2000" b="1" dirty="0">
                <a:solidFill>
                  <a:srgbClr val="4472C4"/>
                </a:solidFill>
              </a:rPr>
              <a:t>段階別実装戦略</a:t>
            </a:r>
            <a:endParaRPr lang="en-US" sz="2000" dirty="0"/>
          </a:p>
        </p:txBody>
      </p:sp>
      <p:sp>
        <p:nvSpPr>
          <p:cNvPr id="7" name="Text 5"/>
          <p:cNvSpPr/>
          <p:nvPr/>
        </p:nvSpPr>
        <p:spPr>
          <a:xfrm>
            <a:off x="914400" y="2926080"/>
            <a:ext cx="7315200" cy="914400"/>
          </a:xfrm>
          <a:prstGeom prst="rect">
            <a:avLst/>
          </a:prstGeom>
          <a:noFill/>
          <a:ln/>
        </p:spPr>
        <p:txBody>
          <a:bodyPr wrap="square" rtlCol="0" anchor="ctr"/>
          <a:lstStyle/>
          <a:p>
            <a:pPr marL="342900" indent="-342900">
              <a:lnSpc>
                <a:spcPts val="2000"/>
              </a:lnSpc>
              <a:buSzPct val="100000"/>
              <a:buFont typeface="+mj-lt"/>
              <a:buAutoNum type="arabicPeriod"/>
            </a:pPr>
            <a:r>
              <a:rPr lang="en-US" sz="1300" dirty="0">
                <a:solidFill>
                  <a:srgbClr val="333333"/>
                </a:solidFill>
              </a:rPr>
              <a:t>Phase 1（0～1,000名）: PayPayのみ実装  • 理由: 開発工数を削減し、日本市場に集中  • 想定手数料: 1.98%~3.24%（PayPayプランによる）  • 月間固定費: 0円~1,980円</a:t>
            </a:r>
            <a:endParaRPr lang="en-US" sz="1300" dirty="0"/>
          </a:p>
        </p:txBody>
      </p:sp>
      <p:sp>
        <p:nvSpPr>
          <p:cNvPr id="8" name="Text 6"/>
          <p:cNvSpPr/>
          <p:nvPr/>
        </p:nvSpPr>
        <p:spPr>
          <a:xfrm>
            <a:off x="914400" y="3931920"/>
            <a:ext cx="7315200" cy="914400"/>
          </a:xfrm>
          <a:prstGeom prst="rect">
            <a:avLst/>
          </a:prstGeom>
          <a:noFill/>
          <a:ln/>
        </p:spPr>
        <p:txBody>
          <a:bodyPr wrap="square" rtlCol="0" anchor="ctr"/>
          <a:lstStyle/>
          <a:p>
            <a:pPr marL="342900" indent="-342900">
              <a:lnSpc>
                <a:spcPts val="2000"/>
              </a:lnSpc>
              <a:buSzPct val="100000"/>
              <a:buFont typeface="+mj-lt"/>
              <a:buAutoNum type="arabicPeriod"/>
            </a:pPr>
            <a:endParaRPr lang="en-US" sz="1300" dirty="0"/>
          </a:p>
        </p:txBody>
      </p:sp>
      <p:sp>
        <p:nvSpPr>
          <p:cNvPr id="9" name="Shape 7"/>
          <p:cNvSpPr/>
          <p:nvPr/>
        </p:nvSpPr>
        <p:spPr>
          <a:xfrm>
            <a:off x="1371600" y="5029200"/>
            <a:ext cx="6400800" cy="640080"/>
          </a:xfrm>
          <a:prstGeom prst="rect">
            <a:avLst/>
          </a:prstGeom>
          <a:solidFill>
            <a:srgbClr val="FFF3CD"/>
          </a:solidFill>
          <a:ln w="25400">
            <a:solidFill>
              <a:srgbClr val="FFC107"/>
            </a:solidFill>
            <a:prstDash val="solid"/>
          </a:ln>
        </p:spPr>
      </p:sp>
      <p:sp>
        <p:nvSpPr>
          <p:cNvPr id="10" name="Text 8"/>
          <p:cNvSpPr/>
          <p:nvPr/>
        </p:nvSpPr>
        <p:spPr>
          <a:xfrm>
            <a:off x="1554480" y="5120640"/>
            <a:ext cx="6035040" cy="457200"/>
          </a:xfrm>
          <a:prstGeom prst="rect">
            <a:avLst/>
          </a:prstGeom>
          <a:noFill/>
          <a:ln/>
        </p:spPr>
        <p:txBody>
          <a:bodyPr wrap="square" rtlCol="0" anchor="ctr"/>
          <a:lstStyle/>
          <a:p>
            <a:pPr marL="0" indent="0" algn="ctr">
              <a:buNone/>
            </a:pPr>
            <a:r>
              <a:rPr lang="en-US" sz="1300" b="1" dirty="0">
                <a:solidFill>
                  <a:srgbClr val="856404"/>
                </a:solidFill>
              </a:rPr>
              <a:t>💰 費用削減効果: PayPal単独に比べ、年間約30~40万円の手数料削減が可能</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更新版: 月間固定費用まとめ</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詳細調査後の最終固定費用</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3072384"/>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512064">
                <a:tc>
                  <a:txBody>
                    <a:bodyPr/>
                    <a:lstStyle/>
                    <a:p>
                      <a:pPr marL="0" indent="0" algn="ctr">
                        <a:buNone/>
                      </a:pPr>
                      <a:r>
                        <a:rPr lang="en-US" sz="1200" dirty="0">
                          <a:solidFill>
                            <a:srgbClr val="333333"/>
                          </a:solidFill>
                        </a:rPr>
                        <a:t>項目</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プラン/詳細</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月額費用（円）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年間費用（円）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備考</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12064">
                <a:tc>
                  <a:txBody>
                    <a:bodyPr/>
                    <a:lstStyle/>
                    <a:p>
                      <a:pPr marL="0" indent="0" algn="ctr">
                        <a:buNone/>
                      </a:pPr>
                      <a:r>
                        <a:rPr lang="en-US" sz="1200" dirty="0">
                          <a:solidFill>
                            <a:srgbClr val="333333"/>
                          </a:solidFill>
                        </a:rPr>
                        <a:t>ホスティング</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Netlify Pro</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2,850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34,200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月125,000関数コール含む</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ctr">
                        <a:buNone/>
                      </a:pPr>
                      <a:r>
                        <a:rPr lang="en-US" sz="1200" dirty="0">
                          <a:solidFill>
                            <a:srgbClr val="333333"/>
                          </a:solidFill>
                        </a:rPr>
                        <a:t>データベース</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Supabase Pro</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3,750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45,000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ベクトル検索対応</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ctr">
                        <a:buNone/>
                      </a:pPr>
                      <a:r>
                        <a:rPr lang="en-US" sz="1200" dirty="0">
                          <a:solidFill>
                            <a:srgbClr val="333333"/>
                          </a:solidFill>
                        </a:rPr>
                        <a:t>ドメイン</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.com (Cloudflare)</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150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1,800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年$12を月割</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ctr">
                        <a:buNone/>
                      </a:pPr>
                      <a:r>
                        <a:rPr lang="en-US" sz="1200" dirty="0">
                          <a:solidFill>
                            <a:srgbClr val="333333"/>
                          </a:solidFill>
                        </a:rPr>
                        <a:t>決済処理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PayPay（低率プラン）</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1,980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23,760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手数料1.98%</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lgn="ctr">
                        <a:buNone/>
                      </a:pPr>
                      <a:r>
                        <a:rPr lang="en-US" sz="1200" dirty="0">
                          <a:solidFill>
                            <a:srgbClr val="333333"/>
                          </a:solidFill>
                        </a:rPr>
                        <a:t>合計</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8,730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104,760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最小運営費用</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731520" y="4297680"/>
            <a:ext cx="7680960" cy="365760"/>
          </a:xfrm>
          <a:prstGeom prst="rect">
            <a:avLst/>
          </a:prstGeom>
          <a:noFill/>
          <a:ln/>
        </p:spPr>
        <p:txBody>
          <a:bodyPr wrap="square" rtlCol="0" anchor="ctr"/>
          <a:lstStyle/>
          <a:p>
            <a:pPr marL="0" indent="0">
              <a:buNone/>
            </a:pPr>
            <a:r>
              <a:rPr lang="en-US" sz="1800" b="1" dirty="0">
                <a:solidFill>
                  <a:srgbClr val="5B9BD5"/>
                </a:solidFill>
              </a:rPr>
              <a:t>重要な変更点</a:t>
            </a:r>
            <a:endParaRPr lang="en-US" sz="1800" dirty="0"/>
          </a:p>
        </p:txBody>
      </p:sp>
      <p:sp>
        <p:nvSpPr>
          <p:cNvPr id="6" name="Text 3"/>
          <p:cNvSpPr/>
          <p:nvPr/>
        </p:nvSpPr>
        <p:spPr>
          <a:xfrm>
            <a:off x="914400" y="4754880"/>
            <a:ext cx="7315200" cy="1097280"/>
          </a:xfrm>
          <a:prstGeom prst="rect">
            <a:avLst/>
          </a:prstGeom>
          <a:noFill/>
          <a:ln/>
        </p:spPr>
        <p:txBody>
          <a:bodyPr wrap="square" rtlCol="0" anchor="ctr"/>
          <a:lstStyle/>
          <a:p>
            <a:pPr marL="342900" indent="-342900">
              <a:lnSpc>
                <a:spcPts val="2000"/>
              </a:lnSpc>
              <a:buSzPct val="100000"/>
              <a:buChar char="•"/>
            </a:pPr>
            <a:r>
              <a:rPr lang="en-US" sz="1200" dirty="0">
                <a:solidFill>
                  <a:srgbClr val="333333"/>
                </a:solidFill>
              </a:rPr>
              <a:t>ドメイン費用を詳細化: Cloudflareの年$12プランを採用（月150円）</a:t>
            </a:r>
            <a:endParaRPr lang="en-US" sz="1200" dirty="0"/>
          </a:p>
          <a:p>
            <a:pPr marL="342900" indent="-342900">
              <a:lnSpc>
                <a:spcPts val="2000"/>
              </a:lnSpc>
              <a:buSzPct val="100000"/>
              <a:buChar char="•"/>
            </a:pPr>
            <a:r>
              <a:rPr lang="en-US" sz="1200" dirty="0">
                <a:solidFill>
                  <a:srgbClr val="333333"/>
                </a:solidFill>
              </a:rPr>
              <a:t>決済サービスをPayPayに確定: 月額1,980円 + 変動手数料1.98%</a:t>
            </a:r>
            <a:endParaRPr lang="en-US" sz="1200" dirty="0"/>
          </a:p>
          <a:p>
            <a:pPr marL="342900" indent="-342900">
              <a:lnSpc>
                <a:spcPts val="2000"/>
              </a:lnSpc>
              <a:buSzPct val="100000"/>
              <a:buChar char="•"/>
            </a:pPr>
            <a:r>
              <a:rPr lang="en-US" sz="1200" dirty="0">
                <a:solidFill>
                  <a:srgbClr val="333333"/>
                </a:solidFill>
              </a:rPr>
              <a:t>月間固定費は8,730円で変わらず（前回分析と一致）</a:t>
            </a:r>
            <a:endParaRPr lang="en-US" sz="1200" dirty="0"/>
          </a:p>
          <a:p>
            <a:pPr marL="342900" indent="-342900">
              <a:lnSpc>
                <a:spcPts val="2000"/>
              </a:lnSpc>
              <a:buSzPct val="100000"/>
              <a:buChar char="•"/>
            </a:pPr>
            <a:r>
              <a:rPr lang="en-US" sz="1200" dirty="0">
                <a:solidFill>
                  <a:srgbClr val="333333"/>
                </a:solidFill>
              </a:rPr>
              <a:t>PayPal併用時は固定費0円だが変動手数料が3.6%に上昇</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 </a:t>
            </a:r>
            <a:r>
              <a:rPr lang="ja-JP" altLang="en-US" sz="2400" b="1" dirty="0">
                <a:solidFill>
                  <a:srgbClr val="1F4788"/>
                </a:solidFill>
              </a:rPr>
              <a:t>イメージ</a:t>
            </a:r>
            <a:r>
              <a:rPr lang="en-US" sz="2400" b="1" dirty="0" err="1">
                <a:solidFill>
                  <a:srgbClr val="1F4788"/>
                </a:solidFill>
              </a:rPr>
              <a:t>使用量の詳細計算</a:t>
            </a:r>
            <a:endParaRPr lang="en-US" sz="2400" dirty="0"/>
          </a:p>
        </p:txBody>
      </p:sp>
      <p:graphicFrame>
        <p:nvGraphicFramePr>
          <p:cNvPr id="4" name="Table 0"/>
          <p:cNvGraphicFramePr>
            <a:graphicFrameLocks noGrp="1"/>
          </p:cNvGraphicFramePr>
          <p:nvPr/>
        </p:nvGraphicFramePr>
        <p:xfrm>
          <a:off x="182880" y="1097280"/>
          <a:ext cx="7894320" cy="2278380"/>
        </p:xfrm>
        <a:graphic>
          <a:graphicData uri="http://schemas.openxmlformats.org/drawingml/2006/table">
            <a:tbl>
              <a:tblPr/>
              <a:tblGrid>
                <a:gridCol w="1315720">
                  <a:extLst>
                    <a:ext uri="{9D8B030D-6E8A-4147-A177-3AD203B41FA5}">
                      <a16:colId xmlns:a16="http://schemas.microsoft.com/office/drawing/2014/main" val="20000"/>
                    </a:ext>
                  </a:extLst>
                </a:gridCol>
                <a:gridCol w="1315720">
                  <a:extLst>
                    <a:ext uri="{9D8B030D-6E8A-4147-A177-3AD203B41FA5}">
                      <a16:colId xmlns:a16="http://schemas.microsoft.com/office/drawing/2014/main" val="20001"/>
                    </a:ext>
                  </a:extLst>
                </a:gridCol>
                <a:gridCol w="1315720">
                  <a:extLst>
                    <a:ext uri="{9D8B030D-6E8A-4147-A177-3AD203B41FA5}">
                      <a16:colId xmlns:a16="http://schemas.microsoft.com/office/drawing/2014/main" val="20002"/>
                    </a:ext>
                  </a:extLst>
                </a:gridCol>
                <a:gridCol w="1315720">
                  <a:extLst>
                    <a:ext uri="{9D8B030D-6E8A-4147-A177-3AD203B41FA5}">
                      <a16:colId xmlns:a16="http://schemas.microsoft.com/office/drawing/2014/main" val="20003"/>
                    </a:ext>
                  </a:extLst>
                </a:gridCol>
                <a:gridCol w="1315720">
                  <a:extLst>
                    <a:ext uri="{9D8B030D-6E8A-4147-A177-3AD203B41FA5}">
                      <a16:colId xmlns:a16="http://schemas.microsoft.com/office/drawing/2014/main" val="20004"/>
                    </a:ext>
                  </a:extLst>
                </a:gridCol>
                <a:gridCol w="1315720">
                  <a:extLst>
                    <a:ext uri="{9D8B030D-6E8A-4147-A177-3AD203B41FA5}">
                      <a16:colId xmlns:a16="http://schemas.microsoft.com/office/drawing/2014/main" val="20005"/>
                    </a:ext>
                  </a:extLst>
                </a:gridCol>
              </a:tblGrid>
              <a:tr h="379730">
                <a:tc>
                  <a:txBody>
                    <a:bodyPr/>
                    <a:lstStyle/>
                    <a:p>
                      <a:pPr marL="0" indent="0" algn="ctr">
                        <a:buNone/>
                      </a:pPr>
                      <a:r>
                        <a:rPr lang="en-US" sz="900" dirty="0">
                          <a:solidFill>
                            <a:srgbClr val="333333"/>
                          </a:solidFill>
                        </a:rPr>
                        <a:t>ユーザー数</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キャラ数</a:t>
                      </a:r>
                      <a:endParaRPr lang="en-US" sz="900" dirty="0"/>
                    </a:p>
                    <a:p>
                      <a:pPr marL="0" indent="0" algn="ctr">
                        <a:buNone/>
                      </a:pPr>
                      <a:r>
                        <a:rPr lang="en-US" sz="900" dirty="0">
                          <a:solidFill>
                            <a:srgbClr val="333333"/>
                          </a:solidFill>
                        </a:rPr>
                        <a:t>(想定)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ストレージ</a:t>
                      </a:r>
                      <a:endParaRPr lang="en-US" sz="900" dirty="0"/>
                    </a:p>
                    <a:p>
                      <a:pPr marL="0" indent="0" algn="ctr">
                        <a:buNone/>
                      </a:pPr>
                      <a:r>
                        <a:rPr lang="en-US" sz="900" dirty="0">
                          <a:solidFill>
                            <a:srgbClr val="333333"/>
                          </a:solidFill>
                        </a:rPr>
                        <a:t>必要量</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月間メッセージ</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画像表示回数</a:t>
                      </a:r>
                      <a:endParaRPr lang="en-US" sz="900" dirty="0"/>
                    </a:p>
                    <a:p>
                      <a:pPr marL="0" indent="0" algn="ctr">
                        <a:buNone/>
                      </a:pPr>
                      <a:r>
                        <a:rPr lang="en-US" sz="900" dirty="0">
                          <a:solidFill>
                            <a:srgbClr val="333333"/>
                          </a:solidFill>
                        </a:rPr>
                        <a:t>(1.5枚/msg)</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月間転送量</a:t>
                      </a:r>
                      <a:endParaRPr lang="en-US" sz="900" dirty="0"/>
                    </a:p>
                    <a:p>
                      <a:pPr marL="0" indent="0" algn="ctr">
                        <a:buNone/>
                      </a:pPr>
                      <a:r>
                        <a:rPr lang="en-US" sz="900" dirty="0">
                          <a:solidFill>
                            <a:srgbClr val="333333"/>
                          </a:solidFill>
                        </a:rPr>
                        <a:t>(1MB/枚)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9730">
                <a:tc>
                  <a:txBody>
                    <a:bodyPr/>
                    <a:lstStyle/>
                    <a:p>
                      <a:pPr marL="0" indent="0" algn="ctr">
                        <a:buNone/>
                      </a:pPr>
                      <a:r>
                        <a:rPr lang="en-US" sz="900" dirty="0">
                          <a:solidFill>
                            <a:srgbClr val="333333"/>
                          </a:solidFill>
                        </a:rPr>
                        <a:t>100名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100体</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250MB～1GB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234,000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351,000枚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730">
                <a:tc>
                  <a:txBody>
                    <a:bodyPr/>
                    <a:lstStyle/>
                    <a:p>
                      <a:pPr marL="0" indent="0" algn="ctr">
                        <a:buNone/>
                      </a:pPr>
                      <a:r>
                        <a:rPr lang="en-US" sz="900" dirty="0">
                          <a:solidFill>
                            <a:srgbClr val="333333"/>
                          </a:solidFill>
                        </a:rPr>
                        <a:t>500名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500体</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1.25GB～5GB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1,170,000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1,755,000枚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1.76TB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9730">
                <a:tc>
                  <a:txBody>
                    <a:bodyPr/>
                    <a:lstStyle/>
                    <a:p>
                      <a:pPr marL="0" indent="0" algn="ctr">
                        <a:buNone/>
                      </a:pPr>
                      <a:r>
                        <a:rPr lang="en-US" sz="900" dirty="0">
                          <a:solidFill>
                            <a:srgbClr val="333333"/>
                          </a:solidFill>
                        </a:rPr>
                        <a:t>1,000名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1,000体</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2.5GB～10GB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2,340,000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3,510,000枚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9730">
                <a:tc>
                  <a:txBody>
                    <a:bodyPr/>
                    <a:lstStyle/>
                    <a:p>
                      <a:pPr marL="0" indent="0" algn="ctr">
                        <a:buNone/>
                      </a:pPr>
                      <a:r>
                        <a:rPr lang="en-US" sz="900" dirty="0">
                          <a:solidFill>
                            <a:srgbClr val="333333"/>
                          </a:solidFill>
                        </a:rPr>
                        <a:t>5,000名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3,000体</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7.5GB～30GB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11,700,000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17,550,000枚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17.55TB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9730">
                <a:tc>
                  <a:txBody>
                    <a:bodyPr/>
                    <a:lstStyle/>
                    <a:p>
                      <a:pPr marL="0" indent="0" algn="ctr">
                        <a:buNone/>
                      </a:pPr>
                      <a:r>
                        <a:rPr lang="en-US" sz="900" dirty="0">
                          <a:solidFill>
                            <a:srgbClr val="333333"/>
                          </a:solidFill>
                        </a:rPr>
                        <a:t>10,000名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5,000体</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12.5GB～50GB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23,400,000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35,100,000枚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 name="Shape 1"/>
          <p:cNvSpPr/>
          <p:nvPr/>
        </p:nvSpPr>
        <p:spPr>
          <a:xfrm>
            <a:off x="914400" y="3558540"/>
            <a:ext cx="6766560" cy="1280160"/>
          </a:xfrm>
          <a:prstGeom prst="rect">
            <a:avLst/>
          </a:prstGeom>
          <a:solidFill>
            <a:srgbClr val="FFEBEE"/>
          </a:solidFill>
          <a:ln w="38100">
            <a:solidFill>
              <a:srgbClr val="F44336"/>
            </a:solidFill>
            <a:prstDash val="solid"/>
          </a:ln>
        </p:spPr>
      </p:sp>
      <p:sp>
        <p:nvSpPr>
          <p:cNvPr id="5" name="Text 2"/>
          <p:cNvSpPr/>
          <p:nvPr/>
        </p:nvSpPr>
        <p:spPr>
          <a:xfrm>
            <a:off x="1097280" y="3741420"/>
            <a:ext cx="6428232" cy="341376"/>
          </a:xfrm>
          <a:prstGeom prst="rect">
            <a:avLst/>
          </a:prstGeom>
          <a:noFill/>
          <a:ln/>
        </p:spPr>
        <p:txBody>
          <a:bodyPr wrap="square" rtlCol="0" anchor="ctr"/>
          <a:lstStyle/>
          <a:p>
            <a:pPr marL="0" indent="0" algn="ctr">
              <a:buNone/>
            </a:pPr>
            <a:r>
              <a:rPr lang="en-US" sz="1800" b="1" dirty="0">
                <a:solidFill>
                  <a:srgbClr val="C00000"/>
                </a:solidFill>
              </a:rPr>
              <a:t>⚠️ 10,000名到達時: 月間35TB以上の転送が発生！</a:t>
            </a:r>
            <a:endParaRPr lang="en-US" sz="1800" dirty="0"/>
          </a:p>
        </p:txBody>
      </p:sp>
      <p:sp>
        <p:nvSpPr>
          <p:cNvPr id="6" name="Text 3"/>
          <p:cNvSpPr/>
          <p:nvPr/>
        </p:nvSpPr>
        <p:spPr>
          <a:xfrm>
            <a:off x="1097280" y="4198620"/>
            <a:ext cx="6428232" cy="597408"/>
          </a:xfrm>
          <a:prstGeom prst="rect">
            <a:avLst/>
          </a:prstGeom>
          <a:noFill/>
          <a:ln/>
        </p:spPr>
        <p:txBody>
          <a:bodyPr wrap="square" rtlCol="0" anchor="ctr"/>
          <a:lstStyle/>
          <a:p>
            <a:pPr marL="0" indent="0" algn="ctr">
              <a:buNone/>
            </a:pPr>
            <a:r>
              <a:rPr lang="en-US" sz="1400" dirty="0">
                <a:solidFill>
                  <a:srgbClr val="C62828"/>
                </a:solidFill>
              </a:rPr>
              <a:t>これは現在の分析で計算していたLLM費用とは</a:t>
            </a:r>
            <a:endParaRPr lang="en-US" sz="1400" dirty="0"/>
          </a:p>
          <a:p>
            <a:pPr marL="0" indent="0" algn="ctr">
              <a:buNone/>
            </a:pPr>
            <a:r>
              <a:rPr lang="en-US" sz="1400" dirty="0">
                <a:solidFill>
                  <a:srgbClr val="C62828"/>
                </a:solidFill>
              </a:rPr>
              <a:t>完全に別の費用項目です！</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F4788"/>
                </a:solidFill>
              </a:rPr>
              <a:t>Supabase Storage 料金体系</a:t>
            </a:r>
            <a:endParaRPr lang="en-US" sz="2400" dirty="0"/>
          </a:p>
        </p:txBody>
      </p:sp>
      <p:graphicFrame>
        <p:nvGraphicFramePr>
          <p:cNvPr id="5" name="Table 0"/>
          <p:cNvGraphicFramePr>
            <a:graphicFrameLocks noGrp="1"/>
          </p:cNvGraphicFramePr>
          <p:nvPr/>
        </p:nvGraphicFramePr>
        <p:xfrm>
          <a:off x="457200" y="822960"/>
          <a:ext cx="6865620" cy="1680480"/>
        </p:xfrm>
        <a:graphic>
          <a:graphicData uri="http://schemas.openxmlformats.org/drawingml/2006/table">
            <a:tbl>
              <a:tblPr/>
              <a:tblGrid>
                <a:gridCol w="1373124">
                  <a:extLst>
                    <a:ext uri="{9D8B030D-6E8A-4147-A177-3AD203B41FA5}">
                      <a16:colId xmlns:a16="http://schemas.microsoft.com/office/drawing/2014/main" val="20000"/>
                    </a:ext>
                  </a:extLst>
                </a:gridCol>
                <a:gridCol w="1373124">
                  <a:extLst>
                    <a:ext uri="{9D8B030D-6E8A-4147-A177-3AD203B41FA5}">
                      <a16:colId xmlns:a16="http://schemas.microsoft.com/office/drawing/2014/main" val="20001"/>
                    </a:ext>
                  </a:extLst>
                </a:gridCol>
                <a:gridCol w="1373124">
                  <a:extLst>
                    <a:ext uri="{9D8B030D-6E8A-4147-A177-3AD203B41FA5}">
                      <a16:colId xmlns:a16="http://schemas.microsoft.com/office/drawing/2014/main" val="20002"/>
                    </a:ext>
                  </a:extLst>
                </a:gridCol>
                <a:gridCol w="1373124">
                  <a:extLst>
                    <a:ext uri="{9D8B030D-6E8A-4147-A177-3AD203B41FA5}">
                      <a16:colId xmlns:a16="http://schemas.microsoft.com/office/drawing/2014/main" val="20003"/>
                    </a:ext>
                  </a:extLst>
                </a:gridCol>
                <a:gridCol w="1373124">
                  <a:extLst>
                    <a:ext uri="{9D8B030D-6E8A-4147-A177-3AD203B41FA5}">
                      <a16:colId xmlns:a16="http://schemas.microsoft.com/office/drawing/2014/main" val="20004"/>
                    </a:ext>
                  </a:extLst>
                </a:gridCol>
              </a:tblGrid>
              <a:tr h="245200">
                <a:tc>
                  <a:txBody>
                    <a:bodyPr/>
                    <a:lstStyle/>
                    <a:p>
                      <a:pPr marL="0" indent="0" algn="ctr">
                        <a:buNone/>
                      </a:pPr>
                      <a:r>
                        <a:rPr lang="en-US" sz="1000" dirty="0">
                          <a:solidFill>
                            <a:srgbClr val="333333"/>
                          </a:solidFill>
                        </a:rPr>
                        <a:t>プラン</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ストレージ</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転送量/月</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超過料金</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月額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45200">
                <a:tc>
                  <a:txBody>
                    <a:bodyPr/>
                    <a:lstStyle/>
                    <a:p>
                      <a:pPr marL="0" indent="0" algn="ctr">
                        <a:buNone/>
                      </a:pPr>
                      <a:r>
                        <a:rPr lang="en-US" sz="1000" dirty="0">
                          <a:solidFill>
                            <a:srgbClr val="333333"/>
                          </a:solidFill>
                        </a:rPr>
                        <a:t>Free</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1GB</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2GB</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利用不可</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5838">
                <a:tc>
                  <a:txBody>
                    <a:bodyPr/>
                    <a:lstStyle/>
                    <a:p>
                      <a:pPr marL="0" indent="0" algn="ctr">
                        <a:buNone/>
                      </a:pPr>
                      <a:r>
                        <a:rPr lang="en-US" sz="1000" dirty="0">
                          <a:solidFill>
                            <a:srgbClr val="333333"/>
                          </a:solidFill>
                        </a:rPr>
                        <a:t>Pro</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100GB</a:t>
                      </a:r>
                      <a:endParaRPr lang="en-US" sz="1000" dirty="0"/>
                    </a:p>
                    <a:p>
                      <a:pPr marL="0" indent="0" algn="ctr">
                        <a:buNone/>
                      </a:pPr>
                      <a:r>
                        <a:rPr lang="en-US" sz="1000" dirty="0">
                          <a:solidFill>
                            <a:srgbClr val="333333"/>
                          </a:solidFill>
                        </a:rPr>
                        <a:t>(含む)</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200GB</a:t>
                      </a:r>
                      <a:endParaRPr lang="en-US" sz="1000" dirty="0"/>
                    </a:p>
                    <a:p>
                      <a:pPr marL="0" indent="0" algn="ctr">
                        <a:buNone/>
                      </a:pPr>
                      <a:r>
                        <a:rPr lang="en-US" sz="1000" dirty="0">
                          <a:solidFill>
                            <a:srgbClr val="333333"/>
                          </a:solidFill>
                        </a:rPr>
                        <a:t>(含む)</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ストレージ: $0.021/GB</a:t>
                      </a:r>
                      <a:endParaRPr lang="en-US" sz="1000" dirty="0"/>
                    </a:p>
                    <a:p>
                      <a:pPr marL="0" indent="0" algn="ctr">
                        <a:buNone/>
                      </a:pPr>
                      <a:r>
                        <a:rPr lang="en-US" sz="1000" dirty="0">
                          <a:solidFill>
                            <a:srgbClr val="333333"/>
                          </a:solidFill>
                        </a:rPr>
                        <a:t>転送: $0.09/GB</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$25</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5883">
                <a:tc>
                  <a:txBody>
                    <a:bodyPr/>
                    <a:lstStyle/>
                    <a:p>
                      <a:pPr marL="0" indent="0" algn="ctr">
                        <a:buNone/>
                      </a:pPr>
                      <a:r>
                        <a:rPr lang="en-US" sz="1000" dirty="0">
                          <a:solidFill>
                            <a:srgbClr val="333333"/>
                          </a:solidFill>
                        </a:rPr>
                        <a:t>Team</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100GB</a:t>
                      </a:r>
                      <a:endParaRPr lang="en-US" sz="1000" dirty="0"/>
                    </a:p>
                    <a:p>
                      <a:pPr marL="0" indent="0" algn="ctr">
                        <a:buNone/>
                      </a:pPr>
                      <a:r>
                        <a:rPr lang="en-US" sz="1000" dirty="0">
                          <a:solidFill>
                            <a:srgbClr val="333333"/>
                          </a:solidFill>
                        </a:rPr>
                        <a:t>(含む)</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200GB</a:t>
                      </a:r>
                      <a:endParaRPr lang="en-US" sz="1000" dirty="0"/>
                    </a:p>
                    <a:p>
                      <a:pPr marL="0" indent="0" algn="ctr">
                        <a:buNone/>
                      </a:pPr>
                      <a:r>
                        <a:rPr lang="en-US" sz="1000" dirty="0">
                          <a:solidFill>
                            <a:srgbClr val="333333"/>
                          </a:solidFill>
                        </a:rPr>
                        <a:t>(含む)</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同上</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$599</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5200">
                <a:tc>
                  <a:txBody>
                    <a:bodyPr/>
                    <a:lstStyle/>
                    <a:p>
                      <a:pPr marL="0" indent="0" algn="ctr">
                        <a:buNone/>
                      </a:pPr>
                      <a:r>
                        <a:rPr lang="en-US" sz="1000" dirty="0">
                          <a:solidFill>
                            <a:srgbClr val="333333"/>
                          </a:solidFill>
                        </a:rPr>
                        <a:t>Enterprise</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カスタム</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カスタム</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要相談</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カスタム</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1"/>
          <p:cNvSpPr/>
          <p:nvPr/>
        </p:nvSpPr>
        <p:spPr>
          <a:xfrm>
            <a:off x="457200" y="2571750"/>
            <a:ext cx="8229600" cy="365760"/>
          </a:xfrm>
          <a:prstGeom prst="rect">
            <a:avLst/>
          </a:prstGeom>
          <a:noFill/>
          <a:ln/>
        </p:spPr>
        <p:txBody>
          <a:bodyPr wrap="square" rtlCol="0" anchor="ctr"/>
          <a:lstStyle/>
          <a:p>
            <a:pPr marL="0" indent="0">
              <a:buNone/>
            </a:pPr>
            <a:r>
              <a:rPr lang="en-US" sz="1800" b="1" dirty="0">
                <a:solidFill>
                  <a:srgbClr val="5B9BD5"/>
                </a:solidFill>
              </a:rPr>
              <a:t>ユーザー数別 月間費用（Supabase Pro）</a:t>
            </a:r>
            <a:endParaRPr lang="en-US" sz="1800" dirty="0"/>
          </a:p>
        </p:txBody>
      </p:sp>
      <p:graphicFrame>
        <p:nvGraphicFramePr>
          <p:cNvPr id="9" name="Table 1"/>
          <p:cNvGraphicFramePr>
            <a:graphicFrameLocks noGrp="1"/>
          </p:cNvGraphicFramePr>
          <p:nvPr/>
        </p:nvGraphicFramePr>
        <p:xfrm>
          <a:off x="457200" y="2937510"/>
          <a:ext cx="7048500" cy="2057400"/>
        </p:xfrm>
        <a:graphic>
          <a:graphicData uri="http://schemas.openxmlformats.org/drawingml/2006/table">
            <a:tbl>
              <a:tblPr/>
              <a:tblGrid>
                <a:gridCol w="1174750">
                  <a:extLst>
                    <a:ext uri="{9D8B030D-6E8A-4147-A177-3AD203B41FA5}">
                      <a16:colId xmlns:a16="http://schemas.microsoft.com/office/drawing/2014/main" val="20000"/>
                    </a:ext>
                  </a:extLst>
                </a:gridCol>
                <a:gridCol w="1174750">
                  <a:extLst>
                    <a:ext uri="{9D8B030D-6E8A-4147-A177-3AD203B41FA5}">
                      <a16:colId xmlns:a16="http://schemas.microsoft.com/office/drawing/2014/main" val="20001"/>
                    </a:ext>
                  </a:extLst>
                </a:gridCol>
                <a:gridCol w="1174750">
                  <a:extLst>
                    <a:ext uri="{9D8B030D-6E8A-4147-A177-3AD203B41FA5}">
                      <a16:colId xmlns:a16="http://schemas.microsoft.com/office/drawing/2014/main" val="20002"/>
                    </a:ext>
                  </a:extLst>
                </a:gridCol>
                <a:gridCol w="1174750">
                  <a:extLst>
                    <a:ext uri="{9D8B030D-6E8A-4147-A177-3AD203B41FA5}">
                      <a16:colId xmlns:a16="http://schemas.microsoft.com/office/drawing/2014/main" val="20003"/>
                    </a:ext>
                  </a:extLst>
                </a:gridCol>
                <a:gridCol w="1174750">
                  <a:extLst>
                    <a:ext uri="{9D8B030D-6E8A-4147-A177-3AD203B41FA5}">
                      <a16:colId xmlns:a16="http://schemas.microsoft.com/office/drawing/2014/main" val="20004"/>
                    </a:ext>
                  </a:extLst>
                </a:gridCol>
                <a:gridCol w="1174750">
                  <a:extLst>
                    <a:ext uri="{9D8B030D-6E8A-4147-A177-3AD203B41FA5}">
                      <a16:colId xmlns:a16="http://schemas.microsoft.com/office/drawing/2014/main" val="20005"/>
                    </a:ext>
                  </a:extLst>
                </a:gridCol>
              </a:tblGrid>
              <a:tr h="195353">
                <a:tc>
                  <a:txBody>
                    <a:bodyPr/>
                    <a:lstStyle/>
                    <a:p>
                      <a:pPr marL="0" indent="0" algn="ctr">
                        <a:buNone/>
                      </a:pPr>
                      <a:r>
                        <a:rPr lang="en-US" sz="900" dirty="0">
                          <a:solidFill>
                            <a:srgbClr val="333333"/>
                          </a:solidFill>
                        </a:rPr>
                        <a:t>ユーザー数</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ストレージ</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ストレージ費用</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転送量</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転送費用</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月間合計（円）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12565">
                <a:tc>
                  <a:txBody>
                    <a:bodyPr/>
                    <a:lstStyle/>
                    <a:p>
                      <a:pPr marL="0" indent="0" algn="ctr">
                        <a:buNone/>
                      </a:pPr>
                      <a:r>
                        <a:rPr lang="en-US" sz="900" dirty="0">
                          <a:solidFill>
                            <a:srgbClr val="333333"/>
                          </a:solidFill>
                        </a:rPr>
                        <a:t>100名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$13.59</a:t>
                      </a:r>
                      <a:endParaRPr lang="en-US" sz="900" dirty="0"/>
                    </a:p>
                    <a:p>
                      <a:pPr marL="0" indent="0" algn="ctr">
                        <a:buNone/>
                      </a:pPr>
                      <a:r>
                        <a:rPr lang="en-US" sz="900" dirty="0">
                          <a:solidFill>
                            <a:srgbClr val="333333"/>
                          </a:solidFill>
                        </a:rPr>
                        <a:t>(2,039円)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約5,789円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2565">
                <a:tc>
                  <a:txBody>
                    <a:bodyPr/>
                    <a:lstStyle/>
                    <a:p>
                      <a:pPr marL="0" indent="0" algn="ctr">
                        <a:buNone/>
                      </a:pPr>
                      <a:r>
                        <a:rPr lang="en-US" sz="900" dirty="0">
                          <a:solidFill>
                            <a:srgbClr val="333333"/>
                          </a:solidFill>
                        </a:rPr>
                        <a:t>500名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5GB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1.76TB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$140.4</a:t>
                      </a:r>
                      <a:endParaRPr lang="en-US" sz="900" dirty="0"/>
                    </a:p>
                    <a:p>
                      <a:pPr marL="0" indent="0" algn="ctr">
                        <a:buNone/>
                      </a:pPr>
                      <a:r>
                        <a:rPr lang="en-US" sz="900" dirty="0">
                          <a:solidFill>
                            <a:srgbClr val="333333"/>
                          </a:solidFill>
                        </a:rPr>
                        <a:t>(21,060円)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約24,810円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2565">
                <a:tc>
                  <a:txBody>
                    <a:bodyPr/>
                    <a:lstStyle/>
                    <a:p>
                      <a:pPr marL="0" indent="0" algn="ctr">
                        <a:buNone/>
                      </a:pPr>
                      <a:r>
                        <a:rPr lang="en-US" sz="900" dirty="0">
                          <a:solidFill>
                            <a:srgbClr val="333333"/>
                          </a:solidFill>
                        </a:rPr>
                        <a:t>1,000名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$298.89</a:t>
                      </a:r>
                      <a:endParaRPr lang="en-US" sz="900" dirty="0"/>
                    </a:p>
                    <a:p>
                      <a:pPr marL="0" indent="0" algn="ctr">
                        <a:buNone/>
                      </a:pPr>
                      <a:r>
                        <a:rPr lang="en-US" sz="900" dirty="0">
                          <a:solidFill>
                            <a:srgbClr val="333333"/>
                          </a:solidFill>
                        </a:rPr>
                        <a:t>(44,834円)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約48,584円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2565">
                <a:tc>
                  <a:txBody>
                    <a:bodyPr/>
                    <a:lstStyle/>
                    <a:p>
                      <a:pPr marL="0" indent="0" algn="ctr">
                        <a:buNone/>
                      </a:pPr>
                      <a:r>
                        <a:rPr lang="en-US" sz="900" dirty="0">
                          <a:solidFill>
                            <a:srgbClr val="333333"/>
                          </a:solidFill>
                        </a:rPr>
                        <a:t>5,000名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17.55TB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$1,576.5</a:t>
                      </a:r>
                      <a:endParaRPr lang="en-US" sz="900" dirty="0"/>
                    </a:p>
                    <a:p>
                      <a:pPr marL="0" indent="0" algn="ctr">
                        <a:buNone/>
                      </a:pPr>
                      <a:r>
                        <a:rPr lang="en-US" sz="900" dirty="0">
                          <a:solidFill>
                            <a:srgbClr val="333333"/>
                          </a:solidFill>
                        </a:rPr>
                        <a:t>(236,475円)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約240,225円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2565">
                <a:tc>
                  <a:txBody>
                    <a:bodyPr/>
                    <a:lstStyle/>
                    <a:p>
                      <a:pPr marL="0" indent="0" algn="ctr">
                        <a:buNone/>
                      </a:pPr>
                      <a:r>
                        <a:rPr lang="en-US" sz="900" dirty="0">
                          <a:solidFill>
                            <a:srgbClr val="333333"/>
                          </a:solidFill>
                        </a:rPr>
                        <a:t>10,000名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50GB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$3,159</a:t>
                      </a:r>
                      <a:endParaRPr lang="en-US" sz="900" dirty="0"/>
                    </a:p>
                    <a:p>
                      <a:pPr marL="0" indent="0" algn="ctr">
                        <a:buNone/>
                      </a:pPr>
                      <a:r>
                        <a:rPr lang="en-US" sz="900" dirty="0">
                          <a:solidFill>
                            <a:srgbClr val="333333"/>
                          </a:solidFill>
                        </a:rPr>
                        <a:t>(473,850円)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約477,600円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0"/>
            <a:ext cx="8229600" cy="548640"/>
          </a:xfrm>
          <a:prstGeom prst="rect">
            <a:avLst/>
          </a:prstGeom>
          <a:noFill/>
          <a:ln/>
        </p:spPr>
        <p:txBody>
          <a:bodyPr wrap="square" rtlCol="0" anchor="ctr"/>
          <a:lstStyle/>
          <a:p>
            <a:pPr marL="0" indent="0">
              <a:buNone/>
            </a:pPr>
            <a:r>
              <a:rPr lang="en-US" sz="2400" b="1" dirty="0">
                <a:solidFill>
                  <a:srgbClr val="1F4788"/>
                </a:solidFill>
              </a:rPr>
              <a:t>Cloudflare R2 料金体系 （推奨！）</a:t>
            </a:r>
            <a:endParaRPr lang="en-US" sz="2400" dirty="0"/>
          </a:p>
        </p:txBody>
      </p:sp>
      <p:graphicFrame>
        <p:nvGraphicFramePr>
          <p:cNvPr id="6" name="Table 0"/>
          <p:cNvGraphicFramePr>
            <a:graphicFrameLocks noGrp="1"/>
          </p:cNvGraphicFramePr>
          <p:nvPr/>
        </p:nvGraphicFramePr>
        <p:xfrm>
          <a:off x="579120" y="548640"/>
          <a:ext cx="6827520" cy="1930908"/>
        </p:xfrm>
        <a:graphic>
          <a:graphicData uri="http://schemas.openxmlformats.org/drawingml/2006/table">
            <a:tbl>
              <a:tblPr/>
              <a:tblGrid>
                <a:gridCol w="170688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gridCol w="1706880">
                  <a:extLst>
                    <a:ext uri="{9D8B030D-6E8A-4147-A177-3AD203B41FA5}">
                      <a16:colId xmlns:a16="http://schemas.microsoft.com/office/drawing/2014/main" val="20003"/>
                    </a:ext>
                  </a:extLst>
                </a:gridCol>
              </a:tblGrid>
              <a:tr h="371094">
                <a:tc>
                  <a:txBody>
                    <a:bodyPr/>
                    <a:lstStyle/>
                    <a:p>
                      <a:pPr marL="0" indent="0" algn="ctr">
                        <a:buNone/>
                      </a:pPr>
                      <a:r>
                        <a:rPr lang="en-US" sz="1000" dirty="0">
                          <a:solidFill>
                            <a:srgbClr val="333333"/>
                          </a:solidFill>
                        </a:rPr>
                        <a:t>項目</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料金</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無料枠</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備考</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1094">
                <a:tc>
                  <a:txBody>
                    <a:bodyPr/>
                    <a:lstStyle/>
                    <a:p>
                      <a:pPr marL="0" indent="0" algn="ctr">
                        <a:buNone/>
                      </a:pPr>
                      <a:r>
                        <a:rPr lang="en-US" sz="1000" dirty="0">
                          <a:solidFill>
                            <a:srgbClr val="333333"/>
                          </a:solidFill>
                        </a:rPr>
                        <a:t>ストレージ</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$0.015/GB/月</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月10GB</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S3より約40%安い</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1094">
                <a:tc>
                  <a:txBody>
                    <a:bodyPr/>
                    <a:lstStyle/>
                    <a:p>
                      <a:pPr marL="0" indent="0" algn="ctr">
                        <a:buNone/>
                      </a:pPr>
                      <a:r>
                        <a:rPr lang="en-US" sz="1000" dirty="0">
                          <a:solidFill>
                            <a:srgbClr val="333333"/>
                          </a:solidFill>
                        </a:rPr>
                        <a:t>Class A 操作</a:t>
                      </a:r>
                      <a:endParaRPr lang="en-US" sz="1000" dirty="0"/>
                    </a:p>
                    <a:p>
                      <a:pPr marL="0" indent="0" algn="ctr">
                        <a:buNone/>
                      </a:pPr>
                      <a:r>
                        <a:rPr lang="en-US" sz="1000" dirty="0">
                          <a:solidFill>
                            <a:srgbClr val="333333"/>
                          </a:solidFill>
                        </a:rPr>
                        <a:t>(書き込み)</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$4.50/100万</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月100万</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PUT, POST, LIST等</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1094">
                <a:tc>
                  <a:txBody>
                    <a:bodyPr/>
                    <a:lstStyle/>
                    <a:p>
                      <a:pPr marL="0" indent="0" algn="ctr">
                        <a:buNone/>
                      </a:pPr>
                      <a:r>
                        <a:rPr lang="en-US" sz="1000" dirty="0">
                          <a:solidFill>
                            <a:srgbClr val="333333"/>
                          </a:solidFill>
                        </a:rPr>
                        <a:t>Class B 操作</a:t>
                      </a:r>
                      <a:endParaRPr lang="en-US" sz="1000" dirty="0"/>
                    </a:p>
                    <a:p>
                      <a:pPr marL="0" indent="0" algn="ctr">
                        <a:buNone/>
                      </a:pPr>
                      <a:r>
                        <a:rPr lang="en-US" sz="1000" dirty="0">
                          <a:solidFill>
                            <a:srgbClr val="333333"/>
                          </a:solidFill>
                        </a:rPr>
                        <a:t>(読み取り)</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$0.36/100万</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月1,000万</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GET, HEAD等</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1094">
                <a:tc>
                  <a:txBody>
                    <a:bodyPr/>
                    <a:lstStyle/>
                    <a:p>
                      <a:pPr marL="0" indent="0" algn="ctr">
                        <a:buNone/>
                      </a:pPr>
                      <a:r>
                        <a:rPr lang="en-US" sz="1000" dirty="0">
                          <a:solidFill>
                            <a:srgbClr val="333333"/>
                          </a:solidFill>
                        </a:rPr>
                        <a:t>データ転送</a:t>
                      </a:r>
                      <a:endParaRPr lang="en-US" sz="1000" dirty="0"/>
                    </a:p>
                    <a:p>
                      <a:pPr marL="0" indent="0" algn="ctr">
                        <a:buNone/>
                      </a:pPr>
                      <a:r>
                        <a:rPr lang="en-US" sz="1000" dirty="0">
                          <a:solidFill>
                            <a:srgbClr val="333333"/>
                          </a:solidFill>
                        </a:rPr>
                        <a:t>(Egress)</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$0.00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無制限！</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 完全無料！</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1"/>
          <p:cNvSpPr/>
          <p:nvPr/>
        </p:nvSpPr>
        <p:spPr>
          <a:xfrm>
            <a:off x="457200" y="2481073"/>
            <a:ext cx="8229600" cy="365760"/>
          </a:xfrm>
          <a:prstGeom prst="rect">
            <a:avLst/>
          </a:prstGeom>
          <a:noFill/>
          <a:ln/>
        </p:spPr>
        <p:txBody>
          <a:bodyPr wrap="square" rtlCol="0" anchor="ctr"/>
          <a:lstStyle/>
          <a:p>
            <a:pPr marL="0" indent="0">
              <a:buNone/>
            </a:pPr>
            <a:r>
              <a:rPr lang="en-US" sz="1800" b="1" dirty="0">
                <a:solidFill>
                  <a:srgbClr val="5B9BD5"/>
                </a:solidFill>
              </a:rPr>
              <a:t>ユーザー数別 月間費用（Cloudflare R2）</a:t>
            </a:r>
            <a:endParaRPr lang="en-US" sz="1800" dirty="0"/>
          </a:p>
        </p:txBody>
      </p:sp>
      <p:graphicFrame>
        <p:nvGraphicFramePr>
          <p:cNvPr id="11" name="Table 1"/>
          <p:cNvGraphicFramePr>
            <a:graphicFrameLocks noGrp="1"/>
          </p:cNvGraphicFramePr>
          <p:nvPr/>
        </p:nvGraphicFramePr>
        <p:xfrm>
          <a:off x="579120" y="2869694"/>
          <a:ext cx="7673337" cy="1901952"/>
        </p:xfrm>
        <a:graphic>
          <a:graphicData uri="http://schemas.openxmlformats.org/drawingml/2006/table">
            <a:tbl>
              <a:tblPr/>
              <a:tblGrid>
                <a:gridCol w="1096191">
                  <a:extLst>
                    <a:ext uri="{9D8B030D-6E8A-4147-A177-3AD203B41FA5}">
                      <a16:colId xmlns:a16="http://schemas.microsoft.com/office/drawing/2014/main" val="20000"/>
                    </a:ext>
                  </a:extLst>
                </a:gridCol>
                <a:gridCol w="1096191">
                  <a:extLst>
                    <a:ext uri="{9D8B030D-6E8A-4147-A177-3AD203B41FA5}">
                      <a16:colId xmlns:a16="http://schemas.microsoft.com/office/drawing/2014/main" val="20001"/>
                    </a:ext>
                  </a:extLst>
                </a:gridCol>
                <a:gridCol w="1096191">
                  <a:extLst>
                    <a:ext uri="{9D8B030D-6E8A-4147-A177-3AD203B41FA5}">
                      <a16:colId xmlns:a16="http://schemas.microsoft.com/office/drawing/2014/main" val="20002"/>
                    </a:ext>
                  </a:extLst>
                </a:gridCol>
                <a:gridCol w="1096191">
                  <a:extLst>
                    <a:ext uri="{9D8B030D-6E8A-4147-A177-3AD203B41FA5}">
                      <a16:colId xmlns:a16="http://schemas.microsoft.com/office/drawing/2014/main" val="20003"/>
                    </a:ext>
                  </a:extLst>
                </a:gridCol>
                <a:gridCol w="1096191">
                  <a:extLst>
                    <a:ext uri="{9D8B030D-6E8A-4147-A177-3AD203B41FA5}">
                      <a16:colId xmlns:a16="http://schemas.microsoft.com/office/drawing/2014/main" val="20004"/>
                    </a:ext>
                  </a:extLst>
                </a:gridCol>
                <a:gridCol w="1096191">
                  <a:extLst>
                    <a:ext uri="{9D8B030D-6E8A-4147-A177-3AD203B41FA5}">
                      <a16:colId xmlns:a16="http://schemas.microsoft.com/office/drawing/2014/main" val="20005"/>
                    </a:ext>
                  </a:extLst>
                </a:gridCol>
                <a:gridCol w="1096191">
                  <a:extLst>
                    <a:ext uri="{9D8B030D-6E8A-4147-A177-3AD203B41FA5}">
                      <a16:colId xmlns:a16="http://schemas.microsoft.com/office/drawing/2014/main" val="20006"/>
                    </a:ext>
                  </a:extLst>
                </a:gridCol>
              </a:tblGrid>
              <a:tr h="292608">
                <a:tc>
                  <a:txBody>
                    <a:bodyPr/>
                    <a:lstStyle/>
                    <a:p>
                      <a:pPr marL="0" indent="0" algn="ctr">
                        <a:buNone/>
                      </a:pPr>
                      <a:r>
                        <a:rPr lang="en-US" sz="900" dirty="0">
                          <a:solidFill>
                            <a:srgbClr val="333333"/>
                          </a:solidFill>
                        </a:rPr>
                        <a:t>ユーザー数</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ストレージ</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ストレージ費用</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Class B 操作</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操作費用</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転送費用</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月間合計（円）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0"/>
                  </a:ext>
                </a:extLst>
              </a:tr>
              <a:tr h="292608">
                <a:tc>
                  <a:txBody>
                    <a:bodyPr/>
                    <a:lstStyle/>
                    <a:p>
                      <a:pPr marL="0" indent="0" algn="ctr">
                        <a:buNone/>
                      </a:pPr>
                      <a:r>
                        <a:rPr lang="en-US" sz="900" dirty="0">
                          <a:solidFill>
                            <a:srgbClr val="333333"/>
                          </a:solidFill>
                        </a:rPr>
                        <a:t>100名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1GB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351,000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約0円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292608">
                <a:tc>
                  <a:txBody>
                    <a:bodyPr/>
                    <a:lstStyle/>
                    <a:p>
                      <a:pPr marL="0" indent="0" algn="ctr">
                        <a:buNone/>
                      </a:pPr>
                      <a:r>
                        <a:rPr lang="en-US" sz="900" dirty="0">
                          <a:solidFill>
                            <a:srgbClr val="333333"/>
                          </a:solidFill>
                        </a:rPr>
                        <a:t>500名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5GB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1,755,000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約0円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2"/>
                  </a:ext>
                </a:extLst>
              </a:tr>
              <a:tr h="292608">
                <a:tc>
                  <a:txBody>
                    <a:bodyPr/>
                    <a:lstStyle/>
                    <a:p>
                      <a:pPr marL="0" indent="0" algn="ctr">
                        <a:buNone/>
                      </a:pPr>
                      <a:r>
                        <a:rPr lang="en-US" sz="900" dirty="0">
                          <a:solidFill>
                            <a:srgbClr val="333333"/>
                          </a:solidFill>
                        </a:rPr>
                        <a:t>1,000名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10GB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3,510,000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約0円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3"/>
                  </a:ext>
                </a:extLst>
              </a:tr>
              <a:tr h="292608">
                <a:tc>
                  <a:txBody>
                    <a:bodyPr/>
                    <a:lstStyle/>
                    <a:p>
                      <a:pPr marL="0" indent="0" algn="ctr">
                        <a:buNone/>
                      </a:pPr>
                      <a:r>
                        <a:rPr lang="en-US" sz="900" dirty="0">
                          <a:solidFill>
                            <a:srgbClr val="333333"/>
                          </a:solidFill>
                        </a:rPr>
                        <a:t>5,000名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30GB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$0.30</a:t>
                      </a:r>
                      <a:endParaRPr lang="en-US" sz="900" dirty="0"/>
                    </a:p>
                    <a:p>
                      <a:pPr marL="0" indent="0" algn="ctr">
                        <a:buNone/>
                      </a:pPr>
                      <a:r>
                        <a:rPr lang="en-US" sz="900" dirty="0">
                          <a:solidFill>
                            <a:srgbClr val="333333"/>
                          </a:solidFill>
                        </a:rPr>
                        <a:t>(45円)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17,550,000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$6.30</a:t>
                      </a:r>
                      <a:endParaRPr lang="en-US" sz="900" dirty="0"/>
                    </a:p>
                    <a:p>
                      <a:pPr marL="0" indent="0" algn="ctr">
                        <a:buNone/>
                      </a:pPr>
                      <a:r>
                        <a:rPr lang="en-US" sz="900" dirty="0">
                          <a:solidFill>
                            <a:srgbClr val="333333"/>
                          </a:solidFill>
                        </a:rPr>
                        <a:t>(945円)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約990円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4"/>
                  </a:ext>
                </a:extLst>
              </a:tr>
              <a:tr h="292608">
                <a:tc>
                  <a:txBody>
                    <a:bodyPr/>
                    <a:lstStyle/>
                    <a:p>
                      <a:pPr marL="0" indent="0" algn="ctr">
                        <a:buNone/>
                      </a:pPr>
                      <a:r>
                        <a:rPr lang="en-US" sz="900" dirty="0">
                          <a:solidFill>
                            <a:srgbClr val="333333"/>
                          </a:solidFill>
                        </a:rPr>
                        <a:t>10,000名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50GB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$0.60</a:t>
                      </a:r>
                      <a:endParaRPr lang="en-US" sz="900" dirty="0"/>
                    </a:p>
                    <a:p>
                      <a:pPr marL="0" indent="0" algn="ctr">
                        <a:buNone/>
                      </a:pPr>
                      <a:r>
                        <a:rPr lang="en-US" sz="900" dirty="0">
                          <a:solidFill>
                            <a:srgbClr val="333333"/>
                          </a:solidFill>
                        </a:rPr>
                        <a:t>(90円)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35,100,000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$12.60</a:t>
                      </a:r>
                      <a:endParaRPr lang="en-US" sz="900" dirty="0"/>
                    </a:p>
                    <a:p>
                      <a:pPr marL="0" indent="0" algn="ctr">
                        <a:buNone/>
                      </a:pPr>
                      <a:r>
                        <a:rPr lang="en-US" sz="900" dirty="0">
                          <a:solidFill>
                            <a:srgbClr val="333333"/>
                          </a:solidFill>
                        </a:rPr>
                        <a:t>(1,890円)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約1,980円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0"/>
            <a:ext cx="8229600" cy="548640"/>
          </a:xfrm>
          <a:prstGeom prst="rect">
            <a:avLst/>
          </a:prstGeom>
          <a:noFill/>
          <a:ln/>
        </p:spPr>
        <p:txBody>
          <a:bodyPr wrap="square" rtlCol="0" anchor="ctr"/>
          <a:lstStyle/>
          <a:p>
            <a:pPr marL="0" indent="0">
              <a:buNone/>
            </a:pPr>
            <a:r>
              <a:rPr lang="en-US" sz="2400" b="1" dirty="0">
                <a:solidFill>
                  <a:srgbClr val="1F4788"/>
                </a:solidFill>
              </a:rPr>
              <a:t>AWS S3 + CloudFront 料金体系</a:t>
            </a:r>
            <a:endParaRPr lang="en-US" sz="2400" dirty="0"/>
          </a:p>
        </p:txBody>
      </p:sp>
      <p:graphicFrame>
        <p:nvGraphicFramePr>
          <p:cNvPr id="7" name="Table 0"/>
          <p:cNvGraphicFramePr>
            <a:graphicFrameLocks noGrp="1"/>
          </p:cNvGraphicFramePr>
          <p:nvPr/>
        </p:nvGraphicFramePr>
        <p:xfrm>
          <a:off x="457200" y="533400"/>
          <a:ext cx="5760720" cy="1870405"/>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88737">
                <a:tc>
                  <a:txBody>
                    <a:bodyPr/>
                    <a:lstStyle/>
                    <a:p>
                      <a:pPr marL="0" indent="0" algn="ctr">
                        <a:buNone/>
                      </a:pPr>
                      <a:r>
                        <a:rPr lang="en-US" sz="1100" dirty="0">
                          <a:solidFill>
                            <a:srgbClr val="333333"/>
                          </a:solidFill>
                        </a:rPr>
                        <a:t>サービス</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料金</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備考</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88737">
                <a:tc>
                  <a:txBody>
                    <a:bodyPr/>
                    <a:lstStyle/>
                    <a:p>
                      <a:pPr marL="0" indent="0" algn="ctr">
                        <a:buNone/>
                      </a:pPr>
                      <a:r>
                        <a:rPr lang="en-US" sz="1100" dirty="0">
                          <a:solidFill>
                            <a:srgbClr val="333333"/>
                          </a:solidFill>
                        </a:rPr>
                        <a:t>S3 ストレージ</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$0.023/GB/月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標準ストレージ</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8737">
                <a:tc>
                  <a:txBody>
                    <a:bodyPr/>
                    <a:lstStyle/>
                    <a:p>
                      <a:pPr marL="0" indent="0" algn="ctr">
                        <a:buNone/>
                      </a:pPr>
                      <a:r>
                        <a:rPr lang="en-US" sz="1100" dirty="0">
                          <a:solidFill>
                            <a:srgbClr val="333333"/>
                          </a:solidFill>
                        </a:rPr>
                        <a:t>S3 PUT リクエスト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$0.005/1,000件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画像アップロード時</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8737">
                <a:tc>
                  <a:txBody>
                    <a:bodyPr/>
                    <a:lstStyle/>
                    <a:p>
                      <a:pPr marL="0" indent="0" algn="ctr">
                        <a:buNone/>
                      </a:pPr>
                      <a:r>
                        <a:rPr lang="en-US" sz="1100" dirty="0">
                          <a:solidFill>
                            <a:srgbClr val="333333"/>
                          </a:solidFill>
                        </a:rPr>
                        <a:t>S3 GET リクエスト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$0.0004/1,000件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CloudFrontへの転送</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7493">
                <a:tc>
                  <a:txBody>
                    <a:bodyPr/>
                    <a:lstStyle/>
                    <a:p>
                      <a:pPr marL="0" indent="0" algn="ctr">
                        <a:buNone/>
                      </a:pPr>
                      <a:r>
                        <a:rPr lang="en-US" sz="1100" dirty="0">
                          <a:solidFill>
                            <a:srgbClr val="333333"/>
                          </a:solidFill>
                        </a:rPr>
                        <a:t>CloudFront 転送</a:t>
                      </a:r>
                      <a:endParaRPr lang="en-US" sz="1100" dirty="0"/>
                    </a:p>
                    <a:p>
                      <a:pPr marL="0" indent="0" algn="ctr">
                        <a:buNone/>
                      </a:pPr>
                      <a:r>
                        <a:rPr lang="en-US" sz="1100" dirty="0">
                          <a:solidFill>
                            <a:srgbClr val="333333"/>
                          </a:solidFill>
                        </a:rPr>
                        <a:t>(日本)</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$0.114/GB</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最初の10TBまで</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8737">
                <a:tc>
                  <a:txBody>
                    <a:bodyPr/>
                    <a:lstStyle/>
                    <a:p>
                      <a:pPr marL="0" indent="0" algn="ctr">
                        <a:buNone/>
                      </a:pPr>
                      <a:r>
                        <a:rPr lang="en-US" sz="1100" dirty="0">
                          <a:solidFill>
                            <a:srgbClr val="333333"/>
                          </a:solidFill>
                        </a:rPr>
                        <a:t>CloudFront リクエスト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$0.0120/10,000件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HTTPS リクエスト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p:nvPr/>
        </p:nvSpPr>
        <p:spPr>
          <a:xfrm>
            <a:off x="457200" y="2420315"/>
            <a:ext cx="8229600" cy="365760"/>
          </a:xfrm>
          <a:prstGeom prst="rect">
            <a:avLst/>
          </a:prstGeom>
          <a:noFill/>
          <a:ln/>
        </p:spPr>
        <p:txBody>
          <a:bodyPr wrap="square" rtlCol="0" anchor="ctr"/>
          <a:lstStyle/>
          <a:p>
            <a:pPr marL="0" indent="0">
              <a:buNone/>
            </a:pPr>
            <a:r>
              <a:rPr lang="en-US" sz="1800" b="1" dirty="0">
                <a:solidFill>
                  <a:srgbClr val="5B9BD5"/>
                </a:solidFill>
              </a:rPr>
              <a:t>ユーザー数別 月間費用（S3 + CloudFront）</a:t>
            </a:r>
            <a:endParaRPr lang="en-US" sz="1800" dirty="0"/>
          </a:p>
        </p:txBody>
      </p:sp>
      <p:graphicFrame>
        <p:nvGraphicFramePr>
          <p:cNvPr id="13" name="Table 1"/>
          <p:cNvGraphicFramePr>
            <a:graphicFrameLocks noGrp="1"/>
          </p:cNvGraphicFramePr>
          <p:nvPr/>
        </p:nvGraphicFramePr>
        <p:xfrm>
          <a:off x="457200" y="2786075"/>
          <a:ext cx="6918960" cy="2228581"/>
        </p:xfrm>
        <a:graphic>
          <a:graphicData uri="http://schemas.openxmlformats.org/drawingml/2006/table">
            <a:tbl>
              <a:tblPr/>
              <a:tblGrid>
                <a:gridCol w="1383792">
                  <a:extLst>
                    <a:ext uri="{9D8B030D-6E8A-4147-A177-3AD203B41FA5}">
                      <a16:colId xmlns:a16="http://schemas.microsoft.com/office/drawing/2014/main" val="20000"/>
                    </a:ext>
                  </a:extLst>
                </a:gridCol>
                <a:gridCol w="1383792">
                  <a:extLst>
                    <a:ext uri="{9D8B030D-6E8A-4147-A177-3AD203B41FA5}">
                      <a16:colId xmlns:a16="http://schemas.microsoft.com/office/drawing/2014/main" val="20001"/>
                    </a:ext>
                  </a:extLst>
                </a:gridCol>
                <a:gridCol w="1383792">
                  <a:extLst>
                    <a:ext uri="{9D8B030D-6E8A-4147-A177-3AD203B41FA5}">
                      <a16:colId xmlns:a16="http://schemas.microsoft.com/office/drawing/2014/main" val="20002"/>
                    </a:ext>
                  </a:extLst>
                </a:gridCol>
                <a:gridCol w="1383792">
                  <a:extLst>
                    <a:ext uri="{9D8B030D-6E8A-4147-A177-3AD203B41FA5}">
                      <a16:colId xmlns:a16="http://schemas.microsoft.com/office/drawing/2014/main" val="20003"/>
                    </a:ext>
                  </a:extLst>
                </a:gridCol>
                <a:gridCol w="1383792">
                  <a:extLst>
                    <a:ext uri="{9D8B030D-6E8A-4147-A177-3AD203B41FA5}">
                      <a16:colId xmlns:a16="http://schemas.microsoft.com/office/drawing/2014/main" val="20004"/>
                    </a:ext>
                  </a:extLst>
                </a:gridCol>
              </a:tblGrid>
              <a:tr h="247381">
                <a:tc>
                  <a:txBody>
                    <a:bodyPr/>
                    <a:lstStyle/>
                    <a:p>
                      <a:pPr marL="0" indent="0" algn="ctr">
                        <a:buNone/>
                      </a:pPr>
                      <a:r>
                        <a:rPr lang="en-US" sz="1000" dirty="0">
                          <a:solidFill>
                            <a:srgbClr val="333333"/>
                          </a:solidFill>
                        </a:rPr>
                        <a:t>ユーザー数</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S3 費用</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CloudFront 転送</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CF リクエスト</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月間合計（円）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306">
                <a:tc>
                  <a:txBody>
                    <a:bodyPr/>
                    <a:lstStyle/>
                    <a:p>
                      <a:pPr marL="0" indent="0" algn="ctr">
                        <a:buNone/>
                      </a:pPr>
                      <a:r>
                        <a:rPr lang="en-US" sz="1000" dirty="0">
                          <a:solidFill>
                            <a:srgbClr val="333333"/>
                          </a:solidFill>
                        </a:rPr>
                        <a:t>100名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約$0.03</a:t>
                      </a:r>
                      <a:endParaRPr lang="en-US" sz="1000" dirty="0"/>
                    </a:p>
                    <a:p>
                      <a:pPr marL="0" indent="0" algn="ctr">
                        <a:buNone/>
                      </a:pPr>
                      <a:r>
                        <a:rPr lang="en-US" sz="1000" dirty="0">
                          <a:solidFill>
                            <a:srgbClr val="333333"/>
                          </a:solidFill>
                        </a:rPr>
                        <a:t>(5円)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$40.01</a:t>
                      </a:r>
                      <a:endParaRPr lang="en-US" sz="1000" dirty="0"/>
                    </a:p>
                    <a:p>
                      <a:pPr marL="0" indent="0" algn="ctr">
                        <a:buNone/>
                      </a:pPr>
                      <a:r>
                        <a:rPr lang="en-US" sz="1000" dirty="0">
                          <a:solidFill>
                            <a:srgbClr val="333333"/>
                          </a:solidFill>
                        </a:rPr>
                        <a:t>(6,002円)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$4.21</a:t>
                      </a:r>
                      <a:endParaRPr lang="en-US" sz="1000" dirty="0"/>
                    </a:p>
                    <a:p>
                      <a:pPr marL="0" indent="0" algn="ctr">
                        <a:buNone/>
                      </a:pPr>
                      <a:r>
                        <a:rPr lang="en-US" sz="1000" dirty="0">
                          <a:solidFill>
                            <a:srgbClr val="333333"/>
                          </a:solidFill>
                        </a:rPr>
                        <a:t>(632円)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約6,639円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306">
                <a:tc>
                  <a:txBody>
                    <a:bodyPr/>
                    <a:lstStyle/>
                    <a:p>
                      <a:pPr marL="0" indent="0" algn="ctr">
                        <a:buNone/>
                      </a:pPr>
                      <a:r>
                        <a:rPr lang="en-US" sz="1000" dirty="0">
                          <a:solidFill>
                            <a:srgbClr val="333333"/>
                          </a:solidFill>
                        </a:rPr>
                        <a:t>500名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約$0.12</a:t>
                      </a:r>
                      <a:endParaRPr lang="en-US" sz="1000" dirty="0"/>
                    </a:p>
                    <a:p>
                      <a:pPr marL="0" indent="0" algn="ctr">
                        <a:buNone/>
                      </a:pPr>
                      <a:r>
                        <a:rPr lang="en-US" sz="1000" dirty="0">
                          <a:solidFill>
                            <a:srgbClr val="333333"/>
                          </a:solidFill>
                        </a:rPr>
                        <a:t>(18円)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$200.64</a:t>
                      </a:r>
                      <a:endParaRPr lang="en-US" sz="1000" dirty="0"/>
                    </a:p>
                    <a:p>
                      <a:pPr marL="0" indent="0" algn="ctr">
                        <a:buNone/>
                      </a:pPr>
                      <a:r>
                        <a:rPr lang="en-US" sz="1000" dirty="0">
                          <a:solidFill>
                            <a:srgbClr val="333333"/>
                          </a:solidFill>
                        </a:rPr>
                        <a:t>(30,096円)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$21.06</a:t>
                      </a:r>
                      <a:endParaRPr lang="en-US" sz="1000" dirty="0"/>
                    </a:p>
                    <a:p>
                      <a:pPr marL="0" indent="0" algn="ctr">
                        <a:buNone/>
                      </a:pPr>
                      <a:r>
                        <a:rPr lang="en-US" sz="1000" dirty="0">
                          <a:solidFill>
                            <a:srgbClr val="333333"/>
                          </a:solidFill>
                        </a:rPr>
                        <a:t>(3,159円)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約33,273円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306">
                <a:tc>
                  <a:txBody>
                    <a:bodyPr/>
                    <a:lstStyle/>
                    <a:p>
                      <a:pPr marL="0" indent="0" algn="ctr">
                        <a:buNone/>
                      </a:pPr>
                      <a:r>
                        <a:rPr lang="en-US" sz="1000" dirty="0">
                          <a:solidFill>
                            <a:srgbClr val="333333"/>
                          </a:solidFill>
                        </a:rPr>
                        <a:t>1,000名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約$0.23</a:t>
                      </a:r>
                      <a:endParaRPr lang="en-US" sz="1000" dirty="0"/>
                    </a:p>
                    <a:p>
                      <a:pPr marL="0" indent="0" algn="ctr">
                        <a:buNone/>
                      </a:pPr>
                      <a:r>
                        <a:rPr lang="en-US" sz="1000" dirty="0">
                          <a:solidFill>
                            <a:srgbClr val="333333"/>
                          </a:solidFill>
                        </a:rPr>
                        <a:t>(35円)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$400.14</a:t>
                      </a:r>
                      <a:endParaRPr lang="en-US" sz="1000" dirty="0"/>
                    </a:p>
                    <a:p>
                      <a:pPr marL="0" indent="0" algn="ctr">
                        <a:buNone/>
                      </a:pPr>
                      <a:r>
                        <a:rPr lang="en-US" sz="1000" dirty="0">
                          <a:solidFill>
                            <a:srgbClr val="333333"/>
                          </a:solidFill>
                        </a:rPr>
                        <a:t>(60,021円)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$42.12</a:t>
                      </a:r>
                      <a:endParaRPr lang="en-US" sz="1000" dirty="0"/>
                    </a:p>
                    <a:p>
                      <a:pPr marL="0" indent="0" algn="ctr">
                        <a:buNone/>
                      </a:pPr>
                      <a:r>
                        <a:rPr lang="en-US" sz="1000" dirty="0">
                          <a:solidFill>
                            <a:srgbClr val="333333"/>
                          </a:solidFill>
                        </a:rPr>
                        <a:t>(6,318円)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約66,374円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306">
                <a:tc>
                  <a:txBody>
                    <a:bodyPr/>
                    <a:lstStyle/>
                    <a:p>
                      <a:pPr marL="0" indent="0" algn="ctr">
                        <a:buNone/>
                      </a:pPr>
                      <a:r>
                        <a:rPr lang="en-US" sz="1000" dirty="0">
                          <a:solidFill>
                            <a:srgbClr val="333333"/>
                          </a:solidFill>
                        </a:rPr>
                        <a:t>5,000名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約$0.69</a:t>
                      </a:r>
                      <a:endParaRPr lang="en-US" sz="1000" dirty="0"/>
                    </a:p>
                    <a:p>
                      <a:pPr marL="0" indent="0" algn="ctr">
                        <a:buNone/>
                      </a:pPr>
                      <a:r>
                        <a:rPr lang="en-US" sz="1000" dirty="0">
                          <a:solidFill>
                            <a:srgbClr val="333333"/>
                          </a:solidFill>
                        </a:rPr>
                        <a:t>(104円)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$2,000.7</a:t>
                      </a:r>
                      <a:endParaRPr lang="en-US" sz="1000" dirty="0"/>
                    </a:p>
                    <a:p>
                      <a:pPr marL="0" indent="0" algn="ctr">
                        <a:buNone/>
                      </a:pPr>
                      <a:r>
                        <a:rPr lang="en-US" sz="1000" dirty="0">
                          <a:solidFill>
                            <a:srgbClr val="333333"/>
                          </a:solidFill>
                        </a:rPr>
                        <a:t>(300,105円)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$210.6</a:t>
                      </a:r>
                      <a:endParaRPr lang="en-US" sz="1000" dirty="0"/>
                    </a:p>
                    <a:p>
                      <a:pPr marL="0" indent="0" algn="ctr">
                        <a:buNone/>
                      </a:pPr>
                      <a:r>
                        <a:rPr lang="en-US" sz="1000" dirty="0">
                          <a:solidFill>
                            <a:srgbClr val="333333"/>
                          </a:solidFill>
                        </a:rPr>
                        <a:t>(31,590円)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約331,799円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306">
                <a:tc>
                  <a:txBody>
                    <a:bodyPr/>
                    <a:lstStyle/>
                    <a:p>
                      <a:pPr marL="0" indent="0" algn="ctr">
                        <a:buNone/>
                      </a:pPr>
                      <a:r>
                        <a:rPr lang="en-US" sz="1000" dirty="0">
                          <a:solidFill>
                            <a:srgbClr val="333333"/>
                          </a:solidFill>
                        </a:rPr>
                        <a:t>10,000名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約$1.15</a:t>
                      </a:r>
                      <a:endParaRPr lang="en-US" sz="1000" dirty="0"/>
                    </a:p>
                    <a:p>
                      <a:pPr marL="0" indent="0" algn="ctr">
                        <a:buNone/>
                      </a:pPr>
                      <a:r>
                        <a:rPr lang="en-US" sz="1000" dirty="0">
                          <a:solidFill>
                            <a:srgbClr val="333333"/>
                          </a:solidFill>
                        </a:rPr>
                        <a:t>(173円)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$4,001.4</a:t>
                      </a:r>
                      <a:endParaRPr lang="en-US" sz="1000" dirty="0"/>
                    </a:p>
                    <a:p>
                      <a:pPr marL="0" indent="0" algn="ctr">
                        <a:buNone/>
                      </a:pPr>
                      <a:r>
                        <a:rPr lang="en-US" sz="1000" dirty="0">
                          <a:solidFill>
                            <a:srgbClr val="333333"/>
                          </a:solidFill>
                        </a:rPr>
                        <a:t>(600,210円)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$421.2</a:t>
                      </a:r>
                      <a:endParaRPr lang="en-US" sz="1000" dirty="0"/>
                    </a:p>
                    <a:p>
                      <a:pPr marL="0" indent="0" algn="ctr">
                        <a:buNone/>
                      </a:pPr>
                      <a:r>
                        <a:rPr lang="en-US" sz="1000" dirty="0">
                          <a:solidFill>
                            <a:srgbClr val="333333"/>
                          </a:solidFill>
                        </a:rPr>
                        <a:t>(63,180円)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約663,563円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7620"/>
            <a:ext cx="8229600" cy="548640"/>
          </a:xfrm>
          <a:prstGeom prst="rect">
            <a:avLst/>
          </a:prstGeom>
          <a:noFill/>
          <a:ln/>
        </p:spPr>
        <p:txBody>
          <a:bodyPr wrap="square" rtlCol="0" anchor="ctr"/>
          <a:lstStyle/>
          <a:p>
            <a:pPr marL="0" indent="0">
              <a:buNone/>
            </a:pPr>
            <a:r>
              <a:rPr lang="en-US" sz="2400" b="1" dirty="0">
                <a:solidFill>
                  <a:srgbClr val="1F4788"/>
                </a:solidFill>
              </a:rPr>
              <a:t>ストレージサービス比較</a:t>
            </a:r>
            <a:endParaRPr lang="en-US" sz="2400" dirty="0"/>
          </a:p>
        </p:txBody>
      </p:sp>
      <p:graphicFrame>
        <p:nvGraphicFramePr>
          <p:cNvPr id="8" name="Table 0"/>
          <p:cNvGraphicFramePr>
            <a:graphicFrameLocks noGrp="1"/>
          </p:cNvGraphicFramePr>
          <p:nvPr/>
        </p:nvGraphicFramePr>
        <p:xfrm>
          <a:off x="548640" y="556260"/>
          <a:ext cx="5692140" cy="2134870"/>
        </p:xfrm>
        <a:graphic>
          <a:graphicData uri="http://schemas.openxmlformats.org/drawingml/2006/table">
            <a:tbl>
              <a:tblPr/>
              <a:tblGrid>
                <a:gridCol w="1138428">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tblGrid>
              <a:tr h="341630">
                <a:tc>
                  <a:txBody>
                    <a:bodyPr/>
                    <a:lstStyle/>
                    <a:p>
                      <a:pPr marL="0" indent="0" algn="ctr">
                        <a:buNone/>
                      </a:pPr>
                      <a:r>
                        <a:rPr lang="en-US" sz="1100" dirty="0">
                          <a:solidFill>
                            <a:srgbClr val="333333"/>
                          </a:solidFill>
                        </a:rPr>
                        <a:t>ユーザー数</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Supabase Storage</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AWS S3+CloudFront</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Cloudflare 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最安</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1630">
                <a:tc>
                  <a:txBody>
                    <a:bodyPr/>
                    <a:lstStyle/>
                    <a:p>
                      <a:pPr marL="0" indent="0" algn="ctr">
                        <a:buNone/>
                      </a:pPr>
                      <a:r>
                        <a:rPr lang="en-US" sz="1100" dirty="0">
                          <a:solidFill>
                            <a:srgbClr val="333333"/>
                          </a:solidFill>
                        </a:rPr>
                        <a:t>100名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5,789円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6,639円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1630">
                <a:tc>
                  <a:txBody>
                    <a:bodyPr/>
                    <a:lstStyle/>
                    <a:p>
                      <a:pPr marL="0" indent="0" algn="ctr">
                        <a:buNone/>
                      </a:pPr>
                      <a:r>
                        <a:rPr lang="en-US" sz="1100" dirty="0">
                          <a:solidFill>
                            <a:srgbClr val="333333"/>
                          </a:solidFill>
                        </a:rPr>
                        <a:t>500名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24,810円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33,273円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1630">
                <a:tc>
                  <a:txBody>
                    <a:bodyPr/>
                    <a:lstStyle/>
                    <a:p>
                      <a:pPr marL="0" indent="0" algn="ctr">
                        <a:buNone/>
                      </a:pPr>
                      <a:r>
                        <a:rPr lang="en-US" sz="1100" dirty="0">
                          <a:solidFill>
                            <a:srgbClr val="333333"/>
                          </a:solidFill>
                        </a:rPr>
                        <a:t>1,000名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48,584円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66,374円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1630">
                <a:tc>
                  <a:txBody>
                    <a:bodyPr/>
                    <a:lstStyle/>
                    <a:p>
                      <a:pPr marL="0" indent="0" algn="ctr">
                        <a:buNone/>
                      </a:pPr>
                      <a:r>
                        <a:rPr lang="en-US" sz="1100" dirty="0">
                          <a:solidFill>
                            <a:srgbClr val="333333"/>
                          </a:solidFill>
                        </a:rPr>
                        <a:t>5,000名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240,225円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331,799円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990円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1630">
                <a:tc>
                  <a:txBody>
                    <a:bodyPr/>
                    <a:lstStyle/>
                    <a:p>
                      <a:pPr marL="0" indent="0" algn="ctr">
                        <a:buNone/>
                      </a:pPr>
                      <a:r>
                        <a:rPr lang="en-US" sz="1100" dirty="0">
                          <a:solidFill>
                            <a:srgbClr val="333333"/>
                          </a:solidFill>
                        </a:rPr>
                        <a:t>10,000名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477,600円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663,563円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Shape 1"/>
          <p:cNvSpPr/>
          <p:nvPr/>
        </p:nvSpPr>
        <p:spPr>
          <a:xfrm>
            <a:off x="548640" y="2918460"/>
            <a:ext cx="7680960" cy="1828800"/>
          </a:xfrm>
          <a:prstGeom prst="rect">
            <a:avLst/>
          </a:prstGeom>
          <a:solidFill>
            <a:srgbClr val="E8F5E9"/>
          </a:solidFill>
          <a:ln w="38100">
            <a:solidFill>
              <a:srgbClr val="4CAF50"/>
            </a:solidFill>
            <a:prstDash val="solid"/>
          </a:ln>
        </p:spPr>
      </p:sp>
      <p:sp>
        <p:nvSpPr>
          <p:cNvPr id="5" name="Text 2"/>
          <p:cNvSpPr/>
          <p:nvPr/>
        </p:nvSpPr>
        <p:spPr>
          <a:xfrm>
            <a:off x="731520" y="3101340"/>
            <a:ext cx="7315200" cy="365760"/>
          </a:xfrm>
          <a:prstGeom prst="rect">
            <a:avLst/>
          </a:prstGeom>
          <a:noFill/>
          <a:ln/>
        </p:spPr>
        <p:txBody>
          <a:bodyPr wrap="square" rtlCol="0" anchor="ctr"/>
          <a:lstStyle/>
          <a:p>
            <a:pPr marL="0" indent="0">
              <a:buNone/>
            </a:pPr>
            <a:r>
              <a:rPr lang="en-US" sz="2000" b="1" dirty="0">
                <a:solidFill>
                  <a:srgbClr val="2E7D32"/>
                </a:solidFill>
              </a:rPr>
              <a:t>🎯 推奨: Cloudflare R2</a:t>
            </a:r>
            <a:endParaRPr lang="en-US" sz="2000" dirty="0"/>
          </a:p>
        </p:txBody>
      </p:sp>
      <p:sp>
        <p:nvSpPr>
          <p:cNvPr id="6" name="Text 3"/>
          <p:cNvSpPr/>
          <p:nvPr/>
        </p:nvSpPr>
        <p:spPr>
          <a:xfrm>
            <a:off x="914400" y="3558540"/>
            <a:ext cx="6949440" cy="1097280"/>
          </a:xfrm>
          <a:prstGeom prst="rect">
            <a:avLst/>
          </a:prstGeom>
          <a:noFill/>
          <a:ln/>
        </p:spPr>
        <p:txBody>
          <a:bodyPr wrap="square" rtlCol="0" anchor="ctr"/>
          <a:lstStyle/>
          <a:p>
            <a:pPr marL="342900" indent="-342900">
              <a:lnSpc>
                <a:spcPts val="2200"/>
              </a:lnSpc>
              <a:buSzPct val="100000"/>
              <a:buChar char="•"/>
            </a:pPr>
            <a:r>
              <a:rPr lang="en-US" sz="1300" dirty="0">
                <a:solidFill>
                  <a:srgbClr val="333333"/>
                </a:solidFill>
              </a:rPr>
              <a:t>✅ データ転送(Egress)が完全無料 → 最大の費用要因を削減！</a:t>
            </a:r>
            <a:endParaRPr lang="en-US" sz="1300" dirty="0"/>
          </a:p>
          <a:p>
            <a:pPr marL="342900" indent="-342900">
              <a:lnSpc>
                <a:spcPts val="2200"/>
              </a:lnSpc>
              <a:buSzPct val="100000"/>
              <a:buChar char="•"/>
            </a:pPr>
            <a:r>
              <a:rPr lang="en-US" sz="1300" dirty="0">
                <a:solidFill>
                  <a:srgbClr val="333333"/>
                </a:solidFill>
              </a:rPr>
              <a:t>✅ 10,000名でも月2,000円未満（Supabase比 約240倍安い）</a:t>
            </a:r>
            <a:endParaRPr lang="en-US" sz="1300" dirty="0"/>
          </a:p>
          <a:p>
            <a:pPr marL="342900" indent="-342900">
              <a:lnSpc>
                <a:spcPts val="2200"/>
              </a:lnSpc>
              <a:buSzPct val="100000"/>
              <a:buChar char="•"/>
            </a:pPr>
            <a:r>
              <a:rPr lang="en-US" sz="1300" dirty="0">
                <a:solidFill>
                  <a:srgbClr val="333333"/>
                </a:solidFill>
              </a:rPr>
              <a:t>✅ S3互換API → 移行が容易</a:t>
            </a:r>
            <a:endParaRPr lang="en-US" sz="1300" dirty="0"/>
          </a:p>
          <a:p>
            <a:pPr marL="342900" indent="-342900">
              <a:lnSpc>
                <a:spcPts val="2200"/>
              </a:lnSpc>
              <a:buSzPct val="100000"/>
              <a:buChar char="•"/>
            </a:pPr>
            <a:r>
              <a:rPr lang="en-US" sz="1300" dirty="0">
                <a:solidFill>
                  <a:srgbClr val="333333"/>
                </a:solidFill>
              </a:rPr>
              <a:t>✅ グローバルCDN標準装備</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7620"/>
            <a:ext cx="8229600" cy="548640"/>
          </a:xfrm>
          <a:prstGeom prst="rect">
            <a:avLst/>
          </a:prstGeom>
          <a:noFill/>
          <a:ln/>
        </p:spPr>
        <p:txBody>
          <a:bodyPr wrap="square" rtlCol="0" anchor="ctr"/>
          <a:lstStyle/>
          <a:p>
            <a:pPr marL="0" indent="0">
              <a:buNone/>
            </a:pPr>
            <a:r>
              <a:rPr lang="en-US" sz="2400" b="1" dirty="0">
                <a:solidFill>
                  <a:srgbClr val="1F4788"/>
                </a:solidFill>
              </a:rPr>
              <a:t>💡 イメージ最適化戦略</a:t>
            </a:r>
            <a:endParaRPr lang="en-US" sz="2400" dirty="0"/>
          </a:p>
        </p:txBody>
      </p:sp>
      <p:sp>
        <p:nvSpPr>
          <p:cNvPr id="3" name="Shape 1"/>
          <p:cNvSpPr/>
          <p:nvPr/>
        </p:nvSpPr>
        <p:spPr>
          <a:xfrm>
            <a:off x="655320" y="556260"/>
            <a:ext cx="7680960" cy="1371600"/>
          </a:xfrm>
          <a:prstGeom prst="rect">
            <a:avLst/>
          </a:prstGeom>
          <a:solidFill>
            <a:srgbClr val="E3F2FD"/>
          </a:solidFill>
          <a:ln w="25400">
            <a:solidFill>
              <a:srgbClr val="2196F3"/>
            </a:solidFill>
            <a:prstDash val="solid"/>
          </a:ln>
        </p:spPr>
      </p:sp>
      <p:sp>
        <p:nvSpPr>
          <p:cNvPr id="4" name="Text 2"/>
          <p:cNvSpPr/>
          <p:nvPr/>
        </p:nvSpPr>
        <p:spPr>
          <a:xfrm>
            <a:off x="838200" y="693420"/>
            <a:ext cx="7315200" cy="274320"/>
          </a:xfrm>
          <a:prstGeom prst="rect">
            <a:avLst/>
          </a:prstGeom>
          <a:noFill/>
          <a:ln/>
        </p:spPr>
        <p:txBody>
          <a:bodyPr wrap="square" rtlCol="0" anchor="ctr"/>
          <a:lstStyle/>
          <a:p>
            <a:pPr marL="0" indent="0">
              <a:buNone/>
            </a:pPr>
            <a:r>
              <a:rPr lang="en-US" sz="1500" b="1" dirty="0">
                <a:solidFill>
                  <a:srgbClr val="1565C0"/>
                </a:solidFill>
              </a:rPr>
              <a:t>❶ 画像フォーマット最適化</a:t>
            </a:r>
            <a:endParaRPr lang="en-US" sz="1500" dirty="0"/>
          </a:p>
        </p:txBody>
      </p:sp>
      <p:sp>
        <p:nvSpPr>
          <p:cNvPr id="5" name="Text 3"/>
          <p:cNvSpPr/>
          <p:nvPr/>
        </p:nvSpPr>
        <p:spPr>
          <a:xfrm>
            <a:off x="1021080" y="1059180"/>
            <a:ext cx="6949440" cy="731520"/>
          </a:xfrm>
          <a:prstGeom prst="rect">
            <a:avLst/>
          </a:prstGeom>
          <a:noFill/>
          <a:ln/>
        </p:spPr>
        <p:txBody>
          <a:bodyPr wrap="square" rtlCol="0" anchor="ctr"/>
          <a:lstStyle/>
          <a:p>
            <a:pPr marL="342900" indent="-342900">
              <a:lnSpc>
                <a:spcPts val="1800"/>
              </a:lnSpc>
              <a:buSzPct val="100000"/>
              <a:buChar char="•"/>
            </a:pPr>
            <a:r>
              <a:rPr lang="en-US" sz="1200" dirty="0">
                <a:solidFill>
                  <a:srgbClr val="333333"/>
                </a:solidFill>
              </a:rPr>
              <a:t>WebP形式に変換: PNG/JPEGより25～35%小さい</a:t>
            </a:r>
            <a:endParaRPr lang="en-US" sz="1200" dirty="0"/>
          </a:p>
          <a:p>
            <a:pPr marL="342900" indent="-342900">
              <a:lnSpc>
                <a:spcPts val="1800"/>
              </a:lnSpc>
              <a:buSzPct val="100000"/>
              <a:buChar char="•"/>
            </a:pPr>
            <a:r>
              <a:rPr lang="en-US" sz="1200" dirty="0">
                <a:solidFill>
                  <a:srgbClr val="333333"/>
                </a:solidFill>
              </a:rPr>
              <a:t>AVIF形式も検討: WebPよりさらに20%小さい（ブラウザ対応確認必要）</a:t>
            </a:r>
            <a:endParaRPr lang="en-US" sz="1200" dirty="0"/>
          </a:p>
          <a:p>
            <a:pPr marL="342900" indent="-342900">
              <a:lnSpc>
                <a:spcPts val="1800"/>
              </a:lnSpc>
              <a:buSzPct val="100000"/>
              <a:buChar char="•"/>
            </a:pPr>
            <a:r>
              <a:rPr lang="en-US" sz="1200" dirty="0">
                <a:solidFill>
                  <a:srgbClr val="333333"/>
                </a:solidFill>
              </a:rPr>
              <a:t>想定削減効果: 転送量を30%削減 → 3.51TB → 2.46TB</a:t>
            </a:r>
            <a:endParaRPr lang="en-US" sz="1200" dirty="0"/>
          </a:p>
        </p:txBody>
      </p:sp>
      <p:sp>
        <p:nvSpPr>
          <p:cNvPr id="6" name="Shape 4"/>
          <p:cNvSpPr/>
          <p:nvPr/>
        </p:nvSpPr>
        <p:spPr>
          <a:xfrm>
            <a:off x="655320" y="2019300"/>
            <a:ext cx="7680960" cy="1371600"/>
          </a:xfrm>
          <a:prstGeom prst="rect">
            <a:avLst/>
          </a:prstGeom>
          <a:solidFill>
            <a:srgbClr val="FFF3CD"/>
          </a:solidFill>
          <a:ln w="25400">
            <a:solidFill>
              <a:srgbClr val="FFC107"/>
            </a:solidFill>
            <a:prstDash val="solid"/>
          </a:ln>
        </p:spPr>
      </p:sp>
      <p:sp>
        <p:nvSpPr>
          <p:cNvPr id="7" name="Text 5"/>
          <p:cNvSpPr/>
          <p:nvPr/>
        </p:nvSpPr>
        <p:spPr>
          <a:xfrm>
            <a:off x="838200" y="2156460"/>
            <a:ext cx="7315200" cy="274320"/>
          </a:xfrm>
          <a:prstGeom prst="rect">
            <a:avLst/>
          </a:prstGeom>
          <a:noFill/>
          <a:ln/>
        </p:spPr>
        <p:txBody>
          <a:bodyPr wrap="square" rtlCol="0" anchor="ctr"/>
          <a:lstStyle/>
          <a:p>
            <a:pPr marL="0" indent="0">
              <a:buNone/>
            </a:pPr>
            <a:r>
              <a:rPr lang="en-US" sz="1500" b="1" dirty="0">
                <a:solidFill>
                  <a:srgbClr val="856404"/>
                </a:solidFill>
              </a:rPr>
              <a:t>❷ レスポンシブイメージ配信</a:t>
            </a:r>
            <a:endParaRPr lang="en-US" sz="1500" dirty="0"/>
          </a:p>
        </p:txBody>
      </p:sp>
      <p:sp>
        <p:nvSpPr>
          <p:cNvPr id="8" name="Text 6"/>
          <p:cNvSpPr/>
          <p:nvPr/>
        </p:nvSpPr>
        <p:spPr>
          <a:xfrm>
            <a:off x="1021080" y="2522220"/>
            <a:ext cx="6949440" cy="731520"/>
          </a:xfrm>
          <a:prstGeom prst="rect">
            <a:avLst/>
          </a:prstGeom>
          <a:noFill/>
          <a:ln/>
        </p:spPr>
        <p:txBody>
          <a:bodyPr wrap="square" rtlCol="0" anchor="ctr"/>
          <a:lstStyle/>
          <a:p>
            <a:pPr marL="342900" indent="-342900">
              <a:lnSpc>
                <a:spcPts val="1800"/>
              </a:lnSpc>
              <a:buSzPct val="100000"/>
              <a:buChar char="•"/>
            </a:pPr>
            <a:r>
              <a:rPr lang="en-US" sz="1200" dirty="0">
                <a:solidFill>
                  <a:srgbClr val="333333"/>
                </a:solidFill>
              </a:rPr>
              <a:t>複数サイズを事前生成: 320px, 640px, 1024px, オリジナル</a:t>
            </a:r>
            <a:endParaRPr lang="en-US" sz="1200" dirty="0"/>
          </a:p>
          <a:p>
            <a:pPr marL="342900" indent="-342900">
              <a:lnSpc>
                <a:spcPts val="1800"/>
              </a:lnSpc>
              <a:buSzPct val="100000"/>
              <a:buChar char="•"/>
            </a:pPr>
            <a:r>
              <a:rPr lang="en-US" sz="1200" dirty="0">
                <a:solidFill>
                  <a:srgbClr val="333333"/>
                </a:solidFill>
              </a:rPr>
              <a:t>デバイスに応じて最適サイズを配信（srcset使用）</a:t>
            </a:r>
            <a:endParaRPr lang="en-US" sz="1200" dirty="0"/>
          </a:p>
          <a:p>
            <a:pPr marL="342900" indent="-342900">
              <a:lnSpc>
                <a:spcPts val="1800"/>
              </a:lnSpc>
              <a:buSzPct val="100000"/>
              <a:buChar char="•"/>
            </a:pPr>
            <a:r>
              <a:rPr lang="en-US" sz="1200" dirty="0">
                <a:solidFill>
                  <a:srgbClr val="333333"/>
                </a:solidFill>
              </a:rPr>
              <a:t>想定削減効果: モバイル60%として平均40%削減 → 2.46TB → 1.48TB</a:t>
            </a:r>
            <a:endParaRPr lang="en-US" sz="1200" dirty="0"/>
          </a:p>
        </p:txBody>
      </p:sp>
      <p:sp>
        <p:nvSpPr>
          <p:cNvPr id="9" name="Shape 7"/>
          <p:cNvSpPr/>
          <p:nvPr/>
        </p:nvSpPr>
        <p:spPr>
          <a:xfrm>
            <a:off x="655320" y="3482340"/>
            <a:ext cx="7680960" cy="1371600"/>
          </a:xfrm>
          <a:prstGeom prst="rect">
            <a:avLst/>
          </a:prstGeom>
          <a:solidFill>
            <a:srgbClr val="E8F5E9"/>
          </a:solidFill>
          <a:ln w="25400">
            <a:solidFill>
              <a:srgbClr val="4CAF50"/>
            </a:solidFill>
            <a:prstDash val="solid"/>
          </a:ln>
        </p:spPr>
      </p:sp>
      <p:sp>
        <p:nvSpPr>
          <p:cNvPr id="10" name="Text 8"/>
          <p:cNvSpPr/>
          <p:nvPr/>
        </p:nvSpPr>
        <p:spPr>
          <a:xfrm>
            <a:off x="838200" y="3619500"/>
            <a:ext cx="7315200" cy="274320"/>
          </a:xfrm>
          <a:prstGeom prst="rect">
            <a:avLst/>
          </a:prstGeom>
          <a:noFill/>
          <a:ln/>
        </p:spPr>
        <p:txBody>
          <a:bodyPr wrap="square" rtlCol="0" anchor="ctr"/>
          <a:lstStyle/>
          <a:p>
            <a:pPr marL="0" indent="0">
              <a:buNone/>
            </a:pPr>
            <a:r>
              <a:rPr lang="en-US" sz="1500" b="1" dirty="0">
                <a:solidFill>
                  <a:srgbClr val="2E7D32"/>
                </a:solidFill>
              </a:rPr>
              <a:t>❸ ブラウザキャッシュ活用</a:t>
            </a:r>
            <a:endParaRPr lang="en-US" sz="1500" dirty="0"/>
          </a:p>
        </p:txBody>
      </p:sp>
      <p:sp>
        <p:nvSpPr>
          <p:cNvPr id="11" name="Text 9"/>
          <p:cNvSpPr/>
          <p:nvPr/>
        </p:nvSpPr>
        <p:spPr>
          <a:xfrm>
            <a:off x="1021080" y="3985260"/>
            <a:ext cx="6949440" cy="731520"/>
          </a:xfrm>
          <a:prstGeom prst="rect">
            <a:avLst/>
          </a:prstGeom>
          <a:noFill/>
          <a:ln/>
        </p:spPr>
        <p:txBody>
          <a:bodyPr wrap="square" rtlCol="0" anchor="ctr"/>
          <a:lstStyle/>
          <a:p>
            <a:pPr marL="342900" indent="-342900">
              <a:lnSpc>
                <a:spcPts val="1800"/>
              </a:lnSpc>
              <a:buSzPct val="100000"/>
              <a:buChar char="•"/>
            </a:pPr>
            <a:r>
              <a:rPr lang="en-US" sz="1200" dirty="0">
                <a:solidFill>
                  <a:srgbClr val="333333"/>
                </a:solidFill>
              </a:rPr>
              <a:t>Cache-Control: max-age=31536000 （1年）</a:t>
            </a:r>
            <a:endParaRPr lang="en-US" sz="1200" dirty="0"/>
          </a:p>
          <a:p>
            <a:pPr marL="342900" indent="-342900">
              <a:lnSpc>
                <a:spcPts val="1800"/>
              </a:lnSpc>
              <a:buSzPct val="100000"/>
              <a:buChar char="•"/>
            </a:pPr>
            <a:r>
              <a:rPr lang="en-US" sz="1200" dirty="0">
                <a:solidFill>
                  <a:srgbClr val="333333"/>
                </a:solidFill>
              </a:rPr>
              <a:t>同一ユーザーの重複ダウンロードを防止</a:t>
            </a:r>
            <a:endParaRPr lang="en-US" sz="1200" dirty="0"/>
          </a:p>
          <a:p>
            <a:pPr marL="342900" indent="-342900">
              <a:lnSpc>
                <a:spcPts val="1800"/>
              </a:lnSpc>
              <a:buSzPct val="100000"/>
              <a:buChar char="•"/>
            </a:pPr>
            <a:r>
              <a:rPr lang="en-US" sz="1200" dirty="0">
                <a:solidFill>
                  <a:srgbClr val="333333"/>
                </a:solidFill>
              </a:rPr>
              <a:t>想定削減効果: リピート率80%として60%削減 → 1.48TB → 0.59TB</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48640"/>
          </a:xfrm>
          <a:prstGeom prst="rect">
            <a:avLst/>
          </a:prstGeom>
          <a:noFill/>
          <a:ln/>
        </p:spPr>
        <p:txBody>
          <a:bodyPr wrap="square" rtlCol="0" anchor="ctr"/>
          <a:lstStyle/>
          <a:p>
            <a:pPr marL="0" indent="0">
              <a:buNone/>
            </a:pPr>
            <a:r>
              <a:rPr lang="en-US" sz="2400" b="1" dirty="0">
                <a:solidFill>
                  <a:srgbClr val="1F4788"/>
                </a:solidFill>
              </a:rPr>
              <a:t>最適化による削減効果（1,000名基準）</a:t>
            </a:r>
            <a:endParaRPr lang="en-US" sz="2400" dirty="0"/>
          </a:p>
        </p:txBody>
      </p:sp>
      <p:graphicFrame>
        <p:nvGraphicFramePr>
          <p:cNvPr id="10" name="Table 0"/>
          <p:cNvGraphicFramePr>
            <a:graphicFrameLocks noGrp="1"/>
          </p:cNvGraphicFramePr>
          <p:nvPr/>
        </p:nvGraphicFramePr>
        <p:xfrm>
          <a:off x="457200" y="640080"/>
          <a:ext cx="6621780" cy="1474470"/>
        </p:xfrm>
        <a:graphic>
          <a:graphicData uri="http://schemas.openxmlformats.org/drawingml/2006/table">
            <a:tbl>
              <a:tblPr/>
              <a:tblGrid>
                <a:gridCol w="1324356">
                  <a:extLst>
                    <a:ext uri="{9D8B030D-6E8A-4147-A177-3AD203B41FA5}">
                      <a16:colId xmlns:a16="http://schemas.microsoft.com/office/drawing/2014/main" val="20000"/>
                    </a:ext>
                  </a:extLst>
                </a:gridCol>
                <a:gridCol w="1324356">
                  <a:extLst>
                    <a:ext uri="{9D8B030D-6E8A-4147-A177-3AD203B41FA5}">
                      <a16:colId xmlns:a16="http://schemas.microsoft.com/office/drawing/2014/main" val="20001"/>
                    </a:ext>
                  </a:extLst>
                </a:gridCol>
                <a:gridCol w="1324356">
                  <a:extLst>
                    <a:ext uri="{9D8B030D-6E8A-4147-A177-3AD203B41FA5}">
                      <a16:colId xmlns:a16="http://schemas.microsoft.com/office/drawing/2014/main" val="20002"/>
                    </a:ext>
                  </a:extLst>
                </a:gridCol>
                <a:gridCol w="1324356">
                  <a:extLst>
                    <a:ext uri="{9D8B030D-6E8A-4147-A177-3AD203B41FA5}">
                      <a16:colId xmlns:a16="http://schemas.microsoft.com/office/drawing/2014/main" val="20003"/>
                    </a:ext>
                  </a:extLst>
                </a:gridCol>
                <a:gridCol w="1324356">
                  <a:extLst>
                    <a:ext uri="{9D8B030D-6E8A-4147-A177-3AD203B41FA5}">
                      <a16:colId xmlns:a16="http://schemas.microsoft.com/office/drawing/2014/main" val="20004"/>
                    </a:ext>
                  </a:extLst>
                </a:gridCol>
              </a:tblGrid>
              <a:tr h="294894">
                <a:tc>
                  <a:txBody>
                    <a:bodyPr/>
                    <a:lstStyle/>
                    <a:p>
                      <a:pPr marL="0" indent="0" algn="ctr">
                        <a:buNone/>
                      </a:pPr>
                      <a:r>
                        <a:rPr lang="en-US" sz="1000" dirty="0">
                          <a:solidFill>
                            <a:srgbClr val="333333"/>
                          </a:solidFill>
                        </a:rPr>
                        <a:t>最適化段階</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転送量/月</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Supabase費用</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AWS費用</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Cloudflare R2</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4894">
                <a:tc>
                  <a:txBody>
                    <a:bodyPr/>
                    <a:lstStyle/>
                    <a:p>
                      <a:pPr marL="0" indent="0" algn="ctr">
                        <a:buNone/>
                      </a:pPr>
                      <a:r>
                        <a:rPr lang="en-US" sz="1000" dirty="0">
                          <a:solidFill>
                            <a:srgbClr val="333333"/>
                          </a:solidFill>
                        </a:rPr>
                        <a:t>最適化前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3.51TB</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48,584円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66,374円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4894">
                <a:tc>
                  <a:txBody>
                    <a:bodyPr/>
                    <a:lstStyle/>
                    <a:p>
                      <a:pPr marL="0" indent="0" algn="ctr">
                        <a:buNone/>
                      </a:pPr>
                      <a:r>
                        <a:rPr lang="en-US" sz="1000" dirty="0">
                          <a:solidFill>
                            <a:srgbClr val="333333"/>
                          </a:solidFill>
                        </a:rPr>
                        <a:t>WebP変換後</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2.46TB (-30%)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33,498円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45,672円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4894">
                <a:tc>
                  <a:txBody>
                    <a:bodyPr/>
                    <a:lstStyle/>
                    <a:p>
                      <a:pPr marL="0" indent="0" algn="ctr">
                        <a:buNone/>
                      </a:pPr>
                      <a:r>
                        <a:rPr lang="en-US" sz="1000" dirty="0">
                          <a:solidFill>
                            <a:srgbClr val="333333"/>
                          </a:solidFill>
                        </a:rPr>
                        <a:t>レスポンシブ化後</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1.48TB (-58%)</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19,338円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27,042円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4894">
                <a:tc>
                  <a:txBody>
                    <a:bodyPr/>
                    <a:lstStyle/>
                    <a:p>
                      <a:pPr marL="0" indent="0" algn="ctr">
                        <a:buNone/>
                      </a:pPr>
                      <a:r>
                        <a:rPr lang="en-US" sz="1000" dirty="0">
                          <a:solidFill>
                            <a:srgbClr val="333333"/>
                          </a:solidFill>
                        </a:rPr>
                        <a:t>キャッシュ活用後</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0.59TB (-83%)</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7,284円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10,662円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hape 1"/>
          <p:cNvSpPr/>
          <p:nvPr/>
        </p:nvSpPr>
        <p:spPr>
          <a:xfrm>
            <a:off x="457200" y="2369820"/>
            <a:ext cx="7315200" cy="2286000"/>
          </a:xfrm>
          <a:prstGeom prst="rect">
            <a:avLst/>
          </a:prstGeom>
          <a:solidFill>
            <a:srgbClr val="E8F5E9"/>
          </a:solidFill>
          <a:ln w="38100">
            <a:solidFill>
              <a:srgbClr val="4CAF50"/>
            </a:solidFill>
            <a:prstDash val="solid"/>
          </a:ln>
        </p:spPr>
      </p:sp>
      <p:sp>
        <p:nvSpPr>
          <p:cNvPr id="5" name="Text 2"/>
          <p:cNvSpPr/>
          <p:nvPr/>
        </p:nvSpPr>
        <p:spPr>
          <a:xfrm>
            <a:off x="640080" y="2552700"/>
            <a:ext cx="6949440" cy="320040"/>
          </a:xfrm>
          <a:prstGeom prst="rect">
            <a:avLst/>
          </a:prstGeom>
          <a:noFill/>
          <a:ln/>
        </p:spPr>
        <p:txBody>
          <a:bodyPr wrap="square" rtlCol="0" anchor="ctr"/>
          <a:lstStyle/>
          <a:p>
            <a:pPr marL="0" indent="0">
              <a:buNone/>
            </a:pPr>
            <a:r>
              <a:rPr lang="en-US" sz="1800" b="1" dirty="0">
                <a:solidFill>
                  <a:srgbClr val="2E7D32"/>
                </a:solidFill>
              </a:rPr>
              <a:t>🎯 最終推奨構成</a:t>
            </a:r>
            <a:endParaRPr lang="en-US" sz="1800" dirty="0"/>
          </a:p>
        </p:txBody>
      </p:sp>
      <p:sp>
        <p:nvSpPr>
          <p:cNvPr id="6" name="Text 3"/>
          <p:cNvSpPr/>
          <p:nvPr/>
        </p:nvSpPr>
        <p:spPr>
          <a:xfrm>
            <a:off x="822960" y="2964180"/>
            <a:ext cx="6583680" cy="1554480"/>
          </a:xfrm>
          <a:prstGeom prst="rect">
            <a:avLst/>
          </a:prstGeom>
          <a:noFill/>
          <a:ln/>
        </p:spPr>
        <p:txBody>
          <a:bodyPr wrap="square" rtlCol="0" anchor="ctr"/>
          <a:lstStyle/>
          <a:p>
            <a:pPr marL="342900" indent="-342900">
              <a:lnSpc>
                <a:spcPts val="1800"/>
              </a:lnSpc>
              <a:buSzPct val="100000"/>
              <a:buChar char="•"/>
            </a:pPr>
            <a:r>
              <a:rPr lang="en-US" sz="1300" dirty="0">
                <a:solidFill>
                  <a:srgbClr val="333333"/>
                </a:solidFill>
              </a:rPr>
              <a:t>ストレージ: Cloudflare R2</a:t>
            </a:r>
            <a:endParaRPr lang="en-US" sz="1300" dirty="0"/>
          </a:p>
          <a:p>
            <a:pPr marL="342900" indent="-342900">
              <a:lnSpc>
                <a:spcPts val="1800"/>
              </a:lnSpc>
              <a:buSzPct val="100000"/>
              <a:buChar char="•"/>
            </a:pPr>
            <a:r>
              <a:rPr lang="en-US" sz="1300" dirty="0">
                <a:solidFill>
                  <a:srgbClr val="333333"/>
                </a:solidFill>
              </a:rPr>
              <a:t>画像フォーマット: WebP（AVIF fallback検討）</a:t>
            </a:r>
            <a:endParaRPr lang="en-US" sz="1300" dirty="0"/>
          </a:p>
          <a:p>
            <a:pPr marL="342900" indent="-342900">
              <a:lnSpc>
                <a:spcPts val="1800"/>
              </a:lnSpc>
              <a:buSzPct val="100000"/>
              <a:buChar char="•"/>
            </a:pPr>
            <a:r>
              <a:rPr lang="en-US" sz="1300" dirty="0">
                <a:solidFill>
                  <a:srgbClr val="333333"/>
                </a:solidFill>
              </a:rPr>
              <a:t>レスポンシブ配信: 4サイズ事前生成</a:t>
            </a:r>
            <a:endParaRPr lang="en-US" sz="1300" dirty="0"/>
          </a:p>
          <a:p>
            <a:pPr marL="342900" indent="-342900">
              <a:lnSpc>
                <a:spcPts val="1800"/>
              </a:lnSpc>
              <a:buSzPct val="100000"/>
              <a:buChar char="•"/>
            </a:pPr>
            <a:r>
              <a:rPr lang="en-US" sz="1300" dirty="0">
                <a:solidFill>
                  <a:srgbClr val="333333"/>
                </a:solidFill>
              </a:rPr>
              <a:t>キャッシュ: 1年間の長期キャッシュ💰 1,000名時の月間費用: 0円（R2無料枠内）💰 10,000名時の月間費用: 約2,000円💰 Supabase比で年間約571万円の削減！</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総合費用への影響（1,000名基準）</a:t>
            </a:r>
            <a:endParaRPr lang="en-US" sz="2400" dirty="0"/>
          </a:p>
        </p:txBody>
      </p:sp>
      <p:graphicFrame>
        <p:nvGraphicFramePr>
          <p:cNvPr id="21" name="Table 1"/>
          <p:cNvGraphicFramePr>
            <a:graphicFrameLocks noGrp="1"/>
          </p:cNvGraphicFramePr>
          <p:nvPr/>
        </p:nvGraphicFramePr>
        <p:xfrm>
          <a:off x="525780" y="967740"/>
          <a:ext cx="7757160" cy="3726177"/>
        </p:xfrm>
        <a:graphic>
          <a:graphicData uri="http://schemas.openxmlformats.org/drawingml/2006/table">
            <a:tbl>
              <a:tblPr/>
              <a:tblGrid>
                <a:gridCol w="1996124">
                  <a:extLst>
                    <a:ext uri="{9D8B030D-6E8A-4147-A177-3AD203B41FA5}">
                      <a16:colId xmlns:a16="http://schemas.microsoft.com/office/drawing/2014/main" val="20000"/>
                    </a:ext>
                  </a:extLst>
                </a:gridCol>
                <a:gridCol w="2903536">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tblGrid>
              <a:tr h="532311">
                <a:tc>
                  <a:txBody>
                    <a:bodyPr/>
                    <a:lstStyle/>
                    <a:p>
                      <a:pPr marL="0" indent="0" algn="ctr">
                        <a:buNone/>
                      </a:pPr>
                      <a:r>
                        <a:rPr lang="en-US" sz="1000" dirty="0">
                          <a:solidFill>
                            <a:srgbClr val="333333"/>
                          </a:solidFill>
                        </a:rPr>
                        <a:t>項目</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月額費用（円）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構成比</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0"/>
                  </a:ext>
                </a:extLst>
              </a:tr>
              <a:tr h="532311">
                <a:tc>
                  <a:txBody>
                    <a:bodyPr/>
                    <a:lstStyle/>
                    <a:p>
                      <a:pPr marL="0" indent="0" algn="ctr">
                        <a:buNone/>
                      </a:pPr>
                      <a:r>
                        <a:rPr lang="en-US" sz="1000" dirty="0">
                          <a:solidFill>
                            <a:srgbClr val="333333"/>
                          </a:solidFill>
                        </a:rPr>
                        <a:t>LLM費用</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941,777</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56.8%</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532311">
                <a:tc>
                  <a:txBody>
                    <a:bodyPr/>
                    <a:lstStyle/>
                    <a:p>
                      <a:pPr marL="0" indent="0" algn="ctr">
                        <a:buNone/>
                      </a:pPr>
                      <a:r>
                        <a:rPr lang="en-US" sz="1000" dirty="0">
                          <a:solidFill>
                            <a:srgbClr val="333333"/>
                          </a:solidFill>
                        </a:rPr>
                        <a:t>決済手数料</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633,420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38.2%</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2"/>
                  </a:ext>
                </a:extLst>
              </a:tr>
              <a:tr h="532311">
                <a:tc>
                  <a:txBody>
                    <a:bodyPr/>
                    <a:lstStyle/>
                    <a:p>
                      <a:pPr marL="0" indent="0" algn="ctr">
                        <a:buNone/>
                      </a:pPr>
                      <a:r>
                        <a:rPr lang="en-US" sz="1000" dirty="0">
                          <a:solidFill>
                            <a:srgbClr val="333333"/>
                          </a:solidFill>
                        </a:rPr>
                        <a:t>インフラ (Netlify/AWS)</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70,350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4.2%</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3"/>
                  </a:ext>
                </a:extLst>
              </a:tr>
              <a:tr h="532311">
                <a:tc>
                  <a:txBody>
                    <a:bodyPr/>
                    <a:lstStyle/>
                    <a:p>
                      <a:pPr marL="0" indent="0" algn="ctr">
                        <a:buNone/>
                      </a:pPr>
                      <a:r>
                        <a:rPr lang="en-US" sz="1000" dirty="0">
                          <a:solidFill>
                            <a:srgbClr val="333333"/>
                          </a:solidFill>
                        </a:rPr>
                        <a:t>イメージ (R2+最適化)</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0.0%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4"/>
                  </a:ext>
                </a:extLst>
              </a:tr>
              <a:tr h="532311">
                <a:tc>
                  <a:txBody>
                    <a:bodyPr/>
                    <a:lstStyle/>
                    <a:p>
                      <a:pPr marL="0" indent="0" algn="ctr">
                        <a:buNone/>
                      </a:pPr>
                      <a:r>
                        <a:rPr lang="en-US" sz="1000" dirty="0">
                          <a:solidFill>
                            <a:srgbClr val="333333"/>
                          </a:solidFill>
                        </a:rPr>
                        <a:t>その他固定費</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9,973</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0.6%</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5"/>
                  </a:ext>
                </a:extLst>
              </a:tr>
              <a:tr h="532311">
                <a:tc>
                  <a:txBody>
                    <a:bodyPr/>
                    <a:lstStyle/>
                    <a:p>
                      <a:pPr marL="0" indent="0" algn="ctr">
                        <a:buNone/>
                      </a:pPr>
                      <a:r>
                        <a:rPr lang="en-US" sz="1000" dirty="0">
                          <a:solidFill>
                            <a:srgbClr val="333333"/>
                          </a:solidFill>
                        </a:rPr>
                        <a:t>合計</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1,655,520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100.0%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0"/>
            <a:ext cx="8229600" cy="548640"/>
          </a:xfrm>
          <a:prstGeom prst="rect">
            <a:avLst/>
          </a:prstGeom>
          <a:noFill/>
          <a:ln/>
        </p:spPr>
        <p:txBody>
          <a:bodyPr wrap="square" rtlCol="0" anchor="ctr"/>
          <a:lstStyle/>
          <a:p>
            <a:pPr marL="0" indent="0">
              <a:buNone/>
            </a:pPr>
            <a:r>
              <a:rPr lang="en-US" sz="2400" b="1" dirty="0">
                <a:solidFill>
                  <a:srgbClr val="1F4788"/>
                </a:solidFill>
              </a:rPr>
              <a:t>まとめ: イメージコスト対策</a:t>
            </a:r>
            <a:endParaRPr lang="en-US" sz="2400" dirty="0"/>
          </a:p>
        </p:txBody>
      </p:sp>
      <p:sp>
        <p:nvSpPr>
          <p:cNvPr id="3" name="Shape 1"/>
          <p:cNvSpPr/>
          <p:nvPr/>
        </p:nvSpPr>
        <p:spPr>
          <a:xfrm>
            <a:off x="548640" y="548640"/>
            <a:ext cx="7680960" cy="1371600"/>
          </a:xfrm>
          <a:prstGeom prst="rect">
            <a:avLst/>
          </a:prstGeom>
          <a:solidFill>
            <a:srgbClr val="FFEBEE"/>
          </a:solidFill>
          <a:ln w="38100">
            <a:solidFill>
              <a:srgbClr val="F44336"/>
            </a:solidFill>
            <a:prstDash val="solid"/>
          </a:ln>
        </p:spPr>
      </p:sp>
      <p:sp>
        <p:nvSpPr>
          <p:cNvPr id="4" name="Text 2"/>
          <p:cNvSpPr/>
          <p:nvPr/>
        </p:nvSpPr>
        <p:spPr>
          <a:xfrm>
            <a:off x="731520" y="685800"/>
            <a:ext cx="7315200" cy="274320"/>
          </a:xfrm>
          <a:prstGeom prst="rect">
            <a:avLst/>
          </a:prstGeom>
          <a:noFill/>
          <a:ln/>
        </p:spPr>
        <p:txBody>
          <a:bodyPr wrap="square" rtlCol="0" anchor="ctr"/>
          <a:lstStyle/>
          <a:p>
            <a:pPr marL="0" indent="0">
              <a:buNone/>
            </a:pPr>
            <a:r>
              <a:rPr lang="en-US" sz="1600" b="1" dirty="0">
                <a:solidFill>
                  <a:srgbClr val="C62828"/>
                </a:solidFill>
              </a:rPr>
              <a:t>⚠️ 放置した場合のリスク</a:t>
            </a:r>
            <a:endParaRPr lang="en-US" sz="1600" dirty="0"/>
          </a:p>
        </p:txBody>
      </p:sp>
      <p:sp>
        <p:nvSpPr>
          <p:cNvPr id="5" name="Text 3"/>
          <p:cNvSpPr/>
          <p:nvPr/>
        </p:nvSpPr>
        <p:spPr>
          <a:xfrm>
            <a:off x="914400" y="1051560"/>
            <a:ext cx="6949440" cy="731520"/>
          </a:xfrm>
          <a:prstGeom prst="rect">
            <a:avLst/>
          </a:prstGeom>
          <a:noFill/>
          <a:ln/>
        </p:spPr>
        <p:txBody>
          <a:bodyPr wrap="square" rtlCol="0" anchor="ctr"/>
          <a:lstStyle/>
          <a:p>
            <a:pPr marL="342900" indent="-342900">
              <a:lnSpc>
                <a:spcPts val="1800"/>
              </a:lnSpc>
              <a:buSzPct val="100000"/>
              <a:buChar char="•"/>
            </a:pPr>
            <a:r>
              <a:rPr lang="en-US" sz="1300" dirty="0">
                <a:solidFill>
                  <a:srgbClr val="333333"/>
                </a:solidFill>
              </a:rPr>
              <a:t>Supabase使用時: 1,000名で月4.8万円、10,000名で月47.8万円</a:t>
            </a:r>
            <a:endParaRPr lang="en-US" sz="1300" dirty="0"/>
          </a:p>
          <a:p>
            <a:pPr marL="342900" indent="-342900">
              <a:lnSpc>
                <a:spcPts val="1800"/>
              </a:lnSpc>
              <a:buSzPct val="100000"/>
              <a:buChar char="•"/>
            </a:pPr>
            <a:r>
              <a:rPr lang="en-US" sz="1300" dirty="0">
                <a:solidFill>
                  <a:srgbClr val="333333"/>
                </a:solidFill>
              </a:rPr>
              <a:t>AWS使用時: 1,000名で月6.6万円、10,000名で月66.4万円</a:t>
            </a:r>
            <a:endParaRPr lang="en-US" sz="1300" dirty="0"/>
          </a:p>
          <a:p>
            <a:pPr marL="342900" indent="-342900">
              <a:lnSpc>
                <a:spcPts val="1800"/>
              </a:lnSpc>
              <a:buSzPct val="100000"/>
              <a:buChar char="•"/>
            </a:pPr>
            <a:r>
              <a:rPr lang="en-US" sz="1300" dirty="0">
                <a:solidFill>
                  <a:srgbClr val="333333"/>
                </a:solidFill>
              </a:rPr>
              <a:t>年間で最大約800万円の予期せぬ費用発生！</a:t>
            </a:r>
            <a:endParaRPr lang="en-US" sz="1300" dirty="0"/>
          </a:p>
        </p:txBody>
      </p:sp>
      <p:sp>
        <p:nvSpPr>
          <p:cNvPr id="6" name="Shape 4"/>
          <p:cNvSpPr/>
          <p:nvPr/>
        </p:nvSpPr>
        <p:spPr>
          <a:xfrm>
            <a:off x="548640" y="2011680"/>
            <a:ext cx="7680960" cy="2011680"/>
          </a:xfrm>
          <a:prstGeom prst="rect">
            <a:avLst/>
          </a:prstGeom>
          <a:solidFill>
            <a:srgbClr val="E8F5E9"/>
          </a:solidFill>
          <a:ln w="38100">
            <a:solidFill>
              <a:srgbClr val="4CAF50"/>
            </a:solidFill>
            <a:prstDash val="solid"/>
          </a:ln>
        </p:spPr>
      </p:sp>
      <p:sp>
        <p:nvSpPr>
          <p:cNvPr id="7" name="Text 5"/>
          <p:cNvSpPr/>
          <p:nvPr/>
        </p:nvSpPr>
        <p:spPr>
          <a:xfrm>
            <a:off x="731520" y="2148840"/>
            <a:ext cx="7315200" cy="274320"/>
          </a:xfrm>
          <a:prstGeom prst="rect">
            <a:avLst/>
          </a:prstGeom>
          <a:noFill/>
          <a:ln/>
        </p:spPr>
        <p:txBody>
          <a:bodyPr wrap="square" rtlCol="0" anchor="ctr"/>
          <a:lstStyle/>
          <a:p>
            <a:pPr marL="0" indent="0">
              <a:buNone/>
            </a:pPr>
            <a:r>
              <a:rPr lang="en-US" sz="1600" b="1" dirty="0">
                <a:solidFill>
                  <a:srgbClr val="2E7D32"/>
                </a:solidFill>
              </a:rPr>
              <a:t>✅ 推奨対策を実施した場合</a:t>
            </a:r>
            <a:endParaRPr lang="en-US" sz="1600" dirty="0"/>
          </a:p>
        </p:txBody>
      </p:sp>
      <p:sp>
        <p:nvSpPr>
          <p:cNvPr id="8" name="Text 6"/>
          <p:cNvSpPr/>
          <p:nvPr/>
        </p:nvSpPr>
        <p:spPr>
          <a:xfrm>
            <a:off x="914400" y="2514600"/>
            <a:ext cx="6949440" cy="1371600"/>
          </a:xfrm>
          <a:prstGeom prst="rect">
            <a:avLst/>
          </a:prstGeom>
          <a:noFill/>
          <a:ln/>
        </p:spPr>
        <p:txBody>
          <a:bodyPr wrap="square" rtlCol="0" anchor="ctr"/>
          <a:lstStyle/>
          <a:p>
            <a:pPr marL="342900" indent="-342900">
              <a:lnSpc>
                <a:spcPts val="2000"/>
              </a:lnSpc>
              <a:buSzPct val="100000"/>
              <a:buChar char="•"/>
            </a:pPr>
            <a:r>
              <a:rPr lang="en-US" sz="1300" dirty="0">
                <a:solidFill>
                  <a:srgbClr val="333333"/>
                </a:solidFill>
              </a:rPr>
              <a:t>Cloudflare R2採用 → 転送費用0円</a:t>
            </a:r>
            <a:endParaRPr lang="en-US" sz="1300" dirty="0"/>
          </a:p>
          <a:p>
            <a:pPr marL="342900" indent="-342900">
              <a:lnSpc>
                <a:spcPts val="2000"/>
              </a:lnSpc>
              <a:buSzPct val="100000"/>
              <a:buChar char="•"/>
            </a:pPr>
            <a:r>
              <a:rPr lang="en-US" sz="1300" dirty="0">
                <a:solidFill>
                  <a:srgbClr val="333333"/>
                </a:solidFill>
              </a:rPr>
              <a:t>WebP+レスポンシブ+キャッシュ → 転送量83%削減</a:t>
            </a:r>
            <a:endParaRPr lang="en-US" sz="1300" dirty="0"/>
          </a:p>
          <a:p>
            <a:pPr marL="342900" indent="-342900">
              <a:lnSpc>
                <a:spcPts val="2000"/>
              </a:lnSpc>
              <a:buSzPct val="100000"/>
              <a:buChar char="•"/>
            </a:pPr>
            <a:r>
              <a:rPr lang="en-US" sz="1300" dirty="0">
                <a:solidFill>
                  <a:srgbClr val="333333"/>
                </a:solidFill>
              </a:rPr>
              <a:t>1,000名時: 0円、10,000名時: 約2,000円/月</a:t>
            </a:r>
            <a:endParaRPr lang="en-US" sz="1300" dirty="0"/>
          </a:p>
          <a:p>
            <a:pPr marL="342900" indent="-342900">
              <a:lnSpc>
                <a:spcPts val="2000"/>
              </a:lnSpc>
              <a:buSzPct val="100000"/>
              <a:buChar char="•"/>
            </a:pPr>
            <a:r>
              <a:rPr lang="en-US" sz="1300" dirty="0">
                <a:solidFill>
                  <a:srgbClr val="333333"/>
                </a:solidFill>
              </a:rPr>
              <a:t>年間削減効果: 約571万円（10,000名時）🎯 総合費用への影響: ほぼゼロ！</a:t>
            </a:r>
            <a:endParaRPr lang="en-US" sz="1300" dirty="0"/>
          </a:p>
        </p:txBody>
      </p:sp>
      <p:sp>
        <p:nvSpPr>
          <p:cNvPr id="9" name="Shape 7"/>
          <p:cNvSpPr/>
          <p:nvPr/>
        </p:nvSpPr>
        <p:spPr>
          <a:xfrm>
            <a:off x="1188720" y="4297680"/>
            <a:ext cx="6400800" cy="640080"/>
          </a:xfrm>
          <a:prstGeom prst="rect">
            <a:avLst/>
          </a:prstGeom>
          <a:solidFill>
            <a:srgbClr val="4472C4"/>
          </a:solidFill>
          <a:ln/>
        </p:spPr>
      </p:sp>
      <p:sp>
        <p:nvSpPr>
          <p:cNvPr id="10" name="Text 8"/>
          <p:cNvSpPr/>
          <p:nvPr/>
        </p:nvSpPr>
        <p:spPr>
          <a:xfrm>
            <a:off x="1371600" y="4389120"/>
            <a:ext cx="6035040" cy="457200"/>
          </a:xfrm>
          <a:prstGeom prst="rect">
            <a:avLst/>
          </a:prstGeom>
          <a:noFill/>
          <a:ln/>
        </p:spPr>
        <p:txBody>
          <a:bodyPr wrap="square" rtlCol="0" anchor="ctr"/>
          <a:lstStyle/>
          <a:p>
            <a:pPr marL="0" indent="0" algn="ctr">
              <a:buNone/>
            </a:pPr>
            <a:r>
              <a:rPr lang="en-US" sz="1400" b="1" dirty="0">
                <a:solidFill>
                  <a:srgbClr val="FFFFFF"/>
                </a:solidFill>
              </a:rPr>
              <a:t>結論: 適切な対策により、イメージコストは</a:t>
            </a:r>
            <a:endParaRPr lang="en-US" sz="1400" dirty="0"/>
          </a:p>
          <a:p>
            <a:pPr marL="0" indent="0" algn="ctr">
              <a:buNone/>
            </a:pPr>
            <a:r>
              <a:rPr lang="en-US" sz="1400" b="1" dirty="0">
                <a:solidFill>
                  <a:srgbClr val="FFFFFF"/>
                </a:solidFill>
              </a:rPr>
              <a:t>ほぼ無視できるレベルに抑えられる！</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TotalTime>
  <Words>3019</Words>
  <Application>Microsoft Office PowerPoint</Application>
  <PresentationFormat>화면 슬라이드 쇼(16:9)</PresentationFormat>
  <Paragraphs>929</Paragraphs>
  <Slides>36</Slides>
  <Notes>36</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36</vt:i4>
      </vt:variant>
    </vt:vector>
  </HeadingPairs>
  <TitlesOfParts>
    <vt:vector size="41" baseType="lpstr">
      <vt:lpstr>맑은 고딕</vt:lpstr>
      <vt:lpstr>Arial</vt:lpstr>
      <vt:lpstr>Calibri</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namos-chat-v1 総合費用分析</dc:title>
  <dc:subject>PptxGenJS Presentation</dc:subject>
  <dc:creator>namos-chat-v1</dc:creator>
  <cp:lastModifiedBy>park sengchur</cp:lastModifiedBy>
  <cp:revision>2</cp:revision>
  <dcterms:created xsi:type="dcterms:W3CDTF">2025-11-10T02:03:05Z</dcterms:created>
  <dcterms:modified xsi:type="dcterms:W3CDTF">2025-11-10T05:07:37Z</dcterms:modified>
</cp:coreProperties>
</file>
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6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948" y="-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2388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60A5FA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5735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ja-JP" altLang="en-US" sz="4000" b="1" dirty="0">
                <a:solidFill>
                  <a:srgbClr val="FFFFFF"/>
                </a:solidFill>
                <a:latin typeface="+mj-lt"/>
              </a:rPr>
              <a:t>ナモアイ</a:t>
            </a:r>
            <a:r>
              <a:rPr lang="en-US" altLang="ja-JP" sz="4000" b="1" dirty="0">
                <a:solidFill>
                  <a:srgbClr val="FFFFFF"/>
                </a:solidFill>
                <a:latin typeface="+mj-lt"/>
              </a:rPr>
              <a:t>(</a:t>
            </a:r>
            <a:r>
              <a:rPr lang="ja-JP" altLang="en-US" sz="4000" b="1" dirty="0">
                <a:solidFill>
                  <a:srgbClr val="FFFFFF"/>
                </a:solidFill>
                <a:latin typeface="+mj-lt"/>
              </a:rPr>
              <a:t>キャラクターチャット</a:t>
            </a:r>
            <a:r>
              <a:rPr lang="en-US" altLang="ja-JP" sz="4000" b="1" dirty="0">
                <a:solidFill>
                  <a:srgbClr val="FFFFFF"/>
                </a:solidFill>
                <a:latin typeface="+mj-lt"/>
              </a:rPr>
              <a:t>)</a:t>
            </a:r>
            <a:endParaRPr lang="en-US" sz="400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FF6FF"/>
                </a:solidFill>
              </a:rPr>
              <a:t>AIキャラクターと対話する新しい体験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FF6FF"/>
                </a:solidFill>
              </a:rPr>
              <a:t>Namos Chat Service Introduction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F6FF"/>
                </a:solidFill>
              </a:rPr>
              <a:t>2025年11月 | Version 1.0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EFF6F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286000" cy="22860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563EB"/>
                </a:solidFill>
              </a:rPr>
              <a:t>サービス紹介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2000" b="1" dirty="0">
                <a:solidFill>
                  <a:srgbClr val="1E40AF"/>
                </a:solidFill>
              </a:rPr>
              <a:t>ナモアイ</a:t>
            </a:r>
            <a:r>
              <a:rPr lang="en-US" altLang="ja-JP" sz="2000" b="1" dirty="0">
                <a:solidFill>
                  <a:srgbClr val="1E40AF"/>
                </a:solidFill>
              </a:rPr>
              <a:t>(</a:t>
            </a:r>
            <a:r>
              <a:rPr lang="ja-JP" altLang="en-US" sz="2000" b="1" dirty="0">
                <a:solidFill>
                  <a:srgbClr val="1E40AF"/>
                </a:solidFill>
              </a:rPr>
              <a:t>キャラクターチャット</a:t>
            </a:r>
            <a:r>
              <a:rPr lang="en-US" altLang="ja-JP" sz="2000" b="1" dirty="0">
                <a:solidFill>
                  <a:srgbClr val="1E40AF"/>
                </a:solidFill>
              </a:rPr>
              <a:t>)</a:t>
            </a:r>
            <a:r>
              <a:rPr lang="ja-JP" altLang="en-US" sz="2000" b="1" dirty="0">
                <a:solidFill>
                  <a:srgbClr val="1E40AF"/>
                </a:solidFill>
              </a:rPr>
              <a:t>とは</a:t>
            </a:r>
            <a:r>
              <a:rPr lang="en-US" sz="2000" b="1" dirty="0">
                <a:solidFill>
                  <a:srgbClr val="1E40AF"/>
                </a:solidFill>
              </a:rPr>
              <a:t>？
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ユーザーが</a:t>
            </a:r>
            <a:r>
              <a:rPr lang="en-US" sz="1600" b="1" dirty="0">
                <a:solidFill>
                  <a:srgbClr val="3B82F6"/>
                </a:solidFill>
              </a:rPr>
              <a:t>様々なAI世界観</a:t>
            </a:r>
            <a:r>
              <a:rPr lang="en-US" sz="1600" dirty="0">
                <a:solidFill>
                  <a:srgbClr val="333333"/>
                </a:solidFill>
              </a:rPr>
              <a:t>と自由に対話しながら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ストーリーを作り上げていくプラットフォーム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6032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40AF"/>
                </a:solidFill>
              </a:rPr>
              <a:t>💡 わかりやすい例え
</a:t>
            </a:r>
            <a:r>
              <a:rPr lang="en-US" sz="1500" dirty="0">
                <a:solidFill>
                  <a:srgbClr val="333333"/>
                </a:solidFill>
              </a:rPr>
              <a:t>「YouTubeで誰もが動画を投稿・視聴するように、
</a:t>
            </a:r>
            <a:r>
              <a:rPr lang="en-US" sz="1400" dirty="0">
                <a:solidFill>
                  <a:srgbClr val="333333"/>
                </a:solidFill>
              </a:rPr>
              <a:t>  </a:t>
            </a:r>
            <a:r>
              <a:rPr lang="ja-JP" altLang="en-US" sz="1400" dirty="0">
                <a:solidFill>
                  <a:srgbClr val="333333"/>
                </a:solidFill>
              </a:rPr>
              <a:t>ナモアイ</a:t>
            </a:r>
            <a:r>
              <a:rPr lang="en-US" altLang="ja-JP" sz="1400" dirty="0">
                <a:solidFill>
                  <a:srgbClr val="333333"/>
                </a:solidFill>
              </a:rPr>
              <a:t>(</a:t>
            </a:r>
            <a:r>
              <a:rPr lang="ja-JP" altLang="en-US" sz="1400" dirty="0">
                <a:solidFill>
                  <a:srgbClr val="333333"/>
                </a:solidFill>
              </a:rPr>
              <a:t>キャラクターチャット</a:t>
            </a:r>
            <a:r>
              <a:rPr lang="en-US" altLang="ja-JP" sz="1400" dirty="0">
                <a:solidFill>
                  <a:srgbClr val="333333"/>
                </a:solidFill>
              </a:rPr>
              <a:t>)</a:t>
            </a:r>
            <a:r>
              <a:rPr lang="ja-JP" altLang="en-US" sz="1400" dirty="0">
                <a:solidFill>
                  <a:srgbClr val="333333"/>
                </a:solidFill>
              </a:rPr>
              <a:t>では</a:t>
            </a:r>
            <a:r>
              <a:rPr lang="ja-JP" altLang="en-US" sz="1400" b="1" dirty="0">
                <a:solidFill>
                  <a:srgbClr val="3B82F6"/>
                </a:solidFill>
              </a:rPr>
              <a:t>誰でも世界観を制作・プレイ</a:t>
            </a:r>
            <a:r>
              <a:rPr lang="en-US" sz="1400" b="1" dirty="0" err="1">
                <a:solidFill>
                  <a:srgbClr val="3B82F6"/>
                </a:solidFill>
              </a:rPr>
              <a:t>できます</a:t>
            </a:r>
            <a:r>
              <a:rPr lang="en-US" sz="1400" dirty="0">
                <a:solidFill>
                  <a:srgbClr val="333333"/>
                </a:solidFill>
              </a:rPr>
              <a:t>」</a:t>
            </a:r>
            <a:r>
              <a:rPr lang="en-US" sz="1500" dirty="0">
                <a:solidFill>
                  <a:srgbClr val="333333"/>
                </a:solidFill>
              </a:rPr>
              <a:t>
</a:t>
            </a:r>
            <a:r>
              <a:rPr lang="en-US" sz="1400" dirty="0">
                <a:solidFill>
                  <a:srgbClr val="333333"/>
                </a:solidFill>
              </a:rPr>
              <a:t>• YouTube: クリエイターが動画制作 → 視聴者が視聴
• </a:t>
            </a:r>
            <a:r>
              <a:rPr lang="ja-JP" altLang="en-US" sz="1400" dirty="0">
                <a:solidFill>
                  <a:srgbClr val="333333"/>
                </a:solidFill>
              </a:rPr>
              <a:t>ナモアイ</a:t>
            </a:r>
            <a:r>
              <a:rPr lang="en-US" altLang="ja-JP" sz="1400" dirty="0">
                <a:solidFill>
                  <a:srgbClr val="333333"/>
                </a:solidFill>
              </a:rPr>
              <a:t>(</a:t>
            </a:r>
            <a:r>
              <a:rPr lang="ja-JP" altLang="en-US" sz="1400" dirty="0">
                <a:solidFill>
                  <a:srgbClr val="333333"/>
                </a:solidFill>
              </a:rPr>
              <a:t>キャラクターチャット</a:t>
            </a:r>
            <a:r>
              <a:rPr lang="en-US" altLang="ja-JP" sz="1400" dirty="0">
                <a:solidFill>
                  <a:srgbClr val="333333"/>
                </a:solidFill>
              </a:rPr>
              <a:t>)</a:t>
            </a:r>
            <a:r>
              <a:rPr lang="en-US" sz="1400" dirty="0">
                <a:solidFill>
                  <a:srgbClr val="333333"/>
                </a:solidFill>
              </a:rPr>
              <a:t>: 創作者が世界観制作 → ユーザーがプレイ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EFF6F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286000" cy="22860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2563EB"/>
                </a:solidFill>
              </a:rPr>
              <a:t>サービスの特別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35132" y="10972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8198" y="1203416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🎨
</a:t>
            </a:r>
            <a:r>
              <a:rPr lang="en-US" sz="1500" b="1" dirty="0">
                <a:solidFill>
                  <a:srgbClr val="1E40AF"/>
                </a:solidFill>
              </a:rPr>
              <a:t>誰もがクリエイター
</a:t>
            </a:r>
            <a:r>
              <a:rPr lang="en-US" sz="1200" dirty="0">
                <a:solidFill>
                  <a:srgbClr val="333333"/>
                </a:solidFill>
              </a:rPr>
              <a:t>コーディング不要で</a:t>
            </a:r>
            <a:endParaRPr lang="en-US" sz="3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AI世界観を制作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252652" y="10972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17" y="12115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🎭
</a:t>
            </a:r>
            <a:r>
              <a:rPr lang="en-US" sz="1500" b="1" dirty="0">
                <a:solidFill>
                  <a:srgbClr val="1E40AF"/>
                </a:solidFill>
              </a:rPr>
              <a:t>無限の世界観
</a:t>
            </a:r>
            <a:r>
              <a:rPr lang="en-US" sz="1200" dirty="0">
                <a:solidFill>
                  <a:srgbClr val="333333"/>
                </a:solidFill>
              </a:rPr>
              <a:t>ファンタジー、現代</a:t>
            </a:r>
            <a:endParaRPr lang="en-US" sz="3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SF、ロマンスなど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6270172" y="10972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0172" y="12115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👤
</a:t>
            </a:r>
            <a:r>
              <a:rPr lang="en-US" sz="1500" b="1" dirty="0">
                <a:solidFill>
                  <a:srgbClr val="1E40AF"/>
                </a:solidFill>
              </a:rPr>
              <a:t>自分だけのアイデンティティ
</a:t>
            </a:r>
            <a:r>
              <a:rPr lang="en-US" sz="1200" dirty="0">
                <a:solidFill>
                  <a:srgbClr val="333333"/>
                </a:solidFill>
              </a:rPr>
              <a:t>ペルソナシステムで</a:t>
            </a:r>
            <a:endParaRPr lang="en-US" sz="3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カスタム体験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235132" y="31089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595" y="322326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💬
</a:t>
            </a:r>
            <a:r>
              <a:rPr lang="en-US" sz="1500" b="1" dirty="0">
                <a:solidFill>
                  <a:srgbClr val="1E40AF"/>
                </a:solidFill>
              </a:rPr>
              <a:t>自然な会話
</a:t>
            </a:r>
            <a:r>
              <a:rPr lang="en-US" sz="1200" dirty="0">
                <a:solidFill>
                  <a:srgbClr val="333333"/>
                </a:solidFill>
              </a:rPr>
              <a:t>Google AIで</a:t>
            </a:r>
            <a:endParaRPr lang="en-US" sz="3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実際の人のように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3252652" y="31089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2650" y="322326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🌐
</a:t>
            </a:r>
            <a:r>
              <a:rPr lang="en-US" sz="1500" b="1" dirty="0">
                <a:solidFill>
                  <a:srgbClr val="1E40AF"/>
                </a:solidFill>
              </a:rPr>
              <a:t>創作者経済
</a:t>
            </a:r>
            <a:r>
              <a:rPr lang="en-US" sz="1200" dirty="0">
                <a:solidFill>
                  <a:srgbClr val="333333"/>
                </a:solidFill>
              </a:rPr>
              <a:t>人気世界観は</a:t>
            </a:r>
            <a:endParaRPr lang="en-US" sz="3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収益化可能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EFF6F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286000" cy="22860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63EB"/>
                </a:solidFill>
              </a:rPr>
              <a:t>1. キャラクターシステム (世界観ベース)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⭐ 重要: ユーザーが直接制作します！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40AF"/>
                </a:solidFill>
              </a:rPr>
              <a:t>キャラクターとは？
</a:t>
            </a:r>
            <a:r>
              <a:rPr lang="en-US" sz="1500" dirty="0">
                <a:solidFill>
                  <a:srgbClr val="333333"/>
                </a:solidFill>
              </a:rPr>
              <a:t>単純な「1人のAI」ではありません
→ </a:t>
            </a:r>
            <a:r>
              <a:rPr lang="en-US" sz="1500" b="1" dirty="0">
                <a:solidFill>
                  <a:srgbClr val="3B82F6"/>
                </a:solidFill>
              </a:rPr>
              <a:t>1つの完全な世界観 + 複数の登場人物</a:t>
            </a:r>
            <a:r>
              <a:rPr lang="en-US" sz="1500" dirty="0">
                <a:solidFill>
                  <a:srgbClr val="333333"/>
                </a:solidFill>
              </a:rPr>
              <a:t>を含む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</a:rPr>
              <a:t>   総合ストーリーテリングシステム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38328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40AF"/>
                </a:solidFill>
              </a:rPr>
              <a:t>🌍 映画1本を作るようなもの
</a:t>
            </a:r>
            <a:r>
              <a:rPr lang="en-US" sz="1400" dirty="0">
                <a:solidFill>
                  <a:srgbClr val="333333"/>
                </a:solidFill>
              </a:rPr>
              <a:t>• 世界観 = 映画の背景設定 (時代、場所、ルール)
• 登場人物 = 主人公、脇役の性格と関係
• ユーザー = その世界に入り直接ストーリーを作る主人公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EFF6F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286000" cy="22860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</a:rPr>
              <a:t>多様なジャンルの世界観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66547" y="1005840"/>
            <a:ext cx="246278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2298598" cy="1563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</a:rPr>
              <a:t>ファンタジー
</a:t>
            </a:r>
            <a:r>
              <a:rPr lang="en-US" sz="1200" dirty="0">
                <a:solidFill>
                  <a:srgbClr val="1E40AF"/>
                </a:solidFill>
              </a:rPr>
              <a:t>魔法学校
中世王国
</a:t>
            </a:r>
            <a:r>
              <a:rPr lang="en-US" sz="800" dirty="0">
                <a:solidFill>
                  <a:srgbClr val="3B82F6"/>
                </a:solidFill>
              </a:rPr>
              <a:t>━━━
</a:t>
            </a:r>
            <a:r>
              <a:rPr lang="en-US" sz="1100" dirty="0">
                <a:solidFill>
                  <a:srgbClr val="333333"/>
                </a:solidFill>
              </a:rPr>
              <a:t>魔法使い、騎士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竜と冒険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84067" y="1010412"/>
            <a:ext cx="246278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097280"/>
            <a:ext cx="2298598" cy="1563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</a:rPr>
              <a:t>現代
</a:t>
            </a:r>
            <a:r>
              <a:rPr lang="en-US" sz="1200" dirty="0">
                <a:solidFill>
                  <a:srgbClr val="1E40AF"/>
                </a:solidFill>
              </a:rPr>
              <a:t>大学、会社
</a:t>
            </a:r>
            <a:r>
              <a:rPr lang="en-US" sz="800" dirty="0">
                <a:solidFill>
                  <a:srgbClr val="3B82F6"/>
                </a:solidFill>
              </a:rPr>
              <a:t>━━━
</a:t>
            </a:r>
            <a:r>
              <a:rPr lang="en-US" sz="1100" dirty="0">
                <a:solidFill>
                  <a:srgbClr val="333333"/>
                </a:solidFill>
              </a:rPr>
              <a:t>日常的で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共感できる物語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01587" y="1012371"/>
            <a:ext cx="246278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097280"/>
            <a:ext cx="2298598" cy="1563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</a:rPr>
              <a:t>SF
</a:t>
            </a:r>
            <a:r>
              <a:rPr lang="en-US" sz="1200" dirty="0">
                <a:solidFill>
                  <a:srgbClr val="1E40AF"/>
                </a:solidFill>
              </a:rPr>
              <a:t>宇宙ステーション
未来都市
</a:t>
            </a:r>
            <a:r>
              <a:rPr lang="en-US" sz="800" dirty="0">
                <a:solidFill>
                  <a:srgbClr val="3B82F6"/>
                </a:solidFill>
              </a:rPr>
              <a:t>━━━
</a:t>
            </a:r>
            <a:r>
              <a:rPr lang="en-US" sz="1100" dirty="0">
                <a:solidFill>
                  <a:srgbClr val="333333"/>
                </a:solidFill>
              </a:rPr>
              <a:t>科学技術と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未来社会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020133"/>
            <a:ext cx="246278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08960"/>
            <a:ext cx="2298598" cy="1563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</a:rPr>
              <a:t>ロマンス
</a:t>
            </a:r>
            <a:r>
              <a:rPr lang="en-US" sz="1200" dirty="0">
                <a:solidFill>
                  <a:srgbClr val="1E40AF"/>
                </a:solidFill>
              </a:rPr>
              <a:t>財閥学校
芸能事務所
</a:t>
            </a:r>
            <a:r>
              <a:rPr lang="en-US" sz="800" dirty="0">
                <a:solidFill>
                  <a:srgbClr val="3B82F6"/>
                </a:solidFill>
              </a:rPr>
              <a:t>━━━
</a:t>
            </a:r>
            <a:r>
              <a:rPr lang="en-US" sz="1100" dirty="0">
                <a:solidFill>
                  <a:srgbClr val="333333"/>
                </a:solidFill>
              </a:rPr>
              <a:t>感性的な関係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と葛藤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74720" y="3030583"/>
            <a:ext cx="246278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3108960"/>
            <a:ext cx="2298598" cy="1563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</a:rPr>
              <a:t>ミステリー
</a:t>
            </a:r>
            <a:r>
              <a:rPr lang="en-US" sz="1200" dirty="0">
                <a:solidFill>
                  <a:srgbClr val="1E40AF"/>
                </a:solidFill>
              </a:rPr>
              <a:t>探偵事務所
犯罪組織
</a:t>
            </a:r>
            <a:r>
              <a:rPr lang="en-US" sz="800" dirty="0">
                <a:solidFill>
                  <a:srgbClr val="3B82F6"/>
                </a:solidFill>
              </a:rPr>
              <a:t>━━━
</a:t>
            </a:r>
            <a:r>
              <a:rPr lang="en-US" sz="1100" dirty="0">
                <a:solidFill>
                  <a:srgbClr val="333333"/>
                </a:solidFill>
              </a:rPr>
              <a:t>推理と緊張感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EFF6F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286000" cy="22860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63EB"/>
                </a:solidFill>
              </a:rPr>
              <a:t>実際の例: 「財閥学校ロマンス」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9728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</a:rPr>
              <a:t>📚 </a:t>
            </a:r>
            <a:r>
              <a:rPr lang="en-US" sz="1600" b="1" dirty="0" err="1">
                <a:solidFill>
                  <a:srgbClr val="1E40AF"/>
                </a:solidFill>
              </a:rPr>
              <a:t>世界観設定</a:t>
            </a:r>
            <a:r>
              <a:rPr lang="en-US" sz="1600" b="1" dirty="0">
                <a:solidFill>
                  <a:srgbClr val="1E40AF"/>
                </a:solidFill>
              </a:rPr>
              <a:t>
</a:t>
            </a:r>
            <a:r>
              <a:rPr lang="en-US" sz="1300" dirty="0">
                <a:solidFill>
                  <a:srgbClr val="333333"/>
                </a:solidFill>
              </a:rPr>
              <a:t>• タイトル: 「青雲高等教育機関」
</a:t>
            </a:r>
            <a:r>
              <a:rPr lang="en-US" sz="1200" dirty="0">
                <a:solidFill>
                  <a:srgbClr val="333333"/>
                </a:solidFill>
              </a:rPr>
              <a:t>• 背景: 財閥、政治家、芸能人の
  子女だけが通う超高級私立学校
• 特徴: 極端な身分差、3大派閥
  (企業/政府/芸能界)、
  特別奨学生への差別
• 雰囲気: 学園コメディロマンス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114800" cy="393192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</a:rPr>
              <a:t>👥 登場人物 (すべてAIが演技)
</a:t>
            </a:r>
            <a:r>
              <a:rPr lang="en-US" sz="800" dirty="0">
                <a:solidFill>
                  <a:srgbClr val="3B82F6"/>
                </a:solidFill>
              </a:rPr>
              <a:t>━━━━━━━━━━━━━━
</a:t>
            </a:r>
            <a:r>
              <a:rPr lang="en-US" sz="1200" b="1" dirty="0">
                <a:solidFill>
                  <a:srgbClr val="2563EB"/>
                </a:solidFill>
              </a:rPr>
              <a:t>• カン・ソヨン
</a:t>
            </a:r>
            <a:r>
              <a:rPr lang="en-US" sz="1100" dirty="0">
                <a:solidFill>
                  <a:srgbClr val="333333"/>
                </a:solidFill>
              </a:rPr>
              <a:t>  青雲グループ後継者、冷たく
  無愛想な財閥令嬢
</a:t>
            </a:r>
            <a:r>
              <a:rPr lang="en-US" sz="1200" b="1" dirty="0">
                <a:solidFill>
                  <a:srgbClr val="2563EB"/>
                </a:solidFill>
              </a:rPr>
              <a:t>• イ・ナギョン
</a:t>
            </a:r>
            <a:r>
              <a:rPr lang="en-US" sz="1100" dirty="0">
                <a:solidFill>
                  <a:srgbClr val="333333"/>
                </a:solidFill>
              </a:rPr>
              <a:t>  金融財閥の娘、嫉妬深い虚勢女
</a:t>
            </a:r>
            <a:r>
              <a:rPr lang="en-US" sz="1200" b="1" dirty="0">
                <a:solidFill>
                  <a:srgbClr val="2563EB"/>
                </a:solidFill>
              </a:rPr>
              <a:t>• チョン・ユンハ
</a:t>
            </a:r>
            <a:r>
              <a:rPr lang="en-US" sz="1100" dirty="0">
                <a:solidFill>
                  <a:srgbClr val="333333"/>
                </a:solidFill>
              </a:rPr>
              <a:t>  国務総理の孫娘、最年少国会議員
</a:t>
            </a:r>
            <a:r>
              <a:rPr lang="en-US" sz="1200" b="1" dirty="0">
                <a:solidFill>
                  <a:srgbClr val="2563EB"/>
                </a:solidFill>
              </a:rPr>
              <a:t>• ユン・チェリン
</a:t>
            </a:r>
            <a:r>
              <a:rPr lang="en-US" sz="1100" dirty="0">
                <a:solidFill>
                  <a:srgbClr val="333333"/>
                </a:solidFill>
              </a:rPr>
              <a:t>  一般家庭出身の奨学生、
  毎日いじめられる
</a:t>
            </a:r>
            <a:r>
              <a:rPr lang="en-US" sz="1200" b="1" dirty="0">
                <a:solidFill>
                  <a:srgbClr val="2563EB"/>
                </a:solidFill>
              </a:rPr>
              <a:t>• キム・ソジン
</a:t>
            </a:r>
            <a:r>
              <a:rPr lang="en-US" sz="1100" dirty="0">
                <a:solidFill>
                  <a:srgbClr val="333333"/>
                </a:solidFill>
              </a:rPr>
              <a:t>  東アジア最大マフィア組織の後継者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EFF6F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286000" cy="22860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</a:rPr>
              <a:t>ユーザーができること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9728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</a:rPr>
              <a:t>🎮 プレイヤーとして
</a:t>
            </a:r>
            <a:r>
              <a:rPr lang="en-US" sz="800" dirty="0">
                <a:solidFill>
                  <a:srgbClr val="3B82F6"/>
                </a:solidFill>
              </a:rPr>
              <a:t>━━━━━━━━━━
</a:t>
            </a:r>
            <a:r>
              <a:rPr lang="en-US" sz="1400" b="1" dirty="0">
                <a:solidFill>
                  <a:srgbClr val="1E40AF"/>
                </a:solidFill>
              </a:rPr>
              <a:t>✅ 世界観探索
</a:t>
            </a:r>
            <a:r>
              <a:rPr lang="en-US" sz="1200" dirty="0">
                <a:solidFill>
                  <a:srgbClr val="333333"/>
                </a:solidFill>
              </a:rPr>
              <a:t>   他の創作者が作った数百の
   世界観から選択
</a:t>
            </a:r>
            <a:r>
              <a:rPr lang="en-US" sz="1400" b="1" dirty="0">
                <a:solidFill>
                  <a:srgbClr val="1E40AF"/>
                </a:solidFill>
              </a:rPr>
              <a:t>✅ ストーリー体験
</a:t>
            </a:r>
            <a:r>
              <a:rPr lang="en-US" sz="1200" dirty="0">
                <a:solidFill>
                  <a:srgbClr val="333333"/>
                </a:solidFill>
              </a:rPr>
              <a:t>   選んだ世界観で自由に対話しながら
   物語を展開
</a:t>
            </a:r>
            <a:r>
              <a:rPr lang="en-US" sz="1400" b="1" dirty="0">
                <a:solidFill>
                  <a:srgbClr val="1E40AF"/>
                </a:solidFill>
              </a:rPr>
              <a:t>✅ 画像送信
</a:t>
            </a:r>
            <a:r>
              <a:rPr lang="en-US" sz="1200" dirty="0">
                <a:solidFill>
                  <a:srgbClr val="333333"/>
                </a:solidFill>
              </a:rPr>
              <a:t>   チャットに画像を送るとAIが認識し反応
</a:t>
            </a:r>
            <a:r>
              <a:rPr lang="en-US" sz="1400" b="1" dirty="0">
                <a:solidFill>
                  <a:srgbClr val="1E40AF"/>
                </a:solidFill>
              </a:rPr>
              <a:t>✅ いいね＆コメント
</a:t>
            </a:r>
            <a:r>
              <a:rPr lang="en-US" sz="1200" dirty="0">
                <a:solidFill>
                  <a:srgbClr val="333333"/>
                </a:solidFill>
              </a:rPr>
              <a:t>   気に入った世界観に反応表示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114800" cy="393192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</a:rPr>
              <a:t>🎨 創作者として
</a:t>
            </a:r>
            <a:r>
              <a:rPr lang="en-US" sz="800" dirty="0">
                <a:solidFill>
                  <a:srgbClr val="3B82F6"/>
                </a:solidFill>
              </a:rPr>
              <a:t>━━━━━━━━━━
</a:t>
            </a:r>
            <a:r>
              <a:rPr lang="en-US" sz="1400" b="1" dirty="0">
                <a:solidFill>
                  <a:srgbClr val="1E40AF"/>
                </a:solidFill>
              </a:rPr>
              <a:t>✅ 世界観生成
</a:t>
            </a:r>
            <a:r>
              <a:rPr lang="en-US" sz="1200" dirty="0">
                <a:solidFill>
                  <a:srgbClr val="333333"/>
                </a:solidFill>
              </a:rPr>
              <a:t>   自分だけの独創的な世界と登場人物を制作
</a:t>
            </a:r>
            <a:r>
              <a:rPr lang="en-US" sz="1400" b="1" dirty="0">
                <a:solidFill>
                  <a:srgbClr val="1E40AF"/>
                </a:solidFill>
              </a:rPr>
              <a:t>✅ 詳細設定
</a:t>
            </a:r>
            <a:r>
              <a:rPr lang="en-US" sz="1200" dirty="0">
                <a:solidFill>
                  <a:srgbClr val="333333"/>
                </a:solidFill>
              </a:rPr>
              <a:t>   世界観ルール、登場人物の外見/性格/
   背景、関係図など
</a:t>
            </a:r>
            <a:r>
              <a:rPr lang="en-US" sz="1400" b="1" dirty="0">
                <a:solidFill>
                  <a:srgbClr val="1E40AF"/>
                </a:solidFill>
              </a:rPr>
              <a:t>✅ 画像＆キーワード
</a:t>
            </a:r>
            <a:r>
              <a:rPr lang="en-US" sz="1200" dirty="0">
                <a:solidFill>
                  <a:srgbClr val="333333"/>
                </a:solidFill>
              </a:rPr>
              <a:t>   キャラクター画像をアップロードし
   キーワード設定(感情、状況別)
</a:t>
            </a:r>
            <a:r>
              <a:rPr lang="en-US" sz="1400" b="1" dirty="0">
                <a:solidFill>
                  <a:srgbClr val="1E40AF"/>
                </a:solidFill>
              </a:rPr>
              <a:t>✅ ロアブック作成
</a:t>
            </a:r>
            <a:r>
              <a:rPr lang="en-US" sz="1200" dirty="0">
                <a:solidFill>
                  <a:srgbClr val="333333"/>
                </a:solidFill>
              </a:rPr>
              <a:t>   世界観の歴史、用語、重要設定を記録
</a:t>
            </a:r>
            <a:r>
              <a:rPr lang="en-US" sz="1400" b="1" dirty="0">
                <a:solidFill>
                  <a:srgbClr val="1E40AF"/>
                </a:solidFill>
              </a:rPr>
              <a:t>✅ 収益化
</a:t>
            </a:r>
            <a:r>
              <a:rPr lang="en-US" sz="1200" dirty="0">
                <a:solidFill>
                  <a:srgbClr val="333333"/>
                </a:solidFill>
              </a:rPr>
              <a:t>   人気世界観に成長時、将来的に収益可能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EFF6F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286000" cy="22860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</a:rPr>
              <a:t>2. ペルソナシステム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972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ペルソナとは？
</a:t>
            </a:r>
            <a:r>
              <a:rPr lang="en-US" sz="1500" dirty="0">
                <a:solidFill>
                  <a:srgbClr val="FFFFFF"/>
                </a:solidFill>
              </a:rPr>
              <a:t>ユーザーが自分の身分やアイデンティティを設定する機能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774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💡 核心: </a:t>
            </a:r>
            <a:r>
              <a:rPr lang="en-US" sz="1400" dirty="0">
                <a:solidFill>
                  <a:srgbClr val="333333"/>
                </a:solidFill>
              </a:rPr>
              <a:t>ペルソナは</a:t>
            </a:r>
            <a:r>
              <a:rPr lang="en-US" sz="1400" b="1" dirty="0">
                <a:solidFill>
                  <a:srgbClr val="3B82F6"/>
                </a:solidFill>
              </a:rPr>
              <a:t>ユーザー自身の身分証明書</a:t>
            </a:r>
            <a:r>
              <a:rPr lang="en-US" sz="1400" dirty="0">
                <a:solidFill>
                  <a:srgbClr val="333333"/>
                </a:solidFill>
              </a:rPr>
              <a:t>です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AIはこの情報をもとにユーザーを認識し、適切に反応します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</a:rPr>
              <a:t>📌 例 (財閥学校世界観)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3840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「私は特別奨学生だ」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3840480"/>
            <a:ext cx="274320" cy="18288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4846320" y="3749040"/>
            <a:ext cx="3840480" cy="3657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AIが私を一般人学生として認識し反応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3840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「私は財閥2世だ」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0" y="4297680"/>
            <a:ext cx="274320" cy="18288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4846320" y="4206240"/>
            <a:ext cx="3840480" cy="3657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AIが私を上流階級として認識し反応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663440"/>
            <a:ext cx="3840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「私は転校生だ」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89120" y="4754880"/>
            <a:ext cx="274320" cy="18288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4663440"/>
            <a:ext cx="3840480" cy="3657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AIが私を新入生として認識し反応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EFF6F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286000" cy="22860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</a:rPr>
              <a:t>3. チャットシステム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82880" y="920931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12371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✨
</a:t>
            </a:r>
            <a:r>
              <a:rPr lang="en-US" sz="1300" b="1" dirty="0">
                <a:solidFill>
                  <a:srgbClr val="1E40AF"/>
                </a:solidFill>
              </a:rPr>
              <a:t>自然な会話
</a:t>
            </a:r>
            <a:r>
              <a:rPr lang="en-US" sz="800" dirty="0">
                <a:solidFill>
                  <a:srgbClr val="3B82F6"/>
                </a:solidFill>
              </a:rPr>
              <a:t>━━━
</a:t>
            </a:r>
            <a:r>
              <a:rPr lang="en-US" sz="1000" dirty="0">
                <a:solidFill>
                  <a:srgbClr val="333333"/>
                </a:solidFill>
              </a:rPr>
              <a:t>Google Gemini AI技術で</a:t>
            </a:r>
            <a:endParaRPr lang="en-US" sz="3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実際の人のように反応</a:t>
            </a:r>
            <a:endParaRPr lang="en-US" sz="3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文脈を理解し記憶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200400" y="920931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012371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🖼️
</a:t>
            </a:r>
            <a:r>
              <a:rPr lang="en-US" sz="1300" b="1" dirty="0">
                <a:solidFill>
                  <a:srgbClr val="1E40AF"/>
                </a:solidFill>
              </a:rPr>
              <a:t>画像システム
</a:t>
            </a:r>
            <a:r>
              <a:rPr lang="en-US" sz="800" dirty="0">
                <a:solidFill>
                  <a:srgbClr val="3B82F6"/>
                </a:solidFill>
              </a:rPr>
              <a:t>━━━
</a:t>
            </a:r>
            <a:r>
              <a:rPr lang="en-US" sz="1000" dirty="0">
                <a:solidFill>
                  <a:srgbClr val="333333"/>
                </a:solidFill>
              </a:rPr>
              <a:t>ユーザー⇔AI 画像送受信</a:t>
            </a:r>
            <a:endParaRPr lang="en-US" sz="3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キーワード基盤</a:t>
            </a:r>
            <a:endParaRPr lang="en-US" sz="3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自動画像出力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6217920" y="920931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012371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🔄
</a:t>
            </a:r>
            <a:r>
              <a:rPr lang="en-US" sz="1300" b="1" dirty="0">
                <a:solidFill>
                  <a:srgbClr val="1E40AF"/>
                </a:solidFill>
              </a:rPr>
              <a:t>会話再生成
</a:t>
            </a:r>
            <a:r>
              <a:rPr lang="en-US" sz="800" dirty="0">
                <a:solidFill>
                  <a:srgbClr val="3B82F6"/>
                </a:solidFill>
              </a:rPr>
              <a:t>━━━
</a:t>
            </a:r>
            <a:r>
              <a:rPr lang="en-US" sz="1000" dirty="0">
                <a:solidFill>
                  <a:srgbClr val="333333"/>
                </a:solidFill>
              </a:rPr>
              <a:t>AIの回答が気に入らなければ</a:t>
            </a:r>
            <a:endParaRPr lang="en-US" sz="3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再生成リクエスト</a:t>
            </a:r>
            <a:endParaRPr lang="en-US" sz="3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複数バージョンから選択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182880" y="2932611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024051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📝
</a:t>
            </a:r>
            <a:r>
              <a:rPr lang="en-US" sz="1300" b="1" dirty="0">
                <a:solidFill>
                  <a:srgbClr val="1E40AF"/>
                </a:solidFill>
              </a:rPr>
              <a:t>ユーザーノート
</a:t>
            </a:r>
            <a:r>
              <a:rPr lang="en-US" sz="800" dirty="0">
                <a:solidFill>
                  <a:srgbClr val="3B82F6"/>
                </a:solidFill>
              </a:rPr>
              <a:t>━━━
</a:t>
            </a:r>
            <a:r>
              <a:rPr lang="en-US" sz="1000" dirty="0">
                <a:solidFill>
                  <a:srgbClr val="333333"/>
                </a:solidFill>
              </a:rPr>
              <a:t>ストーリー進行過程を</a:t>
            </a:r>
            <a:endParaRPr lang="en-US" sz="3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直接記録</a:t>
            </a:r>
            <a:endParaRPr lang="en-US" sz="3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次回計画メモ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3200400" y="2932611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3024051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🧠
</a:t>
            </a:r>
            <a:r>
              <a:rPr lang="en-US" sz="1300" b="1" dirty="0">
                <a:solidFill>
                  <a:srgbClr val="1E40AF"/>
                </a:solidFill>
              </a:rPr>
              <a:t>メモリーシステム
(追加予定)
</a:t>
            </a:r>
            <a:r>
              <a:rPr lang="en-US" sz="800" dirty="0">
                <a:solidFill>
                  <a:srgbClr val="3B82F6"/>
                </a:solidFill>
              </a:rPr>
              <a:t>━━━
</a:t>
            </a:r>
            <a:r>
              <a:rPr lang="en-US" sz="1000" dirty="0">
                <a:solidFill>
                  <a:srgbClr val="333333"/>
                </a:solidFill>
              </a:rPr>
              <a:t>AIが重要な会話内容を</a:t>
            </a:r>
            <a:endParaRPr lang="en-US" sz="3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自動的に記憶</a:t>
            </a:r>
            <a:endParaRPr lang="en-US" sz="3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キャラクター別関係記録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6217920" y="2932611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024051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
</a:t>
            </a:r>
            <a:r>
              <a:rPr lang="en-US" sz="1300" b="1" dirty="0">
                <a:solidFill>
                  <a:srgbClr val="1E40AF"/>
                </a:solidFill>
              </a:rPr>
              <a:t>状態システム
</a:t>
            </a:r>
            <a:r>
              <a:rPr lang="en-US" sz="800" dirty="0">
                <a:solidFill>
                  <a:srgbClr val="3B82F6"/>
                </a:solidFill>
              </a:rPr>
              <a:t>━━━
</a:t>
            </a:r>
            <a:r>
              <a:rPr lang="en-US" sz="1000" dirty="0">
                <a:solidFill>
                  <a:srgbClr val="333333"/>
                </a:solidFill>
              </a:rPr>
              <a:t>キャラクター別好感度</a:t>
            </a:r>
            <a:endParaRPr lang="en-US" sz="3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現在位置、服装</a:t>
            </a:r>
            <a:endParaRPr lang="en-US" sz="3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時間帯の変化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EFF6F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286000" cy="22860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</a:rPr>
              <a:t>画像システム詳細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972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</a:rPr>
              <a:t>📤 ユーザー → AI
</a:t>
            </a:r>
            <a:r>
              <a:rPr lang="en-US" sz="800" dirty="0">
                <a:solidFill>
                  <a:srgbClr val="3B82F6"/>
                </a:solidFill>
              </a:rPr>
              <a:t>━━━━━━━━
</a:t>
            </a:r>
            <a:r>
              <a:rPr lang="en-US" sz="1400" dirty="0">
                <a:solidFill>
                  <a:srgbClr val="333333"/>
                </a:solidFill>
              </a:rPr>
              <a:t>写真を送ると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AIが画像を認識し反応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114800" cy="182880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</a:rPr>
              <a:t>📥 AI → ユーザー
</a:t>
            </a:r>
            <a:r>
              <a:rPr lang="en-US" sz="800" dirty="0">
                <a:solidFill>
                  <a:srgbClr val="3B82F6"/>
                </a:solidFill>
              </a:rPr>
              <a:t>━━━━━━━━
</a:t>
            </a:r>
            <a:r>
              <a:rPr lang="en-US" sz="1400" dirty="0">
                <a:solidFill>
                  <a:srgbClr val="333333"/>
                </a:solidFill>
              </a:rPr>
              <a:t>AIが会話状況に合った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画像を自動表示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2037806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0896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</a:rPr>
              <a:t>🔧 仕組み
</a:t>
            </a:r>
            <a:r>
              <a:rPr lang="en-US" sz="800" dirty="0">
                <a:solidFill>
                  <a:srgbClr val="3B82F6"/>
                </a:solidFill>
              </a:rPr>
              <a:t>━━━━━━━━━━━━━━━━━━━━━━━━
</a:t>
            </a:r>
            <a:r>
              <a:rPr lang="en-US" sz="1300" b="1" dirty="0">
                <a:solidFill>
                  <a:srgbClr val="333333"/>
                </a:solidFill>
              </a:rPr>
              <a:t>1. 制作者が予め画像をアップロードし</a:t>
            </a:r>
            <a:r>
              <a:rPr lang="en-US" sz="1300" b="1" dirty="0">
                <a:solidFill>
                  <a:srgbClr val="3B82F6"/>
                </a:solidFill>
              </a:rPr>
              <a:t>キーワード設定
</a:t>
            </a:r>
            <a:r>
              <a:rPr lang="en-US" sz="1200" dirty="0">
                <a:solidFill>
                  <a:srgbClr val="333333"/>
                </a:solidFill>
              </a:rPr>
              <a:t>   例: 「笑顔」「怒り」「悲しみ」「驚き」など
</a:t>
            </a:r>
            <a:r>
              <a:rPr lang="en-US" sz="1300" b="1" dirty="0">
                <a:solidFill>
                  <a:srgbClr val="333333"/>
                </a:solidFill>
              </a:rPr>
              <a:t>2. AIが会話中に</a:t>
            </a:r>
            <a:r>
              <a:rPr lang="en-US" sz="1300" b="1" dirty="0">
                <a:solidFill>
                  <a:srgbClr val="3B82F6"/>
                </a:solidFill>
              </a:rPr>
              <a:t>キーワードに該当する状況</a:t>
            </a:r>
            <a:r>
              <a:rPr lang="en-US" sz="1300" b="1" dirty="0">
                <a:solidFill>
                  <a:srgbClr val="333333"/>
                </a:solidFill>
              </a:rPr>
              <a:t>で
   自動的に画像出力
</a:t>
            </a:r>
            <a:r>
              <a:rPr lang="en-US" sz="1200" i="1" dirty="0">
                <a:solidFill>
                  <a:srgbClr val="333333"/>
                </a:solidFill>
              </a:rPr>
              <a:t>💡 例: 「怒り」キーワード → キャラクターが怒った表情の画像表示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EFF6F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286000" cy="22860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63EB"/>
                </a:solidFill>
              </a:rPr>
              <a:t>創作者の旅 - 誰でも可能！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3931920" cy="16230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✅ 必要なもの
</a:t>
            </a:r>
            <a:r>
              <a:rPr lang="en-US" sz="1300" dirty="0">
                <a:solidFill>
                  <a:srgbClr val="FFFFFF"/>
                </a:solidFill>
              </a:rPr>
              <a:t>• 想像力 (最も重要！)
• インターネットブラウザ
</a:t>
            </a:r>
            <a:r>
              <a:rPr lang="en-US" sz="1500" b="1" dirty="0">
                <a:solidFill>
                  <a:srgbClr val="FFFFFF"/>
                </a:solidFill>
              </a:rPr>
              <a:t>❌ 不要
</a:t>
            </a:r>
            <a:r>
              <a:rPr lang="en-US" sz="1300" dirty="0">
                <a:solidFill>
                  <a:srgbClr val="FFFFFF"/>
                </a:solidFill>
              </a:rPr>
              <a:t>• コーディング知識
• デザイン能力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1148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</a:rPr>
              <a:t>📝 制作過程
</a:t>
            </a:r>
            <a:r>
              <a:rPr lang="en-US" sz="800" dirty="0">
                <a:solidFill>
                  <a:srgbClr val="3B82F6"/>
                </a:solidFill>
              </a:rPr>
              <a:t>━━━━━━━━━━━━
</a:t>
            </a:r>
            <a:r>
              <a:rPr lang="en-US" sz="1300" dirty="0">
                <a:solidFill>
                  <a:srgbClr val="3B82F6"/>
                </a:solidFill>
              </a:rPr>
              <a:t>1.</a:t>
            </a:r>
            <a:r>
              <a:rPr lang="en-US" sz="1300" b="1" dirty="0">
                <a:solidFill>
                  <a:srgbClr val="2563EB"/>
                </a:solidFill>
              </a:rPr>
              <a:t>世界観基本設定
</a:t>
            </a:r>
            <a:r>
              <a:rPr lang="en-US" sz="1100" dirty="0">
                <a:solidFill>
                  <a:srgbClr val="333333"/>
                </a:solidFill>
              </a:rPr>
              <a:t>   タイトル、ジャンル、背景、ルール
</a:t>
            </a:r>
            <a:r>
              <a:rPr lang="en-US" sz="1300" dirty="0">
                <a:solidFill>
                  <a:srgbClr val="2563EB"/>
                </a:solidFill>
              </a:rPr>
              <a:t>2.</a:t>
            </a:r>
            <a:r>
              <a:rPr lang="en-US" sz="1300" b="1" dirty="0">
                <a:solidFill>
                  <a:srgbClr val="2563EB"/>
                </a:solidFill>
              </a:rPr>
              <a:t>登場人物設定
</a:t>
            </a:r>
            <a:r>
              <a:rPr lang="en-US" sz="1100" dirty="0">
                <a:solidFill>
                  <a:srgbClr val="333333"/>
                </a:solidFill>
              </a:rPr>
              <a:t>   名前、外見、性格、関係
</a:t>
            </a:r>
            <a:r>
              <a:rPr lang="en-US" altLang="ko-KR" sz="1300" dirty="0">
                <a:solidFill>
                  <a:srgbClr val="2563EB"/>
                </a:solidFill>
              </a:rPr>
              <a:t>3.</a:t>
            </a:r>
            <a:r>
              <a:rPr lang="en-US" sz="1300" b="1" dirty="0">
                <a:solidFill>
                  <a:srgbClr val="2563EB"/>
                </a:solidFill>
              </a:rPr>
              <a:t>画像アップロード + キーワード設定
</a:t>
            </a:r>
            <a:r>
              <a:rPr lang="en-US" sz="1100" dirty="0">
                <a:solidFill>
                  <a:srgbClr val="333333"/>
                </a:solidFill>
              </a:rPr>
              <a:t>   感情・状況別の画像
</a:t>
            </a:r>
            <a:r>
              <a:rPr lang="en-US" altLang="ko-KR" sz="1300" dirty="0">
                <a:solidFill>
                  <a:srgbClr val="2563EB"/>
                </a:solidFill>
              </a:rPr>
              <a:t>4.</a:t>
            </a:r>
            <a:r>
              <a:rPr lang="en-US" sz="1300" b="1" dirty="0">
                <a:solidFill>
                  <a:srgbClr val="2563EB"/>
                </a:solidFill>
              </a:rPr>
              <a:t>AI指示設定
</a:t>
            </a:r>
            <a:r>
              <a:rPr lang="en-US" sz="1100" dirty="0">
                <a:solidFill>
                  <a:srgbClr val="333333"/>
                </a:solidFill>
              </a:rPr>
              <a:t>   システムプロンプト作成
</a:t>
            </a:r>
            <a:r>
              <a:rPr lang="en-US" altLang="ko-KR" sz="1300" dirty="0">
                <a:solidFill>
                  <a:srgbClr val="2563EB"/>
                </a:solidFill>
              </a:rPr>
              <a:t>5.</a:t>
            </a:r>
            <a:r>
              <a:rPr lang="en-US" sz="1300" b="1" dirty="0">
                <a:solidFill>
                  <a:srgbClr val="2563EB"/>
                </a:solidFill>
              </a:rPr>
              <a:t>ロアブック作成(選択)
</a:t>
            </a:r>
            <a:r>
              <a:rPr lang="en-US" sz="1100" dirty="0">
                <a:solidFill>
                  <a:srgbClr val="333333"/>
                </a:solidFill>
              </a:rPr>
              <a:t>   世界観の歴史、用語など
</a:t>
            </a:r>
            <a:r>
              <a:rPr lang="en-US" altLang="ko-KR" sz="1300" dirty="0">
                <a:solidFill>
                  <a:srgbClr val="2563EB"/>
                </a:solidFill>
              </a:rPr>
              <a:t>6.</a:t>
            </a:r>
            <a:r>
              <a:rPr lang="en-US" sz="1300" b="1" dirty="0">
                <a:solidFill>
                  <a:srgbClr val="2563EB"/>
                </a:solidFill>
              </a:rPr>
              <a:t>テストプレイ → 公開
7</a:t>
            </a:r>
            <a:r>
              <a:rPr lang="en-US" altLang="ko-KR" sz="1300" dirty="0">
                <a:solidFill>
                  <a:srgbClr val="2563EB"/>
                </a:solidFill>
              </a:rPr>
              <a:t>.</a:t>
            </a:r>
            <a:r>
              <a:rPr lang="en-US" sz="1300" b="1" dirty="0">
                <a:solidFill>
                  <a:srgbClr val="3B82F6"/>
                </a:solidFill>
              </a:rPr>
              <a:t>人気世界観に成長 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3931920" cy="219456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5176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</a:rPr>
              <a:t>📌 実例: 「財閥学校」
</a:t>
            </a:r>
            <a:r>
              <a:rPr lang="en-US" sz="800" dirty="0">
                <a:solidFill>
                  <a:srgbClr val="3B82F6"/>
                </a:solidFill>
              </a:rPr>
              <a:t>━━━━━━━━━━━━━━
</a:t>
            </a:r>
            <a:r>
              <a:rPr lang="en-US" sz="1100" dirty="0">
                <a:solidFill>
                  <a:srgbClr val="333333"/>
                </a:solidFill>
              </a:rPr>
              <a:t>1. タイトル: 「青雲高等教育機関
   - 階級の学校」
2. ジャンル: 学園ロマンス、ドラマ
3. 世界観: 財閥・政治家・芸能人の
   子女だけの超特級学校
4. 登場人物8人: 各キャラクターの
   詳細な設定
5. AI指示: 「没入型学園ドラマ
   作家のように行動」
</a:t>
            </a:r>
            <a:r>
              <a:rPr lang="en-US" sz="1100" b="1" dirty="0">
                <a:solidFill>
                  <a:srgbClr val="3B82F6"/>
                </a:solidFill>
              </a:rPr>
              <a:t>6. 公開 → 完成！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EFF6F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286000" cy="22860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</a:rPr>
              <a:t>4. ソーシャル機能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95943" y="10972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7383" y="118872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❤️
</a:t>
            </a:r>
            <a:r>
              <a:rPr lang="en-US" sz="1600" b="1" dirty="0">
                <a:solidFill>
                  <a:srgbClr val="1E40AF"/>
                </a:solidFill>
              </a:rPr>
              <a:t>いいね
</a:t>
            </a:r>
            <a:r>
              <a:rPr lang="en-US" sz="800" dirty="0">
                <a:solidFill>
                  <a:srgbClr val="3B82F6"/>
                </a:solidFill>
              </a:rPr>
              <a:t>━━━
</a:t>
            </a:r>
            <a:r>
              <a:rPr lang="en-US" sz="1200" dirty="0">
                <a:solidFill>
                  <a:srgbClr val="333333"/>
                </a:solidFill>
              </a:rPr>
              <a:t>気に入ったキャラクターに</a:t>
            </a:r>
            <a:endParaRPr lang="en-US" sz="3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ハート表示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213463" y="10972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04903" y="118872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💬
</a:t>
            </a:r>
            <a:r>
              <a:rPr lang="en-US" sz="1600" b="1" dirty="0">
                <a:solidFill>
                  <a:srgbClr val="1E40AF"/>
                </a:solidFill>
              </a:rPr>
              <a:t>コメント
</a:t>
            </a:r>
            <a:r>
              <a:rPr lang="en-US" sz="800" dirty="0">
                <a:solidFill>
                  <a:srgbClr val="3B82F6"/>
                </a:solidFill>
              </a:rPr>
              <a:t>━━━
</a:t>
            </a:r>
            <a:r>
              <a:rPr lang="en-US" sz="1200" dirty="0">
                <a:solidFill>
                  <a:srgbClr val="333333"/>
                </a:solidFill>
              </a:rPr>
              <a:t>キャラクターについての</a:t>
            </a:r>
            <a:endParaRPr lang="en-US" sz="3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意見共有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6230983" y="10972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2423" y="118872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👥
</a:t>
            </a:r>
            <a:r>
              <a:rPr lang="en-US" sz="1600" b="1" dirty="0">
                <a:solidFill>
                  <a:srgbClr val="1E40AF"/>
                </a:solidFill>
              </a:rPr>
              <a:t>フォロー
</a:t>
            </a:r>
            <a:r>
              <a:rPr lang="en-US" sz="800" dirty="0">
                <a:solidFill>
                  <a:srgbClr val="3B82F6"/>
                </a:solidFill>
              </a:rPr>
              <a:t>━━━
</a:t>
            </a:r>
            <a:r>
              <a:rPr lang="en-US" sz="1200" dirty="0">
                <a:solidFill>
                  <a:srgbClr val="333333"/>
                </a:solidFill>
              </a:rPr>
              <a:t>好きな創作者を</a:t>
            </a:r>
            <a:endParaRPr lang="en-US" sz="3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フォロー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195943" y="31089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7383" y="320040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🔍
</a:t>
            </a:r>
            <a:r>
              <a:rPr lang="en-US" sz="1600" b="1" dirty="0">
                <a:solidFill>
                  <a:srgbClr val="1E40AF"/>
                </a:solidFill>
              </a:rPr>
              <a:t>検索
</a:t>
            </a:r>
            <a:r>
              <a:rPr lang="en-US" sz="800" dirty="0">
                <a:solidFill>
                  <a:srgbClr val="3B82F6"/>
                </a:solidFill>
              </a:rPr>
              <a:t>━━━
</a:t>
            </a:r>
            <a:r>
              <a:rPr lang="en-US" sz="1200" dirty="0">
                <a:solidFill>
                  <a:srgbClr val="333333"/>
                </a:solidFill>
              </a:rPr>
              <a:t>望むテーマの</a:t>
            </a:r>
            <a:endParaRPr lang="en-US" sz="3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キャラクターを検索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3213463" y="31089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04903" y="320040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🏆
</a:t>
            </a:r>
            <a:r>
              <a:rPr lang="en-US" sz="1600" b="1" dirty="0">
                <a:solidFill>
                  <a:srgbClr val="1E40AF"/>
                </a:solidFill>
              </a:rPr>
              <a:t>ランキング
</a:t>
            </a:r>
            <a:r>
              <a:rPr lang="en-US" sz="800" dirty="0">
                <a:solidFill>
                  <a:srgbClr val="3B82F6"/>
                </a:solidFill>
              </a:rPr>
              <a:t>━━━
</a:t>
            </a:r>
            <a:r>
              <a:rPr lang="en-US" sz="1200" dirty="0">
                <a:solidFill>
                  <a:srgbClr val="333333"/>
                </a:solidFill>
              </a:rPr>
              <a:t>人気キャラクターと</a:t>
            </a:r>
            <a:endParaRPr lang="en-US" sz="3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創作者順位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6230983" y="31089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2423" y="320040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🌐
</a:t>
            </a:r>
            <a:r>
              <a:rPr lang="en-US" sz="1600" b="1" dirty="0">
                <a:solidFill>
                  <a:srgbClr val="1E40AF"/>
                </a:solidFill>
              </a:rPr>
              <a:t>コミュニティ
</a:t>
            </a:r>
            <a:r>
              <a:rPr lang="en-US" sz="800" dirty="0">
                <a:solidFill>
                  <a:srgbClr val="3B82F6"/>
                </a:solidFill>
              </a:rPr>
              <a:t>━━━
</a:t>
            </a:r>
            <a:r>
              <a:rPr lang="en-US" sz="1200" dirty="0">
                <a:solidFill>
                  <a:srgbClr val="333333"/>
                </a:solidFill>
              </a:rPr>
              <a:t>創作者とユーザーの</a:t>
            </a:r>
            <a:endParaRPr lang="en-US" sz="3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活発な交流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EFF6F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286000" cy="22860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</a:rPr>
              <a:t>5. ポイントシステム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2111" y="9601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</a:rPr>
              <a:t>💰 ポイント使用
</a:t>
            </a:r>
            <a:r>
              <a:rPr lang="en-US" sz="800" dirty="0">
                <a:solidFill>
                  <a:srgbClr val="3B82F6"/>
                </a:solidFill>
              </a:rPr>
              <a:t>━━━━━━━━━
</a:t>
            </a:r>
            <a:r>
              <a:rPr lang="en-US" sz="1300" dirty="0">
                <a:solidFill>
                  <a:srgbClr val="333333"/>
                </a:solidFill>
              </a:rPr>
              <a:t>チャットするたびに
一定ポイント消費
</a:t>
            </a:r>
            <a:r>
              <a:rPr lang="en-US" sz="1200" i="1" dirty="0">
                <a:solidFill>
                  <a:srgbClr val="333333"/>
                </a:solidFill>
              </a:rPr>
              <a:t>カフェでコーヒーを飲むように、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333333"/>
                </a:solidFill>
              </a:rPr>
              <a:t>会話にポイント使用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114800" cy="182880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9974" y="992781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📥 ポイント獲得方法
</a:t>
            </a:r>
            <a:r>
              <a:rPr lang="en-US" sz="800" dirty="0">
                <a:solidFill>
                  <a:srgbClr val="3B82F6"/>
                </a:solidFill>
              </a:rPr>
              <a:t>━━━━━━━━━━━━
</a:t>
            </a:r>
            <a:r>
              <a:rPr lang="en-US" sz="1300" b="1" dirty="0">
                <a:solidFill>
                  <a:srgbClr val="3B82F6"/>
                </a:solidFill>
              </a:rPr>
              <a:t>1. 無料ポイント
</a:t>
            </a:r>
            <a:r>
              <a:rPr lang="en-US" sz="1200" dirty="0">
                <a:solidFill>
                  <a:srgbClr val="333333"/>
                </a:solidFill>
              </a:rPr>
              <a:t>   毎日出席、イベント参加
</a:t>
            </a:r>
            <a:r>
              <a:rPr lang="en-US" sz="1300" b="1" dirty="0">
                <a:solidFill>
                  <a:srgbClr val="3B82F6"/>
                </a:solidFill>
              </a:rPr>
              <a:t>2. 有料ポイント
</a:t>
            </a:r>
            <a:r>
              <a:rPr lang="en-US" sz="1200" dirty="0">
                <a:solidFill>
                  <a:srgbClr val="333333"/>
                </a:solidFill>
              </a:rPr>
              <a:t>   必要な時に購入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0896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40AF"/>
                </a:solidFill>
              </a:rPr>
              <a:t>✨ 公平なシステム
</a:t>
            </a:r>
            <a:r>
              <a:rPr lang="en-US" sz="800" dirty="0">
                <a:solidFill>
                  <a:srgbClr val="3B82F6"/>
                </a:solidFill>
              </a:rPr>
              <a:t>━━━━━━━━━━━━━━━━━━━━━━━━
</a:t>
            </a:r>
            <a:r>
              <a:rPr lang="en-US" sz="1400" dirty="0">
                <a:solidFill>
                  <a:srgbClr val="333333"/>
                </a:solidFill>
              </a:rPr>
              <a:t>• 無料ポイントを優先使用
• 無料でも十分に楽しめる
• もっと多く会話したい時だけ購入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EFF6F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286000" cy="22860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563EB"/>
                </a:solidFill>
              </a:rPr>
              <a:t>収益モデル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82880" y="868680"/>
            <a:ext cx="27432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868680"/>
            <a:ext cx="274320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1. ポイント販売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B82F6"/>
                </a:solidFill>
              </a:rPr>
              <a:t>(主な収益源)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965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• より多くの会話時に購入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2377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• 無料/有料ポイント混合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2788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• 無料ポイント優先消費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• 多様なパッケージ提供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868680"/>
            <a:ext cx="27432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868680"/>
            <a:ext cx="2743200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2. 世界観マーケット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91840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B82F6"/>
                </a:solidFill>
              </a:rPr>
              <a:t>(将来計画)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1965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• 人気創作者が有料販売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2377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• プラットフォーム手数料30%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2788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• 創作者に収益配分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• 創作者経済の活性化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868680"/>
            <a:ext cx="27432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868680"/>
            <a:ext cx="2743200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3. 広告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09360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B82F6"/>
                </a:solidFill>
              </a:rPr>
              <a:t>(補助収益)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1965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• 無料ユーザー対象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2377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• ゲーム/ウェブトゥーンなど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2788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• 関連コンテンツ広告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• 適切な広告表示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EFF6F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286000" cy="22860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63EB"/>
                </a:solidFill>
              </a:rPr>
              <a:t>市場機会 - なぜ今なのか？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🤖  AIブーム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• ChatGPT以降、AIへの大衆の関心爆発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• AIチャットボット市場は年平均30%成長予想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• 単純な会話を超えた創造的活用需要増加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🎨  創作者経済爆発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3383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• YouTube、TikTokなどで「誰もがクリエイター」時代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7033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• 技術障壁の低下: コーディング不要でAIコンテンツ制作可能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023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• 収益創出機会: 人気創作者は収入可能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343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• ウェブトゥーン/ウェブ小説市場とのシナジー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EFF6F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286000" cy="22860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</a:rPr>
              <a:t>市場機会 - なぜ今なのか？ (続き)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</a:rPr>
              <a:t>🎮  UGC(ユーザー制作コンテンツ)トレンド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3258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• Roblox、Minecraftのようにユーザーがコンテンツ制作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81912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• プラットフォームはツール提供、ユーザーが無限のコンテンツ生産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837944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• 自動拡張するエコシステム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31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</a:rPr>
              <a:t>💔  ソーシャルニーズ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26974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• コロナ以降、デジタルコミュニケーション増加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953512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• 孤独解消欲求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209544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• 新しいエンターテインメント需要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03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</a:rPr>
              <a:t>🌏  グローバル市場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40690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• 日本市場優先: AIチャットボットへの受容度高い、オタク文化発達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325112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• 言語別サービス拡張容易 (韓国、東南アジアなど)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581144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• 文化別カスタム世界観提供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837176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• アジア市場中心に拡張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EFF6F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286000" cy="22860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</a:rPr>
              <a:t>ターゲット顧客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822961"/>
            <a:ext cx="3931920" cy="2468878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972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🎮 プレイヤーとして
</a:t>
            </a:r>
            <a:r>
              <a:rPr lang="en-US" sz="800" dirty="0">
                <a:solidFill>
                  <a:srgbClr val="3B82F6"/>
                </a:solidFill>
              </a:rPr>
              <a:t>━━━━━━━━━━
</a:t>
            </a:r>
            <a:r>
              <a:rPr lang="en-US" sz="1300" b="1" dirty="0">
                <a:solidFill>
                  <a:srgbClr val="1E40AF"/>
                </a:solidFill>
              </a:rPr>
              <a:t>• 10代~30代
</a:t>
            </a:r>
            <a:r>
              <a:rPr lang="en-US" sz="1200" dirty="0">
                <a:solidFill>
                  <a:srgbClr val="333333"/>
                </a:solidFill>
              </a:rPr>
              <a:t>  新しいエンターテインメントを探す若い層
</a:t>
            </a:r>
            <a:r>
              <a:rPr lang="en-US" sz="1300" b="1" dirty="0">
                <a:solidFill>
                  <a:srgbClr val="1E40AF"/>
                </a:solidFill>
              </a:rPr>
              <a:t>• ゲーム/ウェブトゥーンファン
</a:t>
            </a:r>
            <a:r>
              <a:rPr lang="en-US" sz="1200" dirty="0">
                <a:solidFill>
                  <a:srgbClr val="333333"/>
                </a:solidFill>
              </a:rPr>
              <a:t>  好きな世界観でプレイしたい人々
</a:t>
            </a:r>
            <a:r>
              <a:rPr lang="en-US" sz="1300" b="1" dirty="0">
                <a:solidFill>
                  <a:srgbClr val="1E40AF"/>
                </a:solidFill>
              </a:rPr>
              <a:t>• 孤独を感じる人々
</a:t>
            </a:r>
            <a:r>
              <a:rPr lang="en-US" sz="1200" dirty="0">
                <a:solidFill>
                  <a:srgbClr val="333333"/>
                </a:solidFill>
              </a:rPr>
              <a:t>  AIとの会話で慰め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822961"/>
            <a:ext cx="4114800" cy="2468878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165859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🎨 創作者として
</a:t>
            </a:r>
            <a:r>
              <a:rPr lang="en-US" sz="800" dirty="0">
                <a:solidFill>
                  <a:srgbClr val="3B82F6"/>
                </a:solidFill>
              </a:rPr>
              <a:t>━━━━━━━━━━
</a:t>
            </a:r>
            <a:r>
              <a:rPr lang="en-US" sz="1200" b="1" dirty="0">
                <a:solidFill>
                  <a:srgbClr val="1E40AF"/>
                </a:solidFill>
              </a:rPr>
              <a:t>• ウェブトゥーン/ウェブ小説作家
</a:t>
            </a:r>
            <a:r>
              <a:rPr lang="en-US" sz="1100" dirty="0">
                <a:solidFill>
                  <a:srgbClr val="333333"/>
                </a:solidFill>
              </a:rPr>
              <a:t>  自分の作品をAI世界観に拡張
</a:t>
            </a:r>
            <a:r>
              <a:rPr lang="en-US" sz="1200" b="1" dirty="0">
                <a:solidFill>
                  <a:srgbClr val="1E40AF"/>
                </a:solidFill>
              </a:rPr>
              <a:t>• アマチュア作家
</a:t>
            </a:r>
            <a:r>
              <a:rPr lang="en-US" sz="1100" dirty="0">
                <a:solidFill>
                  <a:srgbClr val="333333"/>
                </a:solidFill>
              </a:rPr>
              <a:t>  自分の想像を現実にしたい人々
</a:t>
            </a:r>
            <a:r>
              <a:rPr lang="en-US" sz="1200" b="1" dirty="0">
                <a:solidFill>
                  <a:srgbClr val="1E40AF"/>
                </a:solidFill>
              </a:rPr>
              <a:t>• ゲーム企画者
</a:t>
            </a:r>
            <a:r>
              <a:rPr lang="en-US" sz="1100" dirty="0">
                <a:solidFill>
                  <a:srgbClr val="333333"/>
                </a:solidFill>
              </a:rPr>
              <a:t>  ゲームアイデアを簡単にプロトタイプ化
</a:t>
            </a:r>
            <a:r>
              <a:rPr lang="en-US" sz="1200" b="1" dirty="0">
                <a:solidFill>
                  <a:srgbClr val="1E40AF"/>
                </a:solidFill>
              </a:rPr>
              <a:t>• 一般創作者
</a:t>
            </a:r>
            <a:r>
              <a:rPr lang="en-US" sz="1100" dirty="0">
                <a:solidFill>
                  <a:srgbClr val="333333"/>
                </a:solidFill>
              </a:rPr>
              <a:t>  特別な技術なく創作したい誰でも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461656"/>
            <a:ext cx="8229600" cy="1384663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9184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</a:rPr>
              <a:t>📚 副ターゲット
</a:t>
            </a:r>
            <a:r>
              <a:rPr lang="en-US" sz="800" dirty="0">
                <a:solidFill>
                  <a:srgbClr val="3B82F6"/>
                </a:solidFill>
              </a:rPr>
              <a:t>━━━━━━━━━━━━━━━━━━━━━━━━
</a:t>
            </a:r>
            <a:r>
              <a:rPr lang="en-US" sz="1300" dirty="0">
                <a:solidFill>
                  <a:srgbClr val="333333"/>
                </a:solidFill>
              </a:rPr>
              <a:t>• 言語学習者: AIと会話しながら外国語練習
• 教育者: 歴史/文学などを楽しく教えるツール
• 心理カウンセリング: 安全な環境で感情表現練習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EFF6F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286000" cy="22860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</a:rPr>
              <a:t>競争優位性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41663" y="907869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103" y="999309"/>
            <a:ext cx="1920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🎨
</a:t>
            </a:r>
            <a:r>
              <a:rPr lang="en-US" sz="1300" b="1" dirty="0">
                <a:solidFill>
                  <a:srgbClr val="1E40AF"/>
                </a:solidFill>
              </a:rPr>
              <a:t>創作自由度
</a:t>
            </a:r>
            <a:r>
              <a:rPr lang="en-US" sz="800" dirty="0">
                <a:solidFill>
                  <a:srgbClr val="3B82F6"/>
                </a:solidFill>
              </a:rPr>
              <a:t>━━
</a:t>
            </a:r>
            <a:r>
              <a:rPr lang="en-US" sz="1000" dirty="0">
                <a:solidFill>
                  <a:srgbClr val="333333"/>
                </a:solidFill>
              </a:rPr>
              <a:t>複雑な世界観と多重キャラクターシステム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436223" y="907869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27663" y="999309"/>
            <a:ext cx="1920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📖
</a:t>
            </a:r>
            <a:r>
              <a:rPr lang="en-US" sz="1300" b="1" dirty="0">
                <a:solidFill>
                  <a:srgbClr val="1E40AF"/>
                </a:solidFill>
              </a:rPr>
              <a:t>ストーリーテリング
</a:t>
            </a:r>
            <a:r>
              <a:rPr lang="en-US" sz="800" dirty="0">
                <a:solidFill>
                  <a:srgbClr val="3B82F6"/>
                </a:solidFill>
              </a:rPr>
              <a:t>━━
</a:t>
            </a:r>
            <a:r>
              <a:rPr lang="en-US" sz="1000" dirty="0">
                <a:solidFill>
                  <a:srgbClr val="333333"/>
                </a:solidFill>
              </a:rPr>
              <a:t>単純な会話を超えた没入型叙事体験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630783" y="907869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2223" y="999309"/>
            <a:ext cx="1920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👤
</a:t>
            </a:r>
            <a:r>
              <a:rPr lang="en-US" sz="1300" b="1" dirty="0">
                <a:solidFill>
                  <a:srgbClr val="1E40AF"/>
                </a:solidFill>
              </a:rPr>
              <a:t>ペルソナシステム
</a:t>
            </a:r>
            <a:r>
              <a:rPr lang="en-US" sz="800" dirty="0">
                <a:solidFill>
                  <a:srgbClr val="3B82F6"/>
                </a:solidFill>
              </a:rPr>
              <a:t>━━
</a:t>
            </a:r>
            <a:r>
              <a:rPr lang="en-US" sz="1000" dirty="0">
                <a:solidFill>
                  <a:srgbClr val="333333"/>
                </a:solidFill>
              </a:rPr>
              <a:t>差別化されたカスタム体験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825343" y="907869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6783" y="999309"/>
            <a:ext cx="1920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
</a:t>
            </a:r>
            <a:r>
              <a:rPr lang="en-US" sz="1300" b="1" dirty="0">
                <a:solidFill>
                  <a:srgbClr val="1E40AF"/>
                </a:solidFill>
              </a:rPr>
              <a:t>コミュニティ
</a:t>
            </a:r>
            <a:r>
              <a:rPr lang="en-US" sz="800" dirty="0">
                <a:solidFill>
                  <a:srgbClr val="3B82F6"/>
                </a:solidFill>
              </a:rPr>
              <a:t>━━
</a:t>
            </a:r>
            <a:r>
              <a:rPr lang="en-US" sz="1000" dirty="0">
                <a:solidFill>
                  <a:srgbClr val="333333"/>
                </a:solidFill>
              </a:rPr>
              <a:t>創作者とユーザーの活発な交流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241663" y="2919549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103" y="3010989"/>
            <a:ext cx="1920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🔧
</a:t>
            </a:r>
            <a:r>
              <a:rPr lang="en-US" sz="1300" b="1" dirty="0">
                <a:solidFill>
                  <a:srgbClr val="1E40AF"/>
                </a:solidFill>
              </a:rPr>
              <a:t>高度設定
</a:t>
            </a:r>
            <a:r>
              <a:rPr lang="en-US" sz="800" dirty="0">
                <a:solidFill>
                  <a:srgbClr val="3B82F6"/>
                </a:solidFill>
              </a:rPr>
              <a:t>━━
</a:t>
            </a:r>
            <a:r>
              <a:rPr lang="en-US" sz="1000" dirty="0">
                <a:solidFill>
                  <a:srgbClr val="333333"/>
                </a:solidFill>
              </a:rPr>
              <a:t>登場人物、関係図、状態システムなど細かい設定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2436223" y="2919549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27663" y="3010989"/>
            <a:ext cx="1920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
</a:t>
            </a:r>
            <a:r>
              <a:rPr lang="en-US" sz="1300" b="1" dirty="0">
                <a:solidFill>
                  <a:srgbClr val="1E40AF"/>
                </a:solidFill>
              </a:rPr>
              <a:t>モバイル最適化
</a:t>
            </a:r>
            <a:r>
              <a:rPr lang="en-US" sz="800" dirty="0">
                <a:solidFill>
                  <a:srgbClr val="3B82F6"/>
                </a:solidFill>
              </a:rPr>
              <a:t>━━
</a:t>
            </a:r>
            <a:r>
              <a:rPr lang="en-US" sz="1000" dirty="0">
                <a:solidFill>
                  <a:srgbClr val="333333"/>
                </a:solidFill>
              </a:rPr>
              <a:t>いつでもどこでも利用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630783" y="2919549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2223" y="3010989"/>
            <a:ext cx="1920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🔒
</a:t>
            </a:r>
            <a:r>
              <a:rPr lang="en-US" sz="1300" b="1" dirty="0">
                <a:solidFill>
                  <a:srgbClr val="1E40AF"/>
                </a:solidFill>
              </a:rPr>
              <a:t>安全性
</a:t>
            </a:r>
            <a:r>
              <a:rPr lang="en-US" sz="800" dirty="0">
                <a:solidFill>
                  <a:srgbClr val="3B82F6"/>
                </a:solidFill>
              </a:rPr>
              <a:t>━━
</a:t>
            </a:r>
            <a:r>
              <a:rPr lang="en-US" sz="1000" dirty="0">
                <a:solidFill>
                  <a:srgbClr val="333333"/>
                </a:solidFill>
              </a:rPr>
              <a:t>徹底したコンテンツ管理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825343" y="2919549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16783" y="3010989"/>
            <a:ext cx="1920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🧠
</a:t>
            </a:r>
            <a:r>
              <a:rPr lang="en-US" sz="1300" b="1" dirty="0">
                <a:solidFill>
                  <a:srgbClr val="1E40AF"/>
                </a:solidFill>
              </a:rPr>
              <a:t>AI技術
</a:t>
            </a:r>
            <a:r>
              <a:rPr lang="en-US" sz="800" dirty="0">
                <a:solidFill>
                  <a:srgbClr val="3B82F6"/>
                </a:solidFill>
              </a:rPr>
              <a:t>━━
</a:t>
            </a:r>
            <a:r>
              <a:rPr lang="en-US" sz="1000" dirty="0">
                <a:solidFill>
                  <a:srgbClr val="333333"/>
                </a:solidFill>
              </a:rPr>
              <a:t>Google Gemini AI + ベクトルDB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EFF6F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286000" cy="22860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63EB"/>
                </a:solidFill>
              </a:rPr>
              <a:t>4段階成長ロードマップ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solidFill>
            <a:srgbClr val="3B82F6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97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1段階 </a:t>
            </a:r>
            <a:r>
              <a:rPr lang="en-US" sz="1100" i="1" dirty="0">
                <a:solidFill>
                  <a:srgbClr val="FFFFFF"/>
                </a:solidFill>
              </a:rPr>
              <a:t>(現在~3ヶ月)  </a:t>
            </a:r>
            <a:r>
              <a:rPr lang="en-US" sz="1300" b="1" dirty="0">
                <a:solidFill>
                  <a:srgbClr val="FFFFFF"/>
                </a:solidFill>
              </a:rPr>
              <a:t>🎯 1,000人  </a:t>
            </a:r>
            <a:r>
              <a:rPr lang="en-US" sz="1200" b="1" dirty="0">
                <a:solidFill>
                  <a:srgbClr val="FFFFFF"/>
                </a:solidFill>
              </a:rPr>
              <a:t>| 基盤構築 (日本)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• 核心機能開発完了 • ベータテスト進行 • 初期創作者コミュニティ形成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822960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57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2段階 </a:t>
            </a:r>
            <a:r>
              <a:rPr lang="en-US" sz="1100" i="1" dirty="0">
                <a:solidFill>
                  <a:srgbClr val="333333"/>
                </a:solidFill>
              </a:rPr>
              <a:t>(6ヶ月以内)  </a:t>
            </a:r>
            <a:r>
              <a:rPr lang="en-US" sz="1300" b="1" dirty="0">
                <a:solidFill>
                  <a:srgbClr val="3B82F6"/>
                </a:solidFill>
              </a:rPr>
              <a:t>🎯 1万人  </a:t>
            </a:r>
            <a:r>
              <a:rPr lang="en-US" sz="1200" b="1" dirty="0">
                <a:solidFill>
                  <a:srgbClr val="1E40AF"/>
                </a:solidFill>
              </a:rPr>
              <a:t>| PMF達成 (日本)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• 日本国内マーケティング • 日本のインフルエンサー協力 • 人気漫画/ライトノベル作家誘致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17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3段階 </a:t>
            </a:r>
            <a:r>
              <a:rPr lang="en-US" sz="1100" i="1" dirty="0">
                <a:solidFill>
                  <a:srgbClr val="333333"/>
                </a:solidFill>
              </a:rPr>
              <a:t>(1年以内)  </a:t>
            </a:r>
            <a:r>
              <a:rPr lang="en-US" sz="1300" b="1" dirty="0">
                <a:solidFill>
                  <a:srgbClr val="3B82F6"/>
                </a:solidFill>
              </a:rPr>
              <a:t>🎯 10万人  </a:t>
            </a:r>
            <a:r>
              <a:rPr lang="en-US" sz="1200" b="1" dirty="0">
                <a:solidFill>
                  <a:srgbClr val="1E40AF"/>
                </a:solidFill>
              </a:rPr>
              <a:t>| 成長加速 (日本)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• 大規模マーケティング実行 • IP(アイピー)パートナーシップ(アニメ、ゲーム) • 韓国市場進出準備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822960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977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4段階 </a:t>
            </a:r>
            <a:r>
              <a:rPr lang="en-US" sz="1100" i="1" dirty="0">
                <a:solidFill>
                  <a:srgbClr val="333333"/>
                </a:solidFill>
              </a:rPr>
              <a:t>(2年以内)  </a:t>
            </a:r>
            <a:r>
              <a:rPr lang="en-US" sz="1300" b="1" dirty="0">
                <a:solidFill>
                  <a:srgbClr val="3B82F6"/>
                </a:solidFill>
              </a:rPr>
              <a:t>🎯 50~100万人  </a:t>
            </a:r>
            <a:r>
              <a:rPr lang="en-US" sz="1200" b="1" dirty="0">
                <a:solidFill>
                  <a:srgbClr val="1E40AF"/>
                </a:solidFill>
              </a:rPr>
              <a:t>| グローバル拡張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• 多言語サービス拡大 • 海外市場進出(韓国、東南アジア) • グローバル版ローンチ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EFF6F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286000" cy="22860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</a:rPr>
              <a:t>技術的強み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42062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</a:rPr>
              <a:t>🚀  最新AI技術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✓ Google Gemini AI使用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✓ 自然で創造的な会話が可能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✓ 画像認識機能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914400"/>
            <a:ext cx="42062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</a:rPr>
              <a:t>🧠  高度なメモリーシステム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</a:rPr>
              <a:t>(開発中)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1463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✓ ベクトルデータベース(pgvector)使用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0" y="1783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✓ AIが長い会話内容も自動的に記憶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2103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✓ キャラクター別関係図と重要イベント記録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42062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017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</a:rPr>
              <a:t>⚡  拡張可能な構造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✓ 現代的なクラウド技術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794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✓ ユーザー急増にも安定的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114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✓ 速い応答速度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926080"/>
            <a:ext cx="42062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017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</a:rPr>
              <a:t>🔐  ユーザー安全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3474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✓ 不適切なコンテンツフィルタリング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3794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✓ 個人情報暗号化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4114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✓ 安全な決済システム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EFF6F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286000" cy="22860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63EB"/>
                </a:solidFill>
              </a:rPr>
              <a:t>💼 投資家の皆様へ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829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📈  </a:t>
            </a:r>
            <a:r>
              <a:rPr lang="en-US" sz="1300" b="1" dirty="0">
                <a:solidFill>
                  <a:srgbClr val="1E40AF"/>
                </a:solidFill>
              </a:rPr>
              <a:t>成長する市場
</a:t>
            </a:r>
            <a:r>
              <a:rPr lang="en-US" sz="1100" dirty="0">
                <a:solidFill>
                  <a:srgbClr val="333333"/>
                </a:solidFill>
              </a:rPr>
              <a:t>AIチャットボット市場は年平均30%成長予想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846320" y="91440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9829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🎯  </a:t>
            </a:r>
            <a:r>
              <a:rPr lang="en-US" sz="1300" b="1" dirty="0">
                <a:solidFill>
                  <a:srgbClr val="1E40AF"/>
                </a:solidFill>
              </a:rPr>
              <a:t>明確な収益モデル
</a:t>
            </a:r>
            <a:r>
              <a:rPr lang="en-US" sz="1100" dirty="0">
                <a:solidFill>
                  <a:srgbClr val="333333"/>
                </a:solidFill>
              </a:rPr>
              <a:t>ポイント販売 + マーケットプレイス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431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🚀  </a:t>
            </a:r>
            <a:r>
              <a:rPr lang="en-US" sz="1300" b="1" dirty="0">
                <a:solidFill>
                  <a:srgbClr val="1E40AF"/>
                </a:solidFill>
              </a:rPr>
              <a:t>拡張性
</a:t>
            </a:r>
            <a:r>
              <a:rPr lang="en-US" sz="1100" dirty="0">
                <a:solidFill>
                  <a:srgbClr val="333333"/>
                </a:solidFill>
              </a:rPr>
              <a:t>UGCモデルで無限のコンテンツ自動生産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846320" y="187452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9431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👥  </a:t>
            </a:r>
            <a:r>
              <a:rPr lang="en-US" sz="1300" b="1" dirty="0">
                <a:solidFill>
                  <a:srgbClr val="1E40AF"/>
                </a:solidFill>
              </a:rPr>
              <a:t>経験豊富なチーム
</a:t>
            </a:r>
            <a:r>
              <a:rPr lang="en-US" sz="1100" dirty="0">
                <a:solidFill>
                  <a:srgbClr val="333333"/>
                </a:solidFill>
              </a:rPr>
              <a:t>最新技術スタックとAI専門性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0322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💡  </a:t>
            </a:r>
            <a:r>
              <a:rPr lang="en-US" sz="1300" b="1" dirty="0">
                <a:solidFill>
                  <a:srgbClr val="1E40AF"/>
                </a:solidFill>
              </a:rPr>
              <a:t>現実的目標
</a:t>
            </a:r>
            <a:r>
              <a:rPr lang="en-US" sz="1100" dirty="0">
                <a:solidFill>
                  <a:srgbClr val="333333"/>
                </a:solidFill>
              </a:rPr>
              <a:t>日本市場 1,000人 → 1万人 → 10万人 → グローバル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90322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🎨  </a:t>
            </a:r>
            <a:r>
              <a:rPr lang="en-US" sz="1300" b="1" dirty="0">
                <a:solidFill>
                  <a:srgbClr val="1E40AF"/>
                </a:solidFill>
              </a:rPr>
              <a:t>UGCモデル
</a:t>
            </a:r>
            <a:r>
              <a:rPr lang="en-US" sz="1100" dirty="0">
                <a:solidFill>
                  <a:srgbClr val="333333"/>
                </a:solidFill>
              </a:rPr>
              <a:t>ユーザーが無限コンテンツ生産する生態系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6334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🌏  </a:t>
            </a:r>
            <a:r>
              <a:rPr lang="en-US" sz="1300" b="1" dirty="0">
                <a:solidFill>
                  <a:srgbClr val="1E40AF"/>
                </a:solidFill>
              </a:rPr>
              <a:t>市場戦略
</a:t>
            </a:r>
            <a:r>
              <a:rPr lang="en-US" sz="1100" dirty="0">
                <a:solidFill>
                  <a:srgbClr val="333333"/>
                </a:solidFill>
              </a:rPr>
              <a:t>日本 → 韓国 → 東南アジア順次進出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846320" y="379476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86334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🔧  </a:t>
            </a:r>
            <a:r>
              <a:rPr lang="en-US" sz="1300" b="1" dirty="0">
                <a:solidFill>
                  <a:srgbClr val="1E40AF"/>
                </a:solidFill>
              </a:rPr>
              <a:t>技術的強み
</a:t>
            </a:r>
            <a:r>
              <a:rPr lang="en-US" sz="1100" dirty="0">
                <a:solidFill>
                  <a:srgbClr val="333333"/>
                </a:solidFill>
              </a:rPr>
              <a:t>Google Gemini AI + ベクトルDB + 拡張可能な構造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3657600" cy="3657600"/>
          </a:xfrm>
          <a:prstGeom prst="ellipse">
            <a:avLst/>
          </a:prstGeom>
          <a:solidFill>
            <a:srgbClr val="60A5FA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ja-JP" altLang="en-US" sz="2800" b="1" dirty="0">
                <a:solidFill>
                  <a:srgbClr val="FFFFFF"/>
                </a:solidFill>
                <a:latin typeface="+mj-lt"/>
              </a:rPr>
              <a:t>ナモアイ</a:t>
            </a:r>
            <a:r>
              <a:rPr lang="en-US" altLang="ja-JP" sz="2800" b="1" dirty="0">
                <a:solidFill>
                  <a:srgbClr val="FFFFFF"/>
                </a:solidFill>
                <a:latin typeface="+mj-lt"/>
              </a:rPr>
              <a:t>(</a:t>
            </a:r>
            <a:r>
              <a:rPr lang="ja-JP" altLang="en-US" sz="2800" b="1" dirty="0">
                <a:solidFill>
                  <a:srgbClr val="FFFFFF"/>
                </a:solidFill>
                <a:latin typeface="+mj-lt"/>
              </a:rPr>
              <a:t>キャラクターチャット</a:t>
            </a:r>
            <a:r>
              <a:rPr lang="en-US" altLang="ja-JP" sz="2800" b="1" dirty="0">
                <a:solidFill>
                  <a:srgbClr val="FFFFFF"/>
                </a:solidFill>
                <a:latin typeface="+mj-lt"/>
              </a:rPr>
              <a:t>)</a:t>
            </a:r>
            <a:r>
              <a:rPr lang="ja-JP" altLang="en-US" sz="2800" b="1" dirty="0">
                <a:solidFill>
                  <a:srgbClr val="FFFFFF"/>
                </a:solidFill>
                <a:latin typeface="+mj-lt"/>
              </a:rPr>
              <a:t>のビジョン</a:t>
            </a:r>
            <a:endParaRPr lang="en-US" sz="2800" dirty="0">
              <a:latin typeface="+mj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371600" y="2011680"/>
            <a:ext cx="6400800" cy="1097280"/>
          </a:xfrm>
          <a:prstGeom prst="rect">
            <a:avLst/>
          </a:prstGeom>
          <a:solidFill>
            <a:srgbClr val="FFFFFF">
              <a:alpha val="8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219456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「すべての人が自分だけのAI友達と
会話する世界」</a:t>
            </a:r>
            <a:endParaRPr lang="en-US" sz="2400" dirty="0">
              <a:solidFill>
                <a:srgbClr val="2563EB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FF6FF"/>
                </a:solidFill>
              </a:rPr>
              <a:t>私たちは単純なチャットアプリを超えて、
新しい形態の</a:t>
            </a:r>
            <a:r>
              <a:rPr lang="en-US" sz="1600" b="1" dirty="0">
                <a:solidFill>
                  <a:srgbClr val="FFFFFF"/>
                </a:solidFill>
              </a:rPr>
              <a:t>デジタル関係と創作経済</a:t>
            </a:r>
            <a:r>
              <a:rPr lang="en-US" sz="1600" dirty="0">
                <a:solidFill>
                  <a:srgbClr val="EFF6FF"/>
                </a:solidFill>
              </a:rPr>
              <a:t>を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EFF6FF"/>
                </a:solidFill>
              </a:rPr>
              <a:t>作り上げています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FF6FF"/>
                </a:solidFill>
              </a:rPr>
              <a:t>ご清聴ありがとうございました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1446</Words>
  <Application>Microsoft Office PowerPoint</Application>
  <PresentationFormat>화면 슬라이드 쇼(16:9)</PresentationFormat>
  <Paragraphs>218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맑은 고딕</vt:lpstr>
      <vt:lpstr>Arial</vt:lpstr>
      <vt:lpstr>Calibri</vt:lpstr>
      <vt:lpstr>Calibri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ナモスチャット サービス説明書</dc:title>
  <dc:subject>AIキャラクター対話プラットフォーム</dc:subject>
  <dc:creator>Namos Chat Team</dc:creator>
  <cp:lastModifiedBy>park sengchur</cp:lastModifiedBy>
  <cp:revision>2</cp:revision>
  <dcterms:created xsi:type="dcterms:W3CDTF">2025-11-04T07:48:58Z</dcterms:created>
  <dcterms:modified xsi:type="dcterms:W3CDTF">2025-11-04T08:13:43Z</dcterms:modified>
</cp:coreProperties>
</file>
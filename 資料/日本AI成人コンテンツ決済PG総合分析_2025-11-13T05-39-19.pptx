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8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014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E50"/>
        </a:solidFill>
        <a:effectLst/>
      </p:bgPr>
    </p:bg>
    <p:spTree>
      <p:nvGrpSpPr>
        <p:cNvPr id="1" name=""/>
        <p:cNvGrpSpPr/>
        <p:nvPr/>
      </p:nvGrpSpPr>
      <p:grpSpPr>
        <a:xfrm>
          <a:off x="0" y="0"/>
          <a:ext cx="0" cy="0"/>
          <a:chOff x="0" y="0"/>
          <a:chExt cx="0" cy="0"/>
        </a:xfrm>
      </p:grpSpPr>
      <p:sp>
        <p:nvSpPr>
          <p:cNvPr id="2" name="Text 0"/>
          <p:cNvSpPr/>
          <p:nvPr/>
        </p:nvSpPr>
        <p:spPr>
          <a:xfrm>
            <a:off x="457200" y="1828800"/>
            <a:ext cx="8229600" cy="1371600"/>
          </a:xfrm>
          <a:prstGeom prst="rect">
            <a:avLst/>
          </a:prstGeom>
          <a:noFill/>
          <a:ln/>
        </p:spPr>
        <p:txBody>
          <a:bodyPr wrap="square" rtlCol="0" anchor="ctr"/>
          <a:lstStyle/>
          <a:p>
            <a:pPr marL="0" indent="0" algn="ctr">
              <a:buNone/>
            </a:pPr>
            <a:r>
              <a:rPr lang="en-US" sz="4000" b="1" dirty="0">
                <a:solidFill>
                  <a:srgbClr val="FFFFFF"/>
                </a:solidFill>
              </a:rPr>
              <a:t>日本AI成人コンテンツ</a:t>
            </a:r>
            <a:endParaRPr lang="en-US" sz="4000" dirty="0"/>
          </a:p>
          <a:p>
            <a:pPr marL="0" indent="0" algn="ctr">
              <a:buNone/>
            </a:pPr>
            <a:r>
              <a:rPr lang="en-US" sz="4000" b="1" dirty="0">
                <a:solidFill>
                  <a:srgbClr val="FFFFFF"/>
                </a:solidFill>
              </a:rPr>
              <a:t>決済PG総合分析</a:t>
            </a:r>
            <a:endParaRPr lang="en-US" sz="4000" dirty="0"/>
          </a:p>
        </p:txBody>
      </p:sp>
      <p:sp>
        <p:nvSpPr>
          <p:cNvPr id="3" name="Text 1"/>
          <p:cNvSpPr/>
          <p:nvPr/>
        </p:nvSpPr>
        <p:spPr>
          <a:xfrm>
            <a:off x="457200" y="3474720"/>
            <a:ext cx="8229600" cy="457200"/>
          </a:xfrm>
          <a:prstGeom prst="rect">
            <a:avLst/>
          </a:prstGeom>
          <a:noFill/>
          <a:ln/>
        </p:spPr>
        <p:txBody>
          <a:bodyPr wrap="square" rtlCol="0" anchor="ctr"/>
          <a:lstStyle/>
          <a:p>
            <a:pPr marL="0" indent="0" algn="ctr">
              <a:buNone/>
            </a:pPr>
            <a:r>
              <a:rPr lang="en-US" sz="2000" dirty="0">
                <a:solidFill>
                  <a:srgbClr val="ECF0F1"/>
                </a:solidFill>
              </a:rPr>
              <a:t>決済代行会社調査レポート</a:t>
            </a:r>
            <a:endParaRPr lang="en-US" sz="2000" dirty="0"/>
          </a:p>
        </p:txBody>
      </p:sp>
      <p:sp>
        <p:nvSpPr>
          <p:cNvPr id="4" name="Text 2"/>
          <p:cNvSpPr/>
          <p:nvPr/>
        </p:nvSpPr>
        <p:spPr>
          <a:xfrm>
            <a:off x="457200" y="5943600"/>
            <a:ext cx="8229600" cy="457200"/>
          </a:xfrm>
          <a:prstGeom prst="rect">
            <a:avLst/>
          </a:prstGeom>
          <a:noFill/>
          <a:ln/>
        </p:spPr>
        <p:txBody>
          <a:bodyPr wrap="square" rtlCol="0" anchor="ctr"/>
          <a:lstStyle/>
          <a:p>
            <a:pPr marL="0" indent="0" algn="ctr">
              <a:buNone/>
            </a:pPr>
            <a:r>
              <a:rPr lang="en-US" sz="1600" b="1" dirty="0">
                <a:solidFill>
                  <a:srgbClr val="E74C3C"/>
                </a:solidFill>
              </a:rPr>
              <a:t>【機密】</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エグゼクティブサマリー (1/2)</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現状認識</a:t>
            </a:r>
            <a:endParaRPr lang="en-US" sz="2400" dirty="0"/>
          </a:p>
        </p:txBody>
      </p:sp>
      <p:sp>
        <p:nvSpPr>
          <p:cNvPr id="4" name="Text 2"/>
          <p:cNvSpPr/>
          <p:nvPr/>
        </p:nvSpPr>
        <p:spPr>
          <a:xfrm>
            <a:off x="457200" y="1371600"/>
            <a:ext cx="8229600" cy="2286000"/>
          </a:xfrm>
          <a:prstGeom prst="rect">
            <a:avLst/>
          </a:prstGeom>
          <a:noFill/>
          <a:ln/>
        </p:spPr>
        <p:txBody>
          <a:bodyPr wrap="square" rtlCol="0" anchor="ctr"/>
          <a:lstStyle/>
          <a:p>
            <a:pPr marL="342900" indent="-342900">
              <a:lnSpc>
                <a:spcPts val="2200"/>
              </a:lnSpc>
              <a:buSzPct val="100000"/>
              <a:buChar char="•"/>
            </a:pPr>
            <a:r>
              <a:rPr lang="en-US" sz="1400" dirty="0">
                <a:solidFill>
                  <a:srgbClr val="2C3E50"/>
                </a:solidFill>
              </a:rPr>
              <a:t>「AIアダルトコンテンツ」は超ハイリスクカテゴリー</a:t>
            </a:r>
            <a:endParaRPr lang="en-US" sz="1400" dirty="0"/>
          </a:p>
          <a:p>
            <a:pPr marL="254000" indent="-254000">
              <a:lnSpc>
                <a:spcPts val="2200"/>
              </a:lnSpc>
              <a:buSzPct val="100000"/>
              <a:buChar char="•"/>
            </a:pPr>
            <a:r>
              <a:rPr lang="en-US" sz="1400" dirty="0">
                <a:solidFill>
                  <a:srgbClr val="2C3E50"/>
                </a:solidFill>
              </a:rPr>
              <a:t>アダルト自体が最高審査基準 + AI生成という新リスク</a:t>
            </a:r>
            <a:endParaRPr lang="en-US" sz="1400" dirty="0"/>
          </a:p>
          <a:p>
            <a:pPr marL="254000" indent="-254000">
              <a:lnSpc>
                <a:spcPts val="2200"/>
              </a:lnSpc>
              <a:buSzPct val="100000"/>
              <a:buChar char="•"/>
            </a:pPr>
            <a:r>
              <a:rPr lang="en-US" sz="1400" dirty="0">
                <a:solidFill>
                  <a:srgbClr val="2C3E50"/>
                </a:solidFill>
              </a:rPr>
              <a:t>FANZAもAI生成コンテンツを隔離対象に指定</a:t>
            </a:r>
            <a:endParaRPr lang="en-US" sz="1400" dirty="0"/>
          </a:p>
          <a:p>
            <a:pPr marL="342900" indent="-342900">
              <a:lnSpc>
                <a:spcPts val="2200"/>
              </a:lnSpc>
              <a:buSzPct val="100000"/>
              <a:buChar char="•"/>
            </a:pPr>
            <a:r>
              <a:rPr lang="en-US" sz="1400" dirty="0">
                <a:solidFill>
                  <a:srgbClr val="2C3E50"/>
                </a:solidFill>
              </a:rPr>
              <a:t>主要な課題</a:t>
            </a:r>
            <a:endParaRPr lang="en-US" sz="1400" dirty="0"/>
          </a:p>
          <a:p>
            <a:pPr marL="254000" indent="-254000">
              <a:lnSpc>
                <a:spcPts val="2200"/>
              </a:lnSpc>
              <a:buSzPct val="100000"/>
              <a:buChar char="•"/>
            </a:pPr>
            <a:r>
              <a:rPr lang="en-US" sz="1400" dirty="0">
                <a:solidFill>
                  <a:srgbClr val="2C3E50"/>
                </a:solidFill>
              </a:rPr>
              <a:t>技術連携ではなく「審査通過」が唯一の関門</a:t>
            </a:r>
            <a:endParaRPr lang="en-US" sz="1400" dirty="0"/>
          </a:p>
          <a:p>
            <a:pPr marL="254000" indent="-254000">
              <a:lnSpc>
                <a:spcPts val="2200"/>
              </a:lnSpc>
              <a:buSzPct val="100000"/>
              <a:buChar char="•"/>
            </a:pPr>
            <a:r>
              <a:rPr lang="en-US" sz="1400" dirty="0">
                <a:solidFill>
                  <a:srgbClr val="2C3E50"/>
                </a:solidFill>
              </a:rPr>
              <a:t>ディープフェイク、著作権、詐欺的コンテンツのリスク</a:t>
            </a:r>
            <a:endParaRPr lang="en-US" sz="1400" dirty="0"/>
          </a:p>
          <a:p>
            <a:pPr marL="254000" indent="-254000">
              <a:lnSpc>
                <a:spcPts val="2200"/>
              </a:lnSpc>
              <a:buSzPct val="100000"/>
              <a:buChar char="•"/>
            </a:pPr>
            <a:r>
              <a:rPr lang="en-US" sz="1400" dirty="0">
                <a:solidFill>
                  <a:srgbClr val="2C3E50"/>
                </a:solidFill>
              </a:rPr>
              <a:t>主要PG（GMO, VeriTrans）は即時拒否が予想される</a:t>
            </a:r>
            <a:endParaRPr lang="en-US" sz="1400" dirty="0"/>
          </a:p>
        </p:txBody>
      </p:sp>
      <p:sp>
        <p:nvSpPr>
          <p:cNvPr id="5" name="Text 3"/>
          <p:cNvSpPr/>
          <p:nvPr/>
        </p:nvSpPr>
        <p:spPr>
          <a:xfrm>
            <a:off x="457200" y="3840480"/>
            <a:ext cx="8229600" cy="365760"/>
          </a:xfrm>
          <a:prstGeom prst="rect">
            <a:avLst/>
          </a:prstGeom>
          <a:noFill/>
          <a:ln/>
        </p:spPr>
        <p:txBody>
          <a:bodyPr wrap="square" rtlCol="0" anchor="ctr"/>
          <a:lstStyle/>
          <a:p>
            <a:pPr marL="0" indent="0">
              <a:buNone/>
            </a:pPr>
            <a:r>
              <a:rPr lang="en-US" sz="2400" b="1" dirty="0">
                <a:solidFill>
                  <a:srgbClr val="3498DB"/>
                </a:solidFill>
              </a:rPr>
              <a:t>市場の現実</a:t>
            </a:r>
            <a:endParaRPr lang="en-US" sz="2400" dirty="0"/>
          </a:p>
        </p:txBody>
      </p:sp>
      <p:sp>
        <p:nvSpPr>
          <p:cNvPr id="6" name="Text 4"/>
          <p:cNvSpPr/>
          <p:nvPr/>
        </p:nvSpPr>
        <p:spPr>
          <a:xfrm>
            <a:off x="457200" y="4297680"/>
            <a:ext cx="8229600" cy="1371600"/>
          </a:xfrm>
          <a:prstGeom prst="rect">
            <a:avLst/>
          </a:prstGeom>
          <a:noFill/>
          <a:ln/>
        </p:spPr>
        <p:txBody>
          <a:bodyPr wrap="square" rtlCol="0" anchor="ctr"/>
          <a:lstStyle/>
          <a:p>
            <a:pPr marL="342900" indent="-342900">
              <a:lnSpc>
                <a:spcPts val="2200"/>
              </a:lnSpc>
              <a:buSzPct val="100000"/>
              <a:buChar char="•"/>
            </a:pPr>
            <a:r>
              <a:rPr lang="en-US" sz="1400" dirty="0">
                <a:solidFill>
                  <a:srgbClr val="2C3E50"/>
                </a:solidFill>
              </a:rPr>
              <a:t>Visa/Mastercardが成人向け決済を相次いで制限</a:t>
            </a:r>
            <a:endParaRPr lang="en-US" sz="1400" dirty="0"/>
          </a:p>
          <a:p>
            <a:pPr marL="342900" indent="-342900">
              <a:lnSpc>
                <a:spcPts val="2200"/>
              </a:lnSpc>
              <a:buSzPct val="100000"/>
              <a:buChar char="•"/>
            </a:pPr>
            <a:r>
              <a:rPr lang="en-US" sz="1400" dirty="0">
                <a:solidFill>
                  <a:srgbClr val="2C3E50"/>
                </a:solidFill>
              </a:rPr>
              <a:t>AI生成が「R18」とは別の新リスクカテゴリーとして浮上</a:t>
            </a:r>
            <a:endParaRPr lang="en-US" sz="1400" dirty="0"/>
          </a:p>
          <a:p>
            <a:pPr marL="342900" indent="-342900">
              <a:lnSpc>
                <a:spcPts val="2200"/>
              </a:lnSpc>
              <a:buSzPct val="100000"/>
              <a:buChar char="•"/>
            </a:pPr>
            <a:r>
              <a:rPr lang="en-US" sz="1400" dirty="0">
                <a:solidFill>
                  <a:srgbClr val="2C3E50"/>
                </a:solidFill>
              </a:rPr>
              <a:t>既存R18プラットフォームでさえAI対応に苦慮</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エグゼクティブサマリー (2/2)</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戦略的提言</a:t>
            </a:r>
            <a:endParaRPr lang="en-US" sz="2400" dirty="0"/>
          </a:p>
        </p:txBody>
      </p:sp>
      <p:sp>
        <p:nvSpPr>
          <p:cNvPr id="4" name="Text 2"/>
          <p:cNvSpPr/>
          <p:nvPr/>
        </p:nvSpPr>
        <p:spPr>
          <a:xfrm>
            <a:off x="457200" y="1371600"/>
            <a:ext cx="8229600" cy="2560320"/>
          </a:xfrm>
          <a:prstGeom prst="rect">
            <a:avLst/>
          </a:prstGeom>
          <a:noFill/>
          <a:ln/>
        </p:spPr>
        <p:txBody>
          <a:bodyPr wrap="square" rtlCol="0" anchor="ctr"/>
          <a:lstStyle/>
          <a:p>
            <a:pPr marL="342900" indent="-342900">
              <a:lnSpc>
                <a:spcPts val="2200"/>
              </a:lnSpc>
              <a:buSzPct val="100000"/>
              <a:buChar char="•"/>
            </a:pPr>
            <a:r>
              <a:rPr lang="en-US" sz="1400" dirty="0">
                <a:solidFill>
                  <a:srgbClr val="2C3E50"/>
                </a:solidFill>
              </a:rPr>
              <a:t>最も実現可能な経路</a:t>
            </a:r>
            <a:endParaRPr lang="en-US" sz="1400" dirty="0"/>
          </a:p>
          <a:p>
            <a:pPr marL="254000" indent="-254000">
              <a:lnSpc>
                <a:spcPts val="2200"/>
              </a:lnSpc>
              <a:buSzPct val="100000"/>
              <a:buChar char="•"/>
            </a:pPr>
            <a:r>
              <a:rPr lang="en-US" sz="1400" dirty="0">
                <a:solidFill>
                  <a:srgbClr val="2C3E50"/>
                </a:solidFill>
              </a:rPr>
              <a:t>ハイリスク専門PG（AXES Payment）を活用</a:t>
            </a:r>
            <a:endParaRPr lang="en-US" sz="1400" dirty="0"/>
          </a:p>
          <a:p>
            <a:pPr marL="254000" indent="-254000">
              <a:lnSpc>
                <a:spcPts val="2200"/>
              </a:lnSpc>
              <a:buSzPct val="100000"/>
              <a:buChar char="•"/>
            </a:pPr>
            <a:r>
              <a:rPr lang="en-US" sz="1400" dirty="0">
                <a:solidFill>
                  <a:srgbClr val="2C3E50"/>
                </a:solidFill>
              </a:rPr>
              <a:t>R18特化電子マネー（BitCash, C-CHECK）を優先導入</a:t>
            </a:r>
            <a:endParaRPr lang="en-US" sz="1400" dirty="0"/>
          </a:p>
          <a:p>
            <a:pPr marL="254000" indent="-254000">
              <a:lnSpc>
                <a:spcPts val="2200"/>
              </a:lnSpc>
              <a:buSzPct val="100000"/>
              <a:buChar char="•"/>
            </a:pPr>
            <a:r>
              <a:rPr lang="en-US" sz="1400" dirty="0">
                <a:solidFill>
                  <a:srgbClr val="2C3E50"/>
                </a:solidFill>
              </a:rPr>
              <a:t>キャリア決済は次善策（審査困難）</a:t>
            </a:r>
            <a:endParaRPr lang="en-US" sz="1400" dirty="0"/>
          </a:p>
          <a:p>
            <a:pPr marL="342900" indent="-342900">
              <a:lnSpc>
                <a:spcPts val="2200"/>
              </a:lnSpc>
              <a:buSzPct val="100000"/>
              <a:buChar char="•"/>
            </a:pPr>
            <a:r>
              <a:rPr lang="en-US" sz="1400" dirty="0">
                <a:solidFill>
                  <a:srgbClr val="2C3E50"/>
                </a:solidFill>
              </a:rPr>
              <a:t>導入禁止対象</a:t>
            </a:r>
            <a:endParaRPr lang="en-US" sz="1400" dirty="0"/>
          </a:p>
          <a:p>
            <a:pPr marL="254000" indent="-254000">
              <a:lnSpc>
                <a:spcPts val="2200"/>
              </a:lnSpc>
              <a:buSzPct val="100000"/>
              <a:buChar char="•"/>
            </a:pPr>
            <a:r>
              <a:rPr lang="en-US" sz="1400" dirty="0">
                <a:solidFill>
                  <a:srgbClr val="2C3E50"/>
                </a:solidFill>
              </a:rPr>
              <a:t>QR決済（PayPay, LINE Payなど）は絶対不可</a:t>
            </a:r>
            <a:endParaRPr lang="en-US" sz="1400" dirty="0"/>
          </a:p>
          <a:p>
            <a:pPr marL="254000" indent="-254000">
              <a:lnSpc>
                <a:spcPts val="2200"/>
              </a:lnSpc>
              <a:buSzPct val="100000"/>
              <a:buChar char="•"/>
            </a:pPr>
            <a:r>
              <a:rPr lang="en-US" sz="1400" dirty="0">
                <a:solidFill>
                  <a:srgbClr val="2C3E50"/>
                </a:solidFill>
              </a:rPr>
              <a:t>主要PG（GMO, VeriTrans）への申請は時間の無駄</a:t>
            </a:r>
            <a:endParaRPr lang="en-US" sz="1400" dirty="0"/>
          </a:p>
        </p:txBody>
      </p:sp>
      <p:sp>
        <p:nvSpPr>
          <p:cNvPr id="5" name="Text 3"/>
          <p:cNvSpPr/>
          <p:nvPr/>
        </p:nvSpPr>
        <p:spPr>
          <a:xfrm>
            <a:off x="457200" y="4114800"/>
            <a:ext cx="8229600" cy="365760"/>
          </a:xfrm>
          <a:prstGeom prst="rect">
            <a:avLst/>
          </a:prstGeom>
          <a:noFill/>
          <a:ln/>
        </p:spPr>
        <p:txBody>
          <a:bodyPr wrap="square" rtlCol="0" anchor="ctr"/>
          <a:lstStyle/>
          <a:p>
            <a:pPr marL="0" indent="0">
              <a:buNone/>
            </a:pPr>
            <a:r>
              <a:rPr lang="en-US" sz="2400" b="1" dirty="0">
                <a:solidFill>
                  <a:srgbClr val="3498DB"/>
                </a:solidFill>
              </a:rPr>
              <a:t>費用と期間の予想</a:t>
            </a:r>
            <a:endParaRPr lang="en-US" sz="2400" dirty="0"/>
          </a:p>
        </p:txBody>
      </p:sp>
      <p:sp>
        <p:nvSpPr>
          <p:cNvPr id="6" name="Text 4"/>
          <p:cNvSpPr/>
          <p:nvPr/>
        </p:nvSpPr>
        <p:spPr>
          <a:xfrm>
            <a:off x="457200" y="4572000"/>
            <a:ext cx="8229600" cy="1371600"/>
          </a:xfrm>
          <a:prstGeom prst="rect">
            <a:avLst/>
          </a:prstGeom>
          <a:noFill/>
          <a:ln/>
        </p:spPr>
        <p:txBody>
          <a:bodyPr wrap="square" rtlCol="0" anchor="ctr"/>
          <a:lstStyle/>
          <a:p>
            <a:pPr marL="342900" indent="-342900">
              <a:lnSpc>
                <a:spcPts val="2200"/>
              </a:lnSpc>
              <a:buSzPct val="100000"/>
              <a:buChar char="•"/>
            </a:pPr>
            <a:r>
              <a:rPr lang="en-US" sz="1400" dirty="0">
                <a:solidFill>
                  <a:srgbClr val="2C3E50"/>
                </a:solidFill>
              </a:rPr>
              <a:t>初期費用：50,000～300,000円（一般の「0円」は不適用）</a:t>
            </a:r>
            <a:endParaRPr lang="en-US" sz="1400" dirty="0"/>
          </a:p>
          <a:p>
            <a:pPr marL="342900" indent="-342900">
              <a:lnSpc>
                <a:spcPts val="2200"/>
              </a:lnSpc>
              <a:buSzPct val="100000"/>
              <a:buChar char="•"/>
            </a:pPr>
            <a:r>
              <a:rPr lang="en-US" sz="1400" dirty="0">
                <a:solidFill>
                  <a:srgbClr val="2C3E50"/>
                </a:solidFill>
              </a:rPr>
              <a:t>決済手数料：5～12%（ハイリスクプレミアム）</a:t>
            </a:r>
            <a:endParaRPr lang="en-US" sz="1400" dirty="0"/>
          </a:p>
          <a:p>
            <a:pPr marL="342900" indent="-342900">
              <a:lnSpc>
                <a:spcPts val="2200"/>
              </a:lnSpc>
              <a:buSzPct val="100000"/>
              <a:buChar char="•"/>
            </a:pPr>
            <a:r>
              <a:rPr lang="en-US" sz="1400" dirty="0">
                <a:solidFill>
                  <a:srgbClr val="2C3E50"/>
                </a:solidFill>
              </a:rPr>
              <a:t>審査期間：数週間～数ヶ月（最短1週間は非現実的）</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目次</a:t>
            </a:r>
            <a:endParaRPr lang="en-US" sz="1400" dirty="0"/>
          </a:p>
        </p:txBody>
      </p:sp>
      <p:sp>
        <p:nvSpPr>
          <p:cNvPr id="3" name="Text 1"/>
          <p:cNvSpPr/>
          <p:nvPr/>
        </p:nvSpPr>
        <p:spPr>
          <a:xfrm>
            <a:off x="914400" y="1097280"/>
            <a:ext cx="7315200" cy="4572000"/>
          </a:xfrm>
          <a:prstGeom prst="rect">
            <a:avLst/>
          </a:prstGeom>
          <a:noFill/>
          <a:ln/>
        </p:spPr>
        <p:txBody>
          <a:bodyPr wrap="square" rtlCol="0" anchor="ctr"/>
          <a:lstStyle/>
          <a:p>
            <a:pPr marL="342900" indent="-342900">
              <a:lnSpc>
                <a:spcPts val="3200"/>
              </a:lnSpc>
              <a:buSzPct val="100000"/>
              <a:buChar char="•"/>
            </a:pPr>
            <a:r>
              <a:rPr lang="en-US" sz="1600" dirty="0">
                <a:solidFill>
                  <a:srgbClr val="2C3E50"/>
                </a:solidFill>
              </a:rPr>
              <a:t>第1部：ハイリスク決済代行会社（PG）の特定と分析</a:t>
            </a:r>
            <a:endParaRPr lang="en-US" sz="1600" dirty="0"/>
          </a:p>
          <a:p>
            <a:pPr marL="342900" indent="-342900">
              <a:lnSpc>
                <a:spcPts val="3200"/>
              </a:lnSpc>
              <a:buSzPct val="100000"/>
              <a:buChar char="•"/>
            </a:pPr>
            <a:r>
              <a:rPr lang="en-US" sz="1600" dirty="0">
                <a:solidFill>
                  <a:srgbClr val="2C3E50"/>
                </a:solidFill>
              </a:rPr>
              <a:t>第2部：主要PG別 日本国内代替決済（DNC）提供状況</a:t>
            </a:r>
            <a:endParaRPr lang="en-US" sz="1600" dirty="0"/>
          </a:p>
          <a:p>
            <a:pPr marL="342900" indent="-342900">
              <a:lnSpc>
                <a:spcPts val="3200"/>
              </a:lnSpc>
              <a:buSzPct val="100000"/>
              <a:buChar char="•"/>
            </a:pPr>
            <a:r>
              <a:rPr lang="en-US" sz="1600" dirty="0">
                <a:solidFill>
                  <a:srgbClr val="2C3E50"/>
                </a:solidFill>
              </a:rPr>
              <a:t>第3部：DNC決済手段のAIアダルトコンテンツポリシー</a:t>
            </a:r>
            <a:endParaRPr lang="en-US" sz="1600" dirty="0"/>
          </a:p>
          <a:p>
            <a:pPr marL="342900" indent="-342900">
              <a:lnSpc>
                <a:spcPts val="3200"/>
              </a:lnSpc>
              <a:buSzPct val="100000"/>
              <a:buChar char="•"/>
            </a:pPr>
            <a:r>
              <a:rPr lang="en-US" sz="1600" dirty="0">
                <a:solidFill>
                  <a:srgbClr val="2C3E50"/>
                </a:solidFill>
              </a:rPr>
              <a:t>第4部：審査基準および初期費用</a:t>
            </a:r>
            <a:endParaRPr lang="en-US" sz="1600" dirty="0"/>
          </a:p>
          <a:p>
            <a:pPr marL="342900" indent="-342900">
              <a:lnSpc>
                <a:spcPts val="3200"/>
              </a:lnSpc>
              <a:buSzPct val="100000"/>
              <a:buChar char="•"/>
            </a:pPr>
            <a:r>
              <a:rPr lang="en-US" sz="1600" dirty="0">
                <a:solidFill>
                  <a:srgbClr val="2C3E50"/>
                </a:solidFill>
              </a:rPr>
              <a:t>第5部：申込手続きおよび技術連携</a:t>
            </a:r>
            <a:endParaRPr lang="en-US" sz="1600" dirty="0"/>
          </a:p>
          <a:p>
            <a:pPr marL="342900" indent="-342900">
              <a:lnSpc>
                <a:spcPts val="3200"/>
              </a:lnSpc>
              <a:buSzPct val="100000"/>
              <a:buChar char="•"/>
            </a:pPr>
            <a:r>
              <a:rPr lang="en-US" sz="1600" dirty="0">
                <a:solidFill>
                  <a:srgbClr val="2C3E50"/>
                </a:solidFill>
              </a:rPr>
              <a:t>第6部：最終実行可能性の評価と勧告</a:t>
            </a:r>
            <a:endParaRPr lang="en-US" sz="1600" dirty="0"/>
          </a:p>
          <a:p>
            <a:pPr marL="342900" indent="-342900">
              <a:lnSpc>
                <a:spcPts val="3200"/>
              </a:lnSpc>
              <a:buSzPct val="100000"/>
              <a:buChar char="•"/>
            </a:pPr>
            <a:r>
              <a:rPr lang="en-US" sz="1600" dirty="0">
                <a:solidFill>
                  <a:srgbClr val="2C3E50"/>
                </a:solidFill>
              </a:rPr>
              <a:t>第7部：国内成人向けコンテンツ対応PG詳細分析</a:t>
            </a:r>
            <a:endParaRPr lang="en-US" sz="1600" dirty="0"/>
          </a:p>
          <a:p>
            <a:pPr marL="342900" indent="-342900">
              <a:lnSpc>
                <a:spcPts val="3200"/>
              </a:lnSpc>
              <a:buSzPct val="100000"/>
              <a:buChar char="•"/>
            </a:pPr>
            <a:r>
              <a:rPr lang="en-US" sz="1600" dirty="0">
                <a:solidFill>
                  <a:srgbClr val="2C3E50"/>
                </a:solidFill>
              </a:rPr>
              <a:t>第8部：総合戦略提言</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第1部：ハイリスクPG分析 (1/4) - AXES Payment</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AXES Payment（株式会社AXES Payment）</a:t>
            </a:r>
            <a:endParaRPr lang="en-US" sz="2400" dirty="0"/>
          </a:p>
        </p:txBody>
      </p:sp>
      <p:sp>
        <p:nvSpPr>
          <p:cNvPr id="4" name="Text 2"/>
          <p:cNvSpPr/>
          <p:nvPr/>
        </p:nvSpPr>
        <p:spPr>
          <a:xfrm>
            <a:off x="7315200" y="914400"/>
            <a:ext cx="1371600" cy="365760"/>
          </a:xfrm>
          <a:prstGeom prst="rect">
            <a:avLst/>
          </a:prstGeom>
          <a:solidFill>
            <a:srgbClr val="27AE60"/>
          </a:solidFill>
          <a:ln/>
        </p:spPr>
        <p:txBody>
          <a:bodyPr wrap="square" rtlCol="0" anchor="ctr"/>
          <a:lstStyle/>
          <a:p>
            <a:pPr marL="0" indent="0" algn="ctr">
              <a:buNone/>
            </a:pPr>
            <a:r>
              <a:rPr lang="en-US" sz="1600" b="1" dirty="0">
                <a:solidFill>
                  <a:srgbClr val="FFFFFF"/>
                </a:solidFill>
              </a:rPr>
              <a:t>第1候補</a:t>
            </a:r>
            <a:endParaRPr lang="en-US" sz="1600" dirty="0"/>
          </a:p>
        </p:txBody>
      </p:sp>
      <p:sp>
        <p:nvSpPr>
          <p:cNvPr id="5" name="Text 3"/>
          <p:cNvSpPr/>
          <p:nvPr/>
        </p:nvSpPr>
        <p:spPr>
          <a:xfrm>
            <a:off x="457200" y="1463040"/>
            <a:ext cx="8229600" cy="4572000"/>
          </a:xfrm>
          <a:prstGeom prst="rect">
            <a:avLst/>
          </a:prstGeom>
          <a:noFill/>
          <a:ln/>
        </p:spPr>
        <p:txBody>
          <a:bodyPr wrap="square" rtlCol="0" anchor="ctr"/>
          <a:lstStyle/>
          <a:p>
            <a:pPr marL="342900" indent="-342900">
              <a:lnSpc>
                <a:spcPts val="2000"/>
              </a:lnSpc>
              <a:buSzPct val="100000"/>
              <a:buChar char="•"/>
            </a:pPr>
            <a:r>
              <a:rPr lang="en-US" sz="1300" dirty="0">
                <a:solidFill>
                  <a:srgbClr val="2C3E50"/>
                </a:solidFill>
              </a:rPr>
              <a:t>概要</a:t>
            </a:r>
            <a:endParaRPr lang="en-US" sz="1300" dirty="0"/>
          </a:p>
          <a:p>
            <a:pPr marL="254000" indent="-254000">
              <a:lnSpc>
                <a:spcPts val="2000"/>
              </a:lnSpc>
              <a:buSzPct val="100000"/>
              <a:buChar char="•"/>
            </a:pPr>
            <a:r>
              <a:rPr lang="en-US" sz="1300" dirty="0">
                <a:solidFill>
                  <a:srgbClr val="2C3E50"/>
                </a:solidFill>
              </a:rPr>
              <a:t>ハイリスクカテゴリー加盟店を専門的に扱うPG</a:t>
            </a:r>
            <a:endParaRPr lang="en-US" sz="1300" dirty="0"/>
          </a:p>
          <a:p>
            <a:pPr marL="342900" indent="-342900">
              <a:lnSpc>
                <a:spcPts val="2000"/>
              </a:lnSpc>
              <a:buSzPct val="100000"/>
              <a:buChar char="•"/>
            </a:pPr>
            <a:r>
              <a:rPr lang="en-US" sz="1300" dirty="0">
                <a:solidFill>
                  <a:srgbClr val="2C3E50"/>
                </a:solidFill>
              </a:rPr>
              <a:t>提供サービス</a:t>
            </a:r>
            <a:endParaRPr lang="en-US" sz="1300" dirty="0"/>
          </a:p>
          <a:p>
            <a:pPr marL="254000" indent="-254000">
              <a:lnSpc>
                <a:spcPts val="2000"/>
              </a:lnSpc>
              <a:buSzPct val="100000"/>
              <a:buChar char="•"/>
            </a:pPr>
            <a:r>
              <a:rPr lang="en-US" sz="1300" dirty="0">
                <a:solidFill>
                  <a:srgbClr val="2C3E50"/>
                </a:solidFill>
              </a:rPr>
              <a:t>3大キャリア決済（ソフトバンク、ドコモ、au）</a:t>
            </a:r>
            <a:endParaRPr lang="en-US" sz="1300" dirty="0"/>
          </a:p>
          <a:p>
            <a:pPr marL="254000" indent="-254000">
              <a:lnSpc>
                <a:spcPts val="2000"/>
              </a:lnSpc>
              <a:buSzPct val="100000"/>
              <a:buChar char="•"/>
            </a:pPr>
            <a:r>
              <a:rPr lang="en-US" sz="1300" dirty="0">
                <a:solidFill>
                  <a:srgbClr val="2C3E50"/>
                </a:solidFill>
              </a:rPr>
              <a:t>PayPayサポート</a:t>
            </a:r>
            <a:endParaRPr lang="en-US" sz="1300" dirty="0"/>
          </a:p>
          <a:p>
            <a:pPr marL="254000" indent="-254000">
              <a:lnSpc>
                <a:spcPts val="2000"/>
              </a:lnSpc>
              <a:buSzPct val="100000"/>
              <a:buChar char="•"/>
            </a:pPr>
            <a:r>
              <a:rPr lang="en-US" sz="1300" dirty="0">
                <a:solidFill>
                  <a:srgbClr val="2C3E50"/>
                </a:solidFill>
              </a:rPr>
              <a:t>電子マネー決済（BitCash対応可能性）</a:t>
            </a:r>
            <a:endParaRPr lang="en-US" sz="1300" dirty="0"/>
          </a:p>
          <a:p>
            <a:pPr marL="342900" indent="-342900">
              <a:lnSpc>
                <a:spcPts val="2000"/>
              </a:lnSpc>
              <a:buSzPct val="100000"/>
              <a:buChar char="•"/>
            </a:pPr>
            <a:r>
              <a:rPr lang="en-US" sz="1300" dirty="0">
                <a:solidFill>
                  <a:srgbClr val="2C3E50"/>
                </a:solidFill>
              </a:rPr>
              <a:t>強み</a:t>
            </a:r>
            <a:endParaRPr lang="en-US" sz="1300" dirty="0"/>
          </a:p>
          <a:p>
            <a:pPr marL="254000" indent="-254000">
              <a:lnSpc>
                <a:spcPts val="2000"/>
              </a:lnSpc>
              <a:buSzPct val="100000"/>
              <a:buChar char="•"/>
            </a:pPr>
            <a:r>
              <a:rPr lang="en-US" sz="1300" dirty="0">
                <a:solidFill>
                  <a:srgbClr val="2C3E50"/>
                </a:solidFill>
              </a:rPr>
              <a:t>ハイリスク加盟店向け構造化審査プロセス</a:t>
            </a:r>
            <a:endParaRPr lang="en-US" sz="1300" dirty="0"/>
          </a:p>
          <a:p>
            <a:pPr marL="254000" indent="-254000">
              <a:lnSpc>
                <a:spcPts val="2000"/>
              </a:lnSpc>
              <a:buSzPct val="100000"/>
              <a:buChar char="•"/>
            </a:pPr>
            <a:r>
              <a:rPr lang="en-US" sz="1300" dirty="0">
                <a:solidFill>
                  <a:srgbClr val="2C3E50"/>
                </a:solidFill>
              </a:rPr>
              <a:t>ヒアリング段階を含む手動レビュー体制</a:t>
            </a:r>
            <a:endParaRPr lang="en-US" sz="1300" dirty="0"/>
          </a:p>
          <a:p>
            <a:pPr marL="254000" indent="-254000">
              <a:lnSpc>
                <a:spcPts val="2000"/>
              </a:lnSpc>
              <a:buSzPct val="100000"/>
              <a:buChar char="•"/>
            </a:pPr>
            <a:r>
              <a:rPr lang="en-US" sz="1300" dirty="0">
                <a:solidFill>
                  <a:srgbClr val="2C3E50"/>
                </a:solidFill>
              </a:rPr>
              <a:t>法人書類提出を明確に要求</a:t>
            </a:r>
            <a:endParaRPr lang="en-US" sz="1300" dirty="0"/>
          </a:p>
          <a:p>
            <a:pPr marL="342900" indent="-342900">
              <a:lnSpc>
                <a:spcPts val="2000"/>
              </a:lnSpc>
              <a:buSzPct val="100000"/>
              <a:buChar char="•"/>
            </a:pPr>
            <a:r>
              <a:rPr lang="en-US" sz="1300" dirty="0">
                <a:solidFill>
                  <a:srgbClr val="2C3E50"/>
                </a:solidFill>
              </a:rPr>
              <a:t>重要確認事項</a:t>
            </a:r>
            <a:endParaRPr lang="en-US" sz="1300" dirty="0"/>
          </a:p>
          <a:p>
            <a:pPr marL="254000" indent="-254000">
              <a:lnSpc>
                <a:spcPts val="2000"/>
              </a:lnSpc>
              <a:buSzPct val="100000"/>
              <a:buChar char="•"/>
            </a:pPr>
            <a:r>
              <a:rPr lang="en-US" sz="1300" b="1" dirty="0">
                <a:solidFill>
                  <a:srgbClr val="E74C3C"/>
                </a:solidFill>
              </a:rPr>
              <a:t>BitCash/C-CHECK取扱可否を「ヒアリング」で必ず確認</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第1部：ハイリスクPG分析 (2/4) - GMO Payment Gateway</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GMO Payment Gateway</a:t>
            </a:r>
            <a:endParaRPr lang="en-US" sz="2400" dirty="0"/>
          </a:p>
        </p:txBody>
      </p:sp>
      <p:sp>
        <p:nvSpPr>
          <p:cNvPr id="4" name="Text 2"/>
          <p:cNvSpPr/>
          <p:nvPr/>
        </p:nvSpPr>
        <p:spPr>
          <a:xfrm>
            <a:off x="7315200" y="914400"/>
            <a:ext cx="1371600" cy="365760"/>
          </a:xfrm>
          <a:prstGeom prst="rect">
            <a:avLst/>
          </a:prstGeom>
          <a:solidFill>
            <a:srgbClr val="C0392B"/>
          </a:solidFill>
          <a:ln/>
        </p:spPr>
        <p:txBody>
          <a:bodyPr wrap="square" rtlCol="0" anchor="ctr"/>
          <a:lstStyle/>
          <a:p>
            <a:pPr marL="0" indent="0" algn="ctr">
              <a:buNone/>
            </a:pPr>
            <a:r>
              <a:rPr lang="en-US" sz="1600" b="1" dirty="0">
                <a:solidFill>
                  <a:srgbClr val="FFFFFF"/>
                </a:solidFill>
              </a:rPr>
              <a:t>不推奨</a:t>
            </a:r>
            <a:endParaRPr lang="en-US" sz="1600" dirty="0"/>
          </a:p>
        </p:txBody>
      </p:sp>
      <p:sp>
        <p:nvSpPr>
          <p:cNvPr id="5" name="Text 3"/>
          <p:cNvSpPr/>
          <p:nvPr/>
        </p:nvSpPr>
        <p:spPr>
          <a:xfrm>
            <a:off x="457200" y="1463040"/>
            <a:ext cx="8229600" cy="4572000"/>
          </a:xfrm>
          <a:prstGeom prst="rect">
            <a:avLst/>
          </a:prstGeom>
          <a:noFill/>
          <a:ln/>
        </p:spPr>
        <p:txBody>
          <a:bodyPr wrap="square" rtlCol="0" anchor="ctr"/>
          <a:lstStyle/>
          <a:p>
            <a:pPr marL="342900" indent="-342900">
              <a:lnSpc>
                <a:spcPts val="2000"/>
              </a:lnSpc>
              <a:buSzPct val="100000"/>
              <a:buChar char="•"/>
            </a:pPr>
            <a:r>
              <a:rPr lang="en-US" sz="1300" dirty="0">
                <a:solidFill>
                  <a:srgbClr val="2C3E50"/>
                </a:solidFill>
              </a:rPr>
              <a:t>概要</a:t>
            </a:r>
            <a:endParaRPr lang="en-US" sz="1300" dirty="0"/>
          </a:p>
          <a:p>
            <a:pPr marL="254000" indent="-254000">
              <a:lnSpc>
                <a:spcPts val="2000"/>
              </a:lnSpc>
              <a:buSzPct val="100000"/>
              <a:buChar char="•"/>
            </a:pPr>
            <a:r>
              <a:rPr lang="en-US" sz="1300" dirty="0">
                <a:solidFill>
                  <a:srgbClr val="2C3E50"/>
                </a:solidFill>
              </a:rPr>
              <a:t>日本最大級の総合PG</a:t>
            </a:r>
            <a:endParaRPr lang="en-US" sz="1300" dirty="0"/>
          </a:p>
          <a:p>
            <a:pPr marL="254000" indent="-254000">
              <a:lnSpc>
                <a:spcPts val="2000"/>
              </a:lnSpc>
              <a:buSzPct val="100000"/>
              <a:buChar char="•"/>
            </a:pPr>
            <a:r>
              <a:rPr lang="en-US" sz="1300" dirty="0">
                <a:solidFill>
                  <a:srgbClr val="2C3E50"/>
                </a:solidFill>
              </a:rPr>
              <a:t>スタートアップから大企業まで幅広い市場対象</a:t>
            </a:r>
            <a:endParaRPr lang="en-US" sz="1300" dirty="0"/>
          </a:p>
          <a:p>
            <a:pPr marL="342900" indent="-342900">
              <a:lnSpc>
                <a:spcPts val="2000"/>
              </a:lnSpc>
              <a:buSzPct val="100000"/>
              <a:buChar char="•"/>
            </a:pPr>
            <a:r>
              <a:rPr lang="en-US" sz="1300" dirty="0">
                <a:solidFill>
                  <a:srgbClr val="2C3E50"/>
                </a:solidFill>
              </a:rPr>
              <a:t>提供サービス</a:t>
            </a:r>
            <a:endParaRPr lang="en-US" sz="1300" dirty="0"/>
          </a:p>
          <a:p>
            <a:pPr marL="254000" indent="-254000">
              <a:lnSpc>
                <a:spcPts val="2000"/>
              </a:lnSpc>
              <a:buSzPct val="100000"/>
              <a:buChar char="•"/>
            </a:pPr>
            <a:r>
              <a:rPr lang="en-US" sz="1300" dirty="0">
                <a:solidFill>
                  <a:srgbClr val="2C3E50"/>
                </a:solidFill>
              </a:rPr>
              <a:t>d払い、PayPay、楽天ペイ</a:t>
            </a:r>
            <a:endParaRPr lang="en-US" sz="1300" dirty="0"/>
          </a:p>
          <a:p>
            <a:pPr marL="254000" indent="-254000">
              <a:lnSpc>
                <a:spcPts val="2000"/>
              </a:lnSpc>
              <a:buSzPct val="100000"/>
              <a:buChar char="•"/>
            </a:pPr>
            <a:r>
              <a:rPr lang="en-US" sz="1300" dirty="0">
                <a:solidFill>
                  <a:srgbClr val="2C3E50"/>
                </a:solidFill>
              </a:rPr>
              <a:t>WebMoneyを提供</a:t>
            </a:r>
            <a:endParaRPr lang="en-US" sz="1300" dirty="0"/>
          </a:p>
          <a:p>
            <a:pPr marL="342900" indent="-342900">
              <a:lnSpc>
                <a:spcPts val="2000"/>
              </a:lnSpc>
              <a:buSzPct val="100000"/>
              <a:buChar char="•"/>
            </a:pPr>
            <a:r>
              <a:rPr lang="en-US" sz="1300" dirty="0">
                <a:solidFill>
                  <a:srgbClr val="2C3E50"/>
                </a:solidFill>
              </a:rPr>
              <a:t>決定的な欠落</a:t>
            </a:r>
            <a:endParaRPr lang="en-US" sz="1300" dirty="0"/>
          </a:p>
          <a:p>
            <a:pPr marL="254000" indent="-254000">
              <a:lnSpc>
                <a:spcPts val="2000"/>
              </a:lnSpc>
              <a:buSzPct val="100000"/>
              <a:buChar char="•"/>
            </a:pPr>
            <a:r>
              <a:rPr lang="en-US" sz="1300" b="1" dirty="0">
                <a:solidFill>
                  <a:srgbClr val="C0392B"/>
                </a:solidFill>
              </a:rPr>
              <a:t>BitCashとC-CHECKが公式リストに無い</a:t>
            </a:r>
            <a:endParaRPr lang="en-US" sz="1300" dirty="0"/>
          </a:p>
          <a:p>
            <a:pPr marL="254000" indent="-254000">
              <a:lnSpc>
                <a:spcPts val="2000"/>
              </a:lnSpc>
              <a:buSzPct val="100000"/>
              <a:buChar char="•"/>
            </a:pPr>
            <a:r>
              <a:rPr lang="en-US" sz="1300" dirty="0">
                <a:solidFill>
                  <a:srgbClr val="2C3E50"/>
                </a:solidFill>
              </a:rPr>
              <a:t>R18デジタルコンテンツ市場を積極誘致していない証拠</a:t>
            </a:r>
            <a:endParaRPr lang="en-US" sz="1300" dirty="0"/>
          </a:p>
          <a:p>
            <a:pPr marL="342900" indent="-342900">
              <a:lnSpc>
                <a:spcPts val="2000"/>
              </a:lnSpc>
              <a:buSzPct val="100000"/>
              <a:buChar char="•"/>
            </a:pPr>
            <a:r>
              <a:rPr lang="en-US" sz="1300" dirty="0">
                <a:solidFill>
                  <a:srgbClr val="2C3E50"/>
                </a:solidFill>
              </a:rPr>
              <a:t>結論</a:t>
            </a:r>
            <a:endParaRPr lang="en-US" sz="1300" dirty="0"/>
          </a:p>
          <a:p>
            <a:pPr marL="254000" indent="-254000">
              <a:lnSpc>
                <a:spcPts val="2000"/>
              </a:lnSpc>
              <a:buSzPct val="100000"/>
              <a:buChar char="•"/>
            </a:pPr>
            <a:r>
              <a:rPr lang="en-US" sz="1300" b="1" dirty="0">
                <a:solidFill>
                  <a:srgbClr val="C0392B"/>
                </a:solidFill>
              </a:rPr>
              <a:t>AIアダルトチャットの審査拒否確率が非常に高い</a:t>
            </a:r>
            <a:endParaRPr lang="en-US" sz="1300" dirty="0"/>
          </a:p>
          <a:p>
            <a:pPr marL="254000" indent="-254000">
              <a:lnSpc>
                <a:spcPts val="2000"/>
              </a:lnSpc>
              <a:buSzPct val="100000"/>
              <a:buChar char="•"/>
            </a:pPr>
            <a:r>
              <a:rPr lang="en-US" sz="1300" dirty="0">
                <a:solidFill>
                  <a:srgbClr val="C0392B"/>
                </a:solidFill>
              </a:rPr>
              <a:t>申請自体が時間の無駄</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第1部：ハイリスクPG分析 (3/4) - VeriTrans</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000" b="1" dirty="0">
                <a:solidFill>
                  <a:srgbClr val="3498DB"/>
                </a:solidFill>
              </a:rPr>
              <a:t>VeriTrans（株式会社DGフィナンシャルテクノロジー）</a:t>
            </a:r>
            <a:endParaRPr lang="en-US" sz="2000" dirty="0"/>
          </a:p>
        </p:txBody>
      </p:sp>
      <p:sp>
        <p:nvSpPr>
          <p:cNvPr id="4" name="Text 2"/>
          <p:cNvSpPr/>
          <p:nvPr/>
        </p:nvSpPr>
        <p:spPr>
          <a:xfrm>
            <a:off x="7315200" y="914400"/>
            <a:ext cx="1371600" cy="365760"/>
          </a:xfrm>
          <a:prstGeom prst="rect">
            <a:avLst/>
          </a:prstGeom>
          <a:solidFill>
            <a:srgbClr val="C0392B"/>
          </a:solidFill>
          <a:ln/>
        </p:spPr>
        <p:txBody>
          <a:bodyPr wrap="square" rtlCol="0" anchor="ctr"/>
          <a:lstStyle/>
          <a:p>
            <a:pPr marL="0" indent="0" algn="ctr">
              <a:buNone/>
            </a:pPr>
            <a:r>
              <a:rPr lang="en-US" sz="1600" b="1" dirty="0">
                <a:solidFill>
                  <a:srgbClr val="FFFFFF"/>
                </a:solidFill>
              </a:rPr>
              <a:t>不推奨</a:t>
            </a:r>
            <a:endParaRPr lang="en-US" sz="1600" dirty="0"/>
          </a:p>
        </p:txBody>
      </p:sp>
      <p:sp>
        <p:nvSpPr>
          <p:cNvPr id="5" name="Text 3"/>
          <p:cNvSpPr/>
          <p:nvPr/>
        </p:nvSpPr>
        <p:spPr>
          <a:xfrm>
            <a:off x="457200" y="1463040"/>
            <a:ext cx="8229600" cy="4572000"/>
          </a:xfrm>
          <a:prstGeom prst="rect">
            <a:avLst/>
          </a:prstGeom>
          <a:noFill/>
          <a:ln/>
        </p:spPr>
        <p:txBody>
          <a:bodyPr wrap="square" rtlCol="0" anchor="ctr"/>
          <a:lstStyle/>
          <a:p>
            <a:pPr marL="342900" indent="-342900">
              <a:lnSpc>
                <a:spcPts val="2000"/>
              </a:lnSpc>
              <a:buSzPct val="100000"/>
              <a:buChar char="•"/>
            </a:pPr>
            <a:r>
              <a:rPr lang="en-US" sz="1300" dirty="0">
                <a:solidFill>
                  <a:srgbClr val="2C3E50"/>
                </a:solidFill>
              </a:rPr>
              <a:t>概要</a:t>
            </a:r>
            <a:endParaRPr lang="en-US" sz="1300" dirty="0"/>
          </a:p>
          <a:p>
            <a:pPr marL="254000" indent="-254000">
              <a:lnSpc>
                <a:spcPts val="2000"/>
              </a:lnSpc>
              <a:buSzPct val="100000"/>
              <a:buChar char="•"/>
            </a:pPr>
            <a:r>
              <a:rPr lang="en-US" sz="1300" dirty="0">
                <a:solidFill>
                  <a:srgbClr val="2C3E50"/>
                </a:solidFill>
              </a:rPr>
              <a:t>信頼性重視の大手総合PG</a:t>
            </a:r>
            <a:endParaRPr lang="en-US" sz="1300" dirty="0"/>
          </a:p>
          <a:p>
            <a:pPr marL="254000" indent="-254000">
              <a:lnSpc>
                <a:spcPts val="2000"/>
              </a:lnSpc>
              <a:buSzPct val="100000"/>
              <a:buChar char="•"/>
            </a:pPr>
            <a:r>
              <a:rPr lang="en-US" sz="1300" dirty="0">
                <a:solidFill>
                  <a:srgbClr val="2C3E50"/>
                </a:solidFill>
              </a:rPr>
              <a:t>VeriTrans4Gソリューション</a:t>
            </a:r>
            <a:endParaRPr lang="en-US" sz="1300" dirty="0"/>
          </a:p>
          <a:p>
            <a:pPr marL="342900" indent="-342900">
              <a:lnSpc>
                <a:spcPts val="2000"/>
              </a:lnSpc>
              <a:buSzPct val="100000"/>
              <a:buChar char="•"/>
            </a:pPr>
            <a:r>
              <a:rPr lang="en-US" sz="1300" dirty="0">
                <a:solidFill>
                  <a:srgbClr val="2C3E50"/>
                </a:solidFill>
              </a:rPr>
              <a:t>提供サービス</a:t>
            </a:r>
            <a:endParaRPr lang="en-US" sz="1300" dirty="0"/>
          </a:p>
          <a:p>
            <a:pPr marL="254000" indent="-254000">
              <a:lnSpc>
                <a:spcPts val="2000"/>
              </a:lnSpc>
              <a:buSzPct val="100000"/>
              <a:buChar char="•"/>
            </a:pPr>
            <a:r>
              <a:rPr lang="en-US" sz="1300" dirty="0">
                <a:solidFill>
                  <a:srgbClr val="2C3E50"/>
                </a:solidFill>
              </a:rPr>
              <a:t>PayPay、楽天ペイなど多様なID決済</a:t>
            </a:r>
            <a:endParaRPr lang="en-US" sz="1300" dirty="0"/>
          </a:p>
          <a:p>
            <a:pPr marL="254000" indent="-254000">
              <a:lnSpc>
                <a:spcPts val="2000"/>
              </a:lnSpc>
              <a:buSzPct val="100000"/>
              <a:buChar char="•"/>
            </a:pPr>
            <a:r>
              <a:rPr lang="en-US" sz="1300" dirty="0">
                <a:solidFill>
                  <a:srgbClr val="2C3E50"/>
                </a:solidFill>
              </a:rPr>
              <a:t>3大キャリア決済をサポート</a:t>
            </a:r>
            <a:endParaRPr lang="en-US" sz="1300" dirty="0"/>
          </a:p>
          <a:p>
            <a:pPr marL="342900" indent="-342900">
              <a:lnSpc>
                <a:spcPts val="2000"/>
              </a:lnSpc>
              <a:buSzPct val="100000"/>
              <a:buChar char="•"/>
            </a:pPr>
            <a:r>
              <a:rPr lang="en-US" sz="1300" dirty="0">
                <a:solidFill>
                  <a:srgbClr val="2C3E50"/>
                </a:solidFill>
              </a:rPr>
              <a:t>ブランド戦略</a:t>
            </a:r>
            <a:endParaRPr lang="en-US" sz="1300" dirty="0"/>
          </a:p>
          <a:p>
            <a:pPr marL="254000" indent="-254000">
              <a:lnSpc>
                <a:spcPts val="2000"/>
              </a:lnSpc>
              <a:buSzPct val="100000"/>
              <a:buChar char="•"/>
            </a:pPr>
            <a:r>
              <a:rPr lang="en-US" sz="1300" dirty="0">
                <a:solidFill>
                  <a:srgbClr val="2C3E50"/>
                </a:solidFill>
              </a:rPr>
              <a:t>「初期費用0円～」は低リスク加盟店向けプロモーション</a:t>
            </a:r>
            <a:endParaRPr lang="en-US" sz="1300" dirty="0"/>
          </a:p>
          <a:p>
            <a:pPr marL="254000" indent="-254000">
              <a:lnSpc>
                <a:spcPts val="2000"/>
              </a:lnSpc>
              <a:buSzPct val="100000"/>
              <a:buChar char="•"/>
            </a:pPr>
            <a:r>
              <a:rPr lang="en-US" sz="1300" dirty="0">
                <a:solidFill>
                  <a:srgbClr val="2C3E50"/>
                </a:solidFill>
              </a:rPr>
              <a:t>セキュリティ、信頼性、規模を強調</a:t>
            </a:r>
            <a:endParaRPr lang="en-US" sz="1300" dirty="0"/>
          </a:p>
          <a:p>
            <a:pPr marL="254000" indent="-254000">
              <a:lnSpc>
                <a:spcPts val="2000"/>
              </a:lnSpc>
              <a:buSzPct val="100000"/>
              <a:buChar char="•"/>
            </a:pPr>
            <a:r>
              <a:rPr lang="en-US" sz="1300" dirty="0">
                <a:solidFill>
                  <a:srgbClr val="2C3E50"/>
                </a:solidFill>
              </a:rPr>
              <a:t>ブランドリスク回避の傾向</a:t>
            </a:r>
            <a:endParaRPr lang="en-US" sz="1300" dirty="0"/>
          </a:p>
          <a:p>
            <a:pPr marL="342900" indent="-342900">
              <a:lnSpc>
                <a:spcPts val="2000"/>
              </a:lnSpc>
              <a:buSzPct val="100000"/>
              <a:buChar char="•"/>
            </a:pPr>
            <a:r>
              <a:rPr lang="en-US" sz="1300" dirty="0">
                <a:solidFill>
                  <a:srgbClr val="2C3E50"/>
                </a:solidFill>
              </a:rPr>
              <a:t>結論</a:t>
            </a:r>
            <a:endParaRPr lang="en-US" sz="1300" dirty="0"/>
          </a:p>
          <a:p>
            <a:pPr marL="254000" indent="-254000">
              <a:lnSpc>
                <a:spcPts val="2000"/>
              </a:lnSpc>
              <a:buSzPct val="100000"/>
              <a:buChar char="•"/>
            </a:pPr>
            <a:r>
              <a:rPr lang="en-US" sz="1300" dirty="0">
                <a:solidFill>
                  <a:srgbClr val="C0392B"/>
                </a:solidFill>
              </a:rPr>
              <a:t>技術的には可能だが、AIアダルトチャット承認の可能性ほぼ無し</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第1部：ハイリスクPG分析 (4/4) - Metaps Payment</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Metaps Payment（メタップスペイメント）</a:t>
            </a:r>
            <a:endParaRPr lang="en-US" sz="2400" dirty="0"/>
          </a:p>
        </p:txBody>
      </p:sp>
      <p:sp>
        <p:nvSpPr>
          <p:cNvPr id="4" name="Text 2"/>
          <p:cNvSpPr/>
          <p:nvPr/>
        </p:nvSpPr>
        <p:spPr>
          <a:xfrm>
            <a:off x="7315200" y="914400"/>
            <a:ext cx="1371600" cy="365760"/>
          </a:xfrm>
          <a:prstGeom prst="rect">
            <a:avLst/>
          </a:prstGeom>
          <a:solidFill>
            <a:srgbClr val="BDC3C7"/>
          </a:solidFill>
          <a:ln/>
        </p:spPr>
        <p:txBody>
          <a:bodyPr wrap="square" rtlCol="0" anchor="ctr"/>
          <a:lstStyle/>
          <a:p>
            <a:pPr marL="0" indent="0" algn="ctr">
              <a:buNone/>
            </a:pPr>
            <a:r>
              <a:rPr lang="en-US" sz="1600" b="1" dirty="0">
                <a:solidFill>
                  <a:srgbClr val="FFFFFF"/>
                </a:solidFill>
              </a:rPr>
              <a:t>対象外</a:t>
            </a:r>
            <a:endParaRPr lang="en-US" sz="1600" dirty="0"/>
          </a:p>
        </p:txBody>
      </p:sp>
      <p:sp>
        <p:nvSpPr>
          <p:cNvPr id="5" name="Text 3"/>
          <p:cNvSpPr/>
          <p:nvPr/>
        </p:nvSpPr>
        <p:spPr>
          <a:xfrm>
            <a:off x="457200" y="1463040"/>
            <a:ext cx="8229600" cy="3200400"/>
          </a:xfrm>
          <a:prstGeom prst="rect">
            <a:avLst/>
          </a:prstGeom>
          <a:noFill/>
          <a:ln/>
        </p:spPr>
        <p:txBody>
          <a:bodyPr wrap="square" rtlCol="0" anchor="ctr"/>
          <a:lstStyle/>
          <a:p>
            <a:pPr marL="342900" indent="-342900">
              <a:lnSpc>
                <a:spcPts val="2000"/>
              </a:lnSpc>
              <a:buSzPct val="100000"/>
              <a:buChar char="•"/>
            </a:pPr>
            <a:r>
              <a:rPr lang="en-US" sz="1300" dirty="0">
                <a:solidFill>
                  <a:srgbClr val="2C3E50"/>
                </a:solidFill>
              </a:rPr>
              <a:t>概要</a:t>
            </a:r>
            <a:endParaRPr lang="en-US" sz="1300" dirty="0"/>
          </a:p>
          <a:p>
            <a:pPr marL="254000" indent="-254000">
              <a:lnSpc>
                <a:spcPts val="2000"/>
              </a:lnSpc>
              <a:buSzPct val="100000"/>
              <a:buChar char="•"/>
            </a:pPr>
            <a:r>
              <a:rPr lang="en-US" sz="1300" dirty="0">
                <a:solidFill>
                  <a:srgbClr val="2C3E50"/>
                </a:solidFill>
              </a:rPr>
              <a:t>特定産業群に特化したPG</a:t>
            </a:r>
            <a:endParaRPr lang="en-US" sz="1300" dirty="0"/>
          </a:p>
          <a:p>
            <a:pPr marL="254000" indent="-254000">
              <a:lnSpc>
                <a:spcPts val="2000"/>
              </a:lnSpc>
              <a:buSzPct val="100000"/>
              <a:buChar char="•"/>
            </a:pPr>
            <a:r>
              <a:rPr lang="en-US" sz="1300" dirty="0">
                <a:solidFill>
                  <a:srgbClr val="2C3E50"/>
                </a:solidFill>
              </a:rPr>
              <a:t>チケッティング、不動産など「ピンポイントな業界」重視</a:t>
            </a:r>
            <a:endParaRPr lang="en-US" sz="1300" dirty="0"/>
          </a:p>
          <a:p>
            <a:pPr marL="342900" indent="-342900">
              <a:lnSpc>
                <a:spcPts val="2000"/>
              </a:lnSpc>
              <a:buSzPct val="100000"/>
              <a:buChar char="•"/>
            </a:pPr>
            <a:r>
              <a:rPr lang="en-US" sz="1300" dirty="0">
                <a:solidFill>
                  <a:srgbClr val="2C3E50"/>
                </a:solidFill>
              </a:rPr>
              <a:t>分析結果</a:t>
            </a:r>
            <a:endParaRPr lang="en-US" sz="1300" dirty="0"/>
          </a:p>
          <a:p>
            <a:pPr marL="254000" indent="-254000">
              <a:lnSpc>
                <a:spcPts val="2000"/>
              </a:lnSpc>
              <a:buSzPct val="100000"/>
              <a:buChar char="•"/>
            </a:pPr>
            <a:r>
              <a:rPr lang="en-US" sz="1300" dirty="0">
                <a:solidFill>
                  <a:srgbClr val="2C3E50"/>
                </a:solidFill>
              </a:rPr>
              <a:t>ハイリスクデジタルコンテンツの取扱情報なし</a:t>
            </a:r>
            <a:endParaRPr lang="en-US" sz="1300" dirty="0"/>
          </a:p>
          <a:p>
            <a:pPr marL="254000" indent="-254000">
              <a:lnSpc>
                <a:spcPts val="2000"/>
              </a:lnSpc>
              <a:buSzPct val="100000"/>
              <a:buChar char="•"/>
            </a:pPr>
            <a:r>
              <a:rPr lang="en-US" sz="1300" dirty="0">
                <a:solidFill>
                  <a:srgbClr val="2C3E50"/>
                </a:solidFill>
              </a:rPr>
              <a:t>R18電子マネー専門取扱の証拠なし</a:t>
            </a:r>
            <a:endParaRPr lang="en-US" sz="1300" dirty="0"/>
          </a:p>
          <a:p>
            <a:pPr marL="342900" indent="-342900">
              <a:lnSpc>
                <a:spcPts val="2000"/>
              </a:lnSpc>
              <a:buSzPct val="100000"/>
              <a:buChar char="•"/>
            </a:pPr>
            <a:r>
              <a:rPr lang="en-US" sz="1300" dirty="0">
                <a:solidFill>
                  <a:srgbClr val="2C3E50"/>
                </a:solidFill>
              </a:rPr>
              <a:t>結論</a:t>
            </a:r>
            <a:endParaRPr lang="en-US" sz="1300" dirty="0"/>
          </a:p>
          <a:p>
            <a:pPr marL="254000" indent="-254000">
              <a:lnSpc>
                <a:spcPts val="2000"/>
              </a:lnSpc>
              <a:buSzPct val="100000"/>
              <a:buChar char="•"/>
            </a:pPr>
            <a:r>
              <a:rPr lang="en-US" sz="1300" dirty="0">
                <a:solidFill>
                  <a:srgbClr val="2C3E50"/>
                </a:solidFill>
              </a:rPr>
              <a:t>本プロジェクトとの関連性が最も低い</a:t>
            </a:r>
            <a:endParaRPr lang="en-US" sz="1300" dirty="0"/>
          </a:p>
          <a:p>
            <a:pPr marL="254000" indent="-254000">
              <a:lnSpc>
                <a:spcPts val="2000"/>
              </a:lnSpc>
              <a:buSzPct val="100000"/>
              <a:buChar char="•"/>
            </a:pPr>
            <a:r>
              <a:rPr lang="en-US" sz="1300" dirty="0">
                <a:solidFill>
                  <a:srgbClr val="2C3E50"/>
                </a:solidFill>
              </a:rPr>
              <a:t>候補群から除外が合理的</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第2部：主要PG別 DNC決済手段 提供状況マトリックス</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45720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508000">
                <a:tc>
                  <a:txBody>
                    <a:bodyPr/>
                    <a:lstStyle/>
                    <a:p>
                      <a:pPr marL="0" indent="0" algn="ctr">
                        <a:buNone/>
                      </a:pPr>
                      <a:r>
                        <a:rPr lang="en-US" sz="1100" b="1" dirty="0">
                          <a:solidFill>
                            <a:srgbClr val="FFFFFF"/>
                          </a:solidFill>
                        </a:rPr>
                        <a:t>決済手段</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tc>
                  <a:txBody>
                    <a:bodyPr/>
                    <a:lstStyle/>
                    <a:p>
                      <a:pPr marL="0" indent="0" algn="ctr">
                        <a:buNone/>
                      </a:pPr>
                      <a:r>
                        <a:rPr lang="en-US" sz="1100" b="1" dirty="0">
                          <a:solidFill>
                            <a:srgbClr val="FFFFFF"/>
                          </a:solidFill>
                        </a:rPr>
                        <a:t>カテゴリー</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tc>
                  <a:txBody>
                    <a:bodyPr/>
                    <a:lstStyle/>
                    <a:p>
                      <a:pPr marL="0" indent="0" algn="ctr">
                        <a:buNone/>
                      </a:pPr>
                      <a:r>
                        <a:rPr lang="en-US" sz="1100" b="1" dirty="0">
                          <a:solidFill>
                            <a:srgbClr val="FFFFFF"/>
                          </a:solidFill>
                        </a:rPr>
                        <a:t>AXES Payment</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tc>
                  <a:txBody>
                    <a:bodyPr/>
                    <a:lstStyle/>
                    <a:p>
                      <a:pPr marL="0" indent="0" algn="ctr">
                        <a:buNone/>
                      </a:pPr>
                      <a:r>
                        <a:rPr lang="en-US" sz="1100" b="1" dirty="0">
                          <a:solidFill>
                            <a:srgbClr val="FFFFFF"/>
                          </a:solidFill>
                        </a:rPr>
                        <a:t>GMO-PG</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tc>
                  <a:txBody>
                    <a:bodyPr/>
                    <a:lstStyle/>
                    <a:p>
                      <a:pPr marL="0" indent="0" algn="ctr">
                        <a:buNone/>
                      </a:pPr>
                      <a:r>
                        <a:rPr lang="en-US" sz="1100" b="1" dirty="0">
                          <a:solidFill>
                            <a:srgbClr val="FFFFFF"/>
                          </a:solidFill>
                        </a:rPr>
                        <a:t>VeriTrans</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extLst>
                  <a:ext uri="{0D108BD9-81ED-4DB2-BD59-A6C34878D82A}">
                    <a16:rowId xmlns:a16="http://schemas.microsoft.com/office/drawing/2014/main" val="10000"/>
                  </a:ext>
                </a:extLst>
              </a:tr>
              <a:tr h="508000">
                <a:tc>
                  <a:txBody>
                    <a:bodyPr/>
                    <a:lstStyle/>
                    <a:p>
                      <a:pPr marL="0" indent="0" algn="ctr">
                        <a:buNone/>
                      </a:pPr>
                      <a:r>
                        <a:rPr lang="en-US" sz="1100" dirty="0">
                          <a:solidFill>
                            <a:srgbClr val="000000"/>
                          </a:solidFill>
                        </a:rPr>
                        <a:t>d払い</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キャリア決済</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 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 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 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1"/>
                  </a:ext>
                </a:extLst>
              </a:tr>
              <a:tr h="508000">
                <a:tc>
                  <a:txBody>
                    <a:bodyPr/>
                    <a:lstStyle/>
                    <a:p>
                      <a:pPr marL="0" indent="0" algn="ctr">
                        <a:buNone/>
                      </a:pPr>
                      <a:r>
                        <a:rPr lang="en-US" sz="1100" dirty="0">
                          <a:solidFill>
                            <a:srgbClr val="000000"/>
                          </a:solidFill>
                        </a:rPr>
                        <a:t>auかんたん決済</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キャリア決済</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 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推定</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 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2"/>
                  </a:ext>
                </a:extLst>
              </a:tr>
              <a:tr h="508000">
                <a:tc>
                  <a:txBody>
                    <a:bodyPr/>
                    <a:lstStyle/>
                    <a:p>
                      <a:pPr marL="0" indent="0" algn="ctr">
                        <a:buNone/>
                      </a:pPr>
                      <a:r>
                        <a:rPr lang="en-US" sz="1100" dirty="0">
                          <a:solidFill>
                            <a:srgbClr val="000000"/>
                          </a:solidFill>
                        </a:rPr>
                        <a:t>SBまとめて支払い</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キャリア決済</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 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推定</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 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3"/>
                  </a:ext>
                </a:extLst>
              </a:tr>
              <a:tr h="508000">
                <a:tc>
                  <a:txBody>
                    <a:bodyPr/>
                    <a:lstStyle/>
                    <a:p>
                      <a:pPr marL="0" indent="0" algn="ctr">
                        <a:buNone/>
                      </a:pPr>
                      <a:r>
                        <a:rPr lang="en-US" sz="1100" b="1" dirty="0">
                          <a:solidFill>
                            <a:srgbClr val="E74C3C"/>
                          </a:solidFill>
                        </a:rPr>
                        <a:t>BitCash</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b="1" dirty="0">
                          <a:solidFill>
                            <a:srgbClr val="E74C3C"/>
                          </a:solidFill>
                        </a:rPr>
                        <a:t>電子マネー (R18)</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b="1" dirty="0">
                          <a:solidFill>
                            <a:srgbClr val="F39C12"/>
                          </a:solidFill>
                        </a:rPr>
                        <a:t>⚠️ 要問合せ</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b="1" dirty="0">
                          <a:solidFill>
                            <a:srgbClr val="C0392B"/>
                          </a:solidFill>
                        </a:rPr>
                        <a:t>❌ 無し</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未確認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4"/>
                  </a:ext>
                </a:extLst>
              </a:tr>
              <a:tr h="508000">
                <a:tc>
                  <a:txBody>
                    <a:bodyPr/>
                    <a:lstStyle/>
                    <a:p>
                      <a:pPr marL="0" indent="0" algn="ctr">
                        <a:buNone/>
                      </a:pPr>
                      <a:r>
                        <a:rPr lang="en-US" sz="1100" b="1" dirty="0">
                          <a:solidFill>
                            <a:srgbClr val="E74C3C"/>
                          </a:solidFill>
                        </a:rPr>
                        <a:t>C-CHECK</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b="1" dirty="0">
                          <a:solidFill>
                            <a:srgbClr val="E74C3C"/>
                          </a:solidFill>
                        </a:rPr>
                        <a:t>電子マネー (R18)</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b="1" dirty="0">
                          <a:solidFill>
                            <a:srgbClr val="F39C12"/>
                          </a:solidFill>
                        </a:rPr>
                        <a:t>⚠️ 要問合せ</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b="1" dirty="0">
                          <a:solidFill>
                            <a:srgbClr val="C0392B"/>
                          </a:solidFill>
                        </a:rPr>
                        <a:t>❌ 無し</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未確認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5"/>
                  </a:ext>
                </a:extLst>
              </a:tr>
              <a:tr h="508000">
                <a:tc>
                  <a:txBody>
                    <a:bodyPr/>
                    <a:lstStyle/>
                    <a:p>
                      <a:pPr marL="0" indent="0" algn="ctr">
                        <a:buNone/>
                      </a:pPr>
                      <a:r>
                        <a:rPr lang="en-US" sz="1100" dirty="0">
                          <a:solidFill>
                            <a:srgbClr val="000000"/>
                          </a:solidFill>
                        </a:rPr>
                        <a:t>WebMoney</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電子マネー</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未確認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 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未確認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6"/>
                  </a:ext>
                </a:extLst>
              </a:tr>
              <a:tr h="508000">
                <a:tc>
                  <a:txBody>
                    <a:bodyPr/>
                    <a:lstStyle/>
                    <a:p>
                      <a:pPr marL="0" indent="0" algn="ctr">
                        <a:buNone/>
                      </a:pPr>
                      <a:r>
                        <a:rPr lang="en-US" sz="1100" dirty="0">
                          <a:solidFill>
                            <a:srgbClr val="000000"/>
                          </a:solidFill>
                        </a:rPr>
                        <a:t>PayPay</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QR決済</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 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 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 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7"/>
                  </a:ext>
                </a:extLst>
              </a:tr>
              <a:tr h="508000">
                <a:tc>
                  <a:txBody>
                    <a:bodyPr/>
                    <a:lstStyle/>
                    <a:p>
                      <a:pPr marL="0" indent="0" algn="ctr">
                        <a:buNone/>
                      </a:pPr>
                      <a:r>
                        <a:rPr lang="en-US" sz="1100" dirty="0">
                          <a:solidFill>
                            <a:srgbClr val="000000"/>
                          </a:solidFill>
                        </a:rPr>
                        <a:t>楽天ペイ</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QR決済</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未確認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 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100" dirty="0">
                          <a:solidFill>
                            <a:srgbClr val="000000"/>
                          </a:solidFill>
                        </a:rPr>
                        <a:t>✅ 確認</a:t>
                      </a:r>
                      <a:endParaRPr lang="en-US" sz="11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 name="Text 1"/>
          <p:cNvSpPr/>
          <p:nvPr/>
        </p:nvSpPr>
        <p:spPr>
          <a:xfrm>
            <a:off x="457200" y="5943600"/>
            <a:ext cx="8229600" cy="457200"/>
          </a:xfrm>
          <a:prstGeom prst="rect">
            <a:avLst/>
          </a:prstGeom>
          <a:noFill/>
          <a:ln/>
        </p:spPr>
        <p:txBody>
          <a:bodyPr wrap="square" rtlCol="0" anchor="ctr"/>
          <a:lstStyle/>
          <a:p>
            <a:pPr marL="0" indent="0" algn="ctr">
              <a:buNone/>
            </a:pPr>
            <a:r>
              <a:rPr lang="en-US" sz="1300" b="1" dirty="0">
                <a:solidFill>
                  <a:srgbClr val="E74C3C"/>
                </a:solidFill>
              </a:rPr>
              <a:t>❗ BitCash/C-CHECKはR18コンテンツ決済の核心手段</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第3部：既存R18コンテンツ決済市場の慣行</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日本のR18コンテンツ決済の現状</a:t>
            </a:r>
            <a:endParaRPr lang="en-US" sz="2400" dirty="0"/>
          </a:p>
        </p:txBody>
      </p:sp>
      <p:sp>
        <p:nvSpPr>
          <p:cNvPr id="4" name="Text 2"/>
          <p:cNvSpPr/>
          <p:nvPr/>
        </p:nvSpPr>
        <p:spPr>
          <a:xfrm>
            <a:off x="457200" y="1463040"/>
            <a:ext cx="8229600" cy="4572000"/>
          </a:xfrm>
          <a:prstGeom prst="rect">
            <a:avLst/>
          </a:prstGeom>
          <a:noFill/>
          <a:ln/>
        </p:spPr>
        <p:txBody>
          <a:bodyPr wrap="square" rtlCol="0" anchor="ctr"/>
          <a:lstStyle/>
          <a:p>
            <a:pPr marL="342900" indent="-342900">
              <a:lnSpc>
                <a:spcPts val="2000"/>
              </a:lnSpc>
              <a:buSzPct val="100000"/>
              <a:buChar char="•"/>
            </a:pPr>
            <a:r>
              <a:rPr lang="en-US" sz="1300" dirty="0">
                <a:solidFill>
                  <a:srgbClr val="2C3E50"/>
                </a:solidFill>
              </a:rPr>
              <a:t>R18特化型</a:t>
            </a:r>
            <a:endParaRPr lang="en-US" sz="1300" dirty="0"/>
          </a:p>
          <a:p>
            <a:pPr marL="254000" indent="-254000">
              <a:lnSpc>
                <a:spcPts val="2000"/>
              </a:lnSpc>
              <a:buSzPct val="100000"/>
              <a:buChar char="•"/>
            </a:pPr>
            <a:r>
              <a:rPr lang="en-US" sz="1300" dirty="0">
                <a:solidFill>
                  <a:srgbClr val="2C3E50"/>
                </a:solidFill>
              </a:rPr>
              <a:t>BitCash、C-CHECK：R18決済を主力ビジネスモデルとする</a:t>
            </a:r>
            <a:endParaRPr lang="en-US" sz="1300" dirty="0"/>
          </a:p>
          <a:p>
            <a:pPr marL="254000" indent="-254000">
              <a:lnSpc>
                <a:spcPts val="2000"/>
              </a:lnSpc>
              <a:buSzPct val="100000"/>
              <a:buChar char="•"/>
            </a:pPr>
            <a:r>
              <a:rPr lang="en-US" sz="1300" dirty="0">
                <a:solidFill>
                  <a:srgbClr val="2C3E50"/>
                </a:solidFill>
              </a:rPr>
              <a:t>成人向けコンテンツ市場で確立された決済手段</a:t>
            </a:r>
            <a:endParaRPr lang="en-US" sz="1300" dirty="0"/>
          </a:p>
          <a:p>
            <a:pPr marL="342900" indent="-342900">
              <a:lnSpc>
                <a:spcPts val="2000"/>
              </a:lnSpc>
              <a:buSzPct val="100000"/>
              <a:buChar char="•"/>
            </a:pPr>
            <a:r>
              <a:rPr lang="en-US" sz="1300" dirty="0">
                <a:solidFill>
                  <a:srgbClr val="2C3E50"/>
                </a:solidFill>
              </a:rPr>
              <a:t>条件付き許容</a:t>
            </a:r>
            <a:endParaRPr lang="en-US" sz="1300" dirty="0"/>
          </a:p>
          <a:p>
            <a:pPr marL="254000" indent="-254000">
              <a:lnSpc>
                <a:spcPts val="2000"/>
              </a:lnSpc>
              <a:buSzPct val="100000"/>
              <a:buChar char="•"/>
            </a:pPr>
            <a:r>
              <a:rPr lang="en-US" sz="1300" dirty="0">
                <a:solidFill>
                  <a:srgbClr val="2C3E50"/>
                </a:solidFill>
              </a:rPr>
              <a:t>キャリア決済：厳格な「年齢確認」を条件に許可</a:t>
            </a:r>
            <a:endParaRPr lang="en-US" sz="1300" dirty="0"/>
          </a:p>
          <a:p>
            <a:pPr marL="254000" indent="-254000">
              <a:lnSpc>
                <a:spcPts val="2000"/>
              </a:lnSpc>
              <a:buSzPct val="100000"/>
              <a:buChar char="•"/>
            </a:pPr>
            <a:r>
              <a:rPr lang="en-US" sz="1300" dirty="0">
                <a:solidFill>
                  <a:srgbClr val="2C3E50"/>
                </a:solidFill>
              </a:rPr>
              <a:t>DLsiteなど大手プラットフォームで実績あり</a:t>
            </a:r>
            <a:endParaRPr lang="en-US" sz="1300" dirty="0"/>
          </a:p>
          <a:p>
            <a:pPr marL="342900" indent="-342900">
              <a:lnSpc>
                <a:spcPts val="2000"/>
              </a:lnSpc>
              <a:buSzPct val="100000"/>
              <a:buChar char="•"/>
            </a:pPr>
            <a:r>
              <a:rPr lang="en-US" sz="1300" dirty="0">
                <a:solidFill>
                  <a:srgbClr val="2C3E50"/>
                </a:solidFill>
              </a:rPr>
              <a:t>R18禁止</a:t>
            </a:r>
            <a:endParaRPr lang="en-US" sz="1300" dirty="0"/>
          </a:p>
          <a:p>
            <a:pPr marL="254000" indent="-254000">
              <a:lnSpc>
                <a:spcPts val="2000"/>
              </a:lnSpc>
              <a:buSzPct val="100000"/>
              <a:buChar char="•"/>
            </a:pPr>
            <a:r>
              <a:rPr lang="en-US" sz="1300" dirty="0">
                <a:solidFill>
                  <a:srgbClr val="2C3E50"/>
                </a:solidFill>
              </a:rPr>
              <a:t>クレジットカード（海外ブランド）：厳しく制限</a:t>
            </a:r>
            <a:endParaRPr lang="en-US" sz="1300" dirty="0"/>
          </a:p>
          <a:p>
            <a:pPr marL="254000" indent="-254000">
              <a:lnSpc>
                <a:spcPts val="2000"/>
              </a:lnSpc>
              <a:buSzPct val="100000"/>
              <a:buChar char="•"/>
            </a:pPr>
            <a:r>
              <a:rPr lang="en-US" sz="1300" dirty="0">
                <a:solidFill>
                  <a:srgbClr val="2C3E50"/>
                </a:solidFill>
              </a:rPr>
              <a:t>PayPay、LINE Pay：R18コンテンツ厳しく禁止</a:t>
            </a:r>
            <a:endParaRPr lang="en-US" sz="1300" dirty="0"/>
          </a:p>
          <a:p>
            <a:pPr marL="254000" indent="-254000">
              <a:lnSpc>
                <a:spcPts val="2000"/>
              </a:lnSpc>
              <a:buSzPct val="100000"/>
              <a:buChar char="•"/>
            </a:pPr>
            <a:r>
              <a:rPr lang="en-US" sz="1300" dirty="0">
                <a:solidFill>
                  <a:srgbClr val="2C3E50"/>
                </a:solidFill>
              </a:rPr>
              <a:t>クリーンなブランドイメージを重視</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第3部：「AI生成コンテンツ」という新たなリスク</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市場の重大な変化</a:t>
            </a:r>
            <a:endParaRPr lang="en-US" sz="2400" dirty="0"/>
          </a:p>
        </p:txBody>
      </p:sp>
      <p:sp>
        <p:nvSpPr>
          <p:cNvPr id="4" name="Text 2"/>
          <p:cNvSpPr/>
          <p:nvPr/>
        </p:nvSpPr>
        <p:spPr>
          <a:xfrm>
            <a:off x="457200" y="1463040"/>
            <a:ext cx="8229600" cy="365760"/>
          </a:xfrm>
          <a:prstGeom prst="rect">
            <a:avLst/>
          </a:prstGeom>
          <a:solidFill>
            <a:srgbClr val="ECF0F1"/>
          </a:solidFill>
          <a:ln/>
        </p:spPr>
        <p:txBody>
          <a:bodyPr wrap="square" rtlCol="0" anchor="ctr"/>
          <a:lstStyle/>
          <a:p>
            <a:pPr marL="0" indent="0" algn="ctr">
              <a:buNone/>
            </a:pPr>
            <a:r>
              <a:rPr lang="en-US" sz="1600" b="1" dirty="0">
                <a:solidFill>
                  <a:srgbClr val="E74C3C"/>
                </a:solidFill>
              </a:rPr>
              <a:t>FANZAが「AI生成」同人作品を隔離対象に指定</a:t>
            </a:r>
            <a:endParaRPr lang="en-US" sz="1600" dirty="0"/>
          </a:p>
        </p:txBody>
      </p:sp>
      <p:sp>
        <p:nvSpPr>
          <p:cNvPr id="5" name="Text 3"/>
          <p:cNvSpPr/>
          <p:nvPr/>
        </p:nvSpPr>
        <p:spPr>
          <a:xfrm>
            <a:off x="457200" y="2011680"/>
            <a:ext cx="8229600" cy="3657600"/>
          </a:xfrm>
          <a:prstGeom prst="rect">
            <a:avLst/>
          </a:prstGeom>
          <a:noFill/>
          <a:ln/>
        </p:spPr>
        <p:txBody>
          <a:bodyPr wrap="square" rtlCol="0" anchor="ctr"/>
          <a:lstStyle/>
          <a:p>
            <a:pPr marL="342900" indent="-342900">
              <a:lnSpc>
                <a:spcPts val="1800"/>
              </a:lnSpc>
              <a:buSzPct val="100000"/>
              <a:buChar char="•"/>
            </a:pPr>
            <a:r>
              <a:rPr lang="en-US" sz="1300" dirty="0">
                <a:solidFill>
                  <a:srgbClr val="2C3E50"/>
                </a:solidFill>
              </a:rPr>
              <a:t>AI生成が「R18」とは別の新リスクカテゴリーとして浮上</a:t>
            </a:r>
            <a:endParaRPr lang="en-US" sz="1300" dirty="0"/>
          </a:p>
          <a:p>
            <a:pPr marL="342900" indent="-342900">
              <a:lnSpc>
                <a:spcPts val="1800"/>
              </a:lnSpc>
              <a:buSzPct val="100000"/>
              <a:buChar char="•"/>
            </a:pPr>
            <a:r>
              <a:rPr lang="en-US" sz="1300" dirty="0">
                <a:solidFill>
                  <a:srgbClr val="2C3E50"/>
                </a:solidFill>
              </a:rPr>
              <a:t>決済パートナーが懸念する3大リスク</a:t>
            </a:r>
            <a:endParaRPr lang="en-US" sz="1300" dirty="0"/>
          </a:p>
          <a:p>
            <a:pPr marL="254000" indent="-254000">
              <a:lnSpc>
                <a:spcPts val="1800"/>
              </a:lnSpc>
              <a:buSzPct val="100000"/>
              <a:buChar char="•"/>
            </a:pPr>
            <a:r>
              <a:rPr lang="en-US" sz="1300" dirty="0">
                <a:solidFill>
                  <a:srgbClr val="2C3E50"/>
                </a:solidFill>
              </a:rPr>
              <a:t>①非同意の画像生成（ディープフェイク）</a:t>
            </a:r>
            <a:endParaRPr lang="en-US" sz="1300" dirty="0"/>
          </a:p>
          <a:p>
            <a:pPr marL="508000" indent="-508000">
              <a:lnSpc>
                <a:spcPts val="1800"/>
              </a:lnSpc>
              <a:buSzPct val="100000"/>
              <a:buChar char="•"/>
            </a:pPr>
            <a:r>
              <a:rPr lang="en-US" sz="1300" dirty="0">
                <a:solidFill>
                  <a:srgbClr val="2C3E50"/>
                </a:solidFill>
              </a:rPr>
              <a:t>実在人物を基にしたアダルトコンテンツ生成の法的責任</a:t>
            </a:r>
            <a:endParaRPr lang="en-US" sz="1300" dirty="0"/>
          </a:p>
          <a:p>
            <a:pPr marL="254000" indent="-254000">
              <a:lnSpc>
                <a:spcPts val="1800"/>
              </a:lnSpc>
              <a:buSzPct val="100000"/>
              <a:buChar char="•"/>
            </a:pPr>
            <a:r>
              <a:rPr lang="en-US" sz="1300" dirty="0">
                <a:solidFill>
                  <a:srgbClr val="2C3E50"/>
                </a:solidFill>
              </a:rPr>
              <a:t>②著作権侵害</a:t>
            </a:r>
            <a:endParaRPr lang="en-US" sz="1300" dirty="0"/>
          </a:p>
          <a:p>
            <a:pPr marL="508000" indent="-508000">
              <a:lnSpc>
                <a:spcPts val="1800"/>
              </a:lnSpc>
              <a:buSzPct val="100000"/>
              <a:buChar char="•"/>
            </a:pPr>
            <a:r>
              <a:rPr lang="en-US" sz="1300" dirty="0">
                <a:solidFill>
                  <a:srgbClr val="2C3E50"/>
                </a:solidFill>
              </a:rPr>
              <a:t>AI学習データの著作権問題</a:t>
            </a:r>
            <a:endParaRPr lang="en-US" sz="1300" dirty="0"/>
          </a:p>
          <a:p>
            <a:pPr marL="254000" indent="-254000">
              <a:lnSpc>
                <a:spcPts val="1800"/>
              </a:lnSpc>
              <a:buSzPct val="100000"/>
              <a:buChar char="•"/>
            </a:pPr>
            <a:r>
              <a:rPr lang="en-US" sz="1300" dirty="0">
                <a:solidFill>
                  <a:srgbClr val="2C3E50"/>
                </a:solidFill>
              </a:rPr>
              <a:t>③詐欺およびスパム</a:t>
            </a:r>
            <a:endParaRPr lang="en-US" sz="1300" dirty="0"/>
          </a:p>
          <a:p>
            <a:pPr marL="508000" indent="-508000">
              <a:lnSpc>
                <a:spcPts val="1800"/>
              </a:lnSpc>
              <a:buSzPct val="100000"/>
              <a:buChar char="•"/>
            </a:pPr>
            <a:r>
              <a:rPr lang="en-US" sz="1300" dirty="0">
                <a:solidFill>
                  <a:srgbClr val="2C3E50"/>
                </a:solidFill>
              </a:rPr>
              <a:t>低品質AI生成物の大量流通によるプラットフォーム信頼性低下</a:t>
            </a:r>
            <a:endParaRPr lang="en-US" sz="1300" dirty="0"/>
          </a:p>
          <a:p>
            <a:pPr marL="508000" indent="-508000">
              <a:lnSpc>
                <a:spcPts val="1800"/>
              </a:lnSpc>
              <a:buSzPct val="100000"/>
              <a:buChar char="•"/>
            </a:pPr>
            <a:r>
              <a:rPr lang="en-US" sz="1300" dirty="0">
                <a:solidFill>
                  <a:srgbClr val="2C3E50"/>
                </a:solidFill>
              </a:rPr>
              <a:t>詐欺的取引への繋がり</a:t>
            </a:r>
            <a:endParaRPr lang="en-US" sz="1300" dirty="0"/>
          </a:p>
          <a:p>
            <a:pPr marL="342900" indent="-342900">
              <a:lnSpc>
                <a:spcPts val="1800"/>
              </a:lnSpc>
              <a:buSzPct val="100000"/>
              <a:buChar char="•"/>
            </a:pPr>
            <a:r>
              <a:rPr lang="en-US" sz="1300" dirty="0">
                <a:solidFill>
                  <a:srgbClr val="2C3E50"/>
                </a:solidFill>
              </a:rPr>
              <a:t>結論</a:t>
            </a:r>
            <a:endParaRPr lang="en-US" sz="1300" dirty="0"/>
          </a:p>
          <a:p>
            <a:pPr marL="254000" indent="-254000">
              <a:lnSpc>
                <a:spcPts val="1800"/>
              </a:lnSpc>
              <a:buSzPct val="100000"/>
              <a:buChar char="•"/>
            </a:pPr>
            <a:r>
              <a:rPr lang="en-US" sz="1300" b="1" dirty="0">
                <a:solidFill>
                  <a:srgbClr val="E74C3C"/>
                </a:solidFill>
              </a:rPr>
              <a:t>FANZAの判断は道徳的ではなくビジネス・法務上のリスク管理</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第3部：決済手段別AIアダルトポリシー (1/3) - キャリア決済</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キャリア決済（d払い、au、SoftBank）</a:t>
            </a:r>
            <a:endParaRPr lang="en-US" sz="2400" dirty="0"/>
          </a:p>
        </p:txBody>
      </p:sp>
      <p:sp>
        <p:nvSpPr>
          <p:cNvPr id="4" name="Text 2"/>
          <p:cNvSpPr/>
          <p:nvPr/>
        </p:nvSpPr>
        <p:spPr>
          <a:xfrm>
            <a:off x="7315200" y="914400"/>
            <a:ext cx="1371600" cy="365760"/>
          </a:xfrm>
          <a:prstGeom prst="rect">
            <a:avLst/>
          </a:prstGeom>
          <a:solidFill>
            <a:srgbClr val="F39C12"/>
          </a:solidFill>
          <a:ln/>
        </p:spPr>
        <p:txBody>
          <a:bodyPr wrap="square" rtlCol="0" anchor="ctr"/>
          <a:lstStyle/>
          <a:p>
            <a:pPr marL="0" indent="0" algn="ctr">
              <a:buNone/>
            </a:pPr>
            <a:r>
              <a:rPr lang="en-US" sz="1600" b="1" dirty="0">
                <a:solidFill>
                  <a:srgbClr val="FFFFFF"/>
                </a:solidFill>
              </a:rPr>
              <a:t>審査困難</a:t>
            </a:r>
            <a:endParaRPr lang="en-US" sz="1600" dirty="0"/>
          </a:p>
        </p:txBody>
      </p:sp>
      <p:sp>
        <p:nvSpPr>
          <p:cNvPr id="5" name="Text 3"/>
          <p:cNvSpPr/>
          <p:nvPr/>
        </p:nvSpPr>
        <p:spPr>
          <a:xfrm>
            <a:off x="457200" y="1463040"/>
            <a:ext cx="8229600" cy="4572000"/>
          </a:xfrm>
          <a:prstGeom prst="rect">
            <a:avLst/>
          </a:prstGeom>
          <a:noFill/>
          <a:ln/>
        </p:spPr>
        <p:txBody>
          <a:bodyPr wrap="square" rtlCol="0" anchor="ctr"/>
          <a:lstStyle/>
          <a:p>
            <a:pPr marL="342900" indent="-342900">
              <a:lnSpc>
                <a:spcPts val="2000"/>
              </a:lnSpc>
              <a:buSzPct val="100000"/>
              <a:buChar char="•"/>
            </a:pPr>
            <a:r>
              <a:rPr lang="en-US" sz="1300" dirty="0">
                <a:solidFill>
                  <a:srgbClr val="2C3E50"/>
                </a:solidFill>
              </a:rPr>
              <a:t>R18ポリシー</a:t>
            </a:r>
            <a:endParaRPr lang="en-US" sz="1300" dirty="0"/>
          </a:p>
          <a:p>
            <a:pPr marL="254000" indent="-254000">
              <a:lnSpc>
                <a:spcPts val="2000"/>
              </a:lnSpc>
              <a:buSzPct val="100000"/>
              <a:buChar char="•"/>
            </a:pPr>
            <a:r>
              <a:rPr lang="en-US" sz="1300" dirty="0">
                <a:solidFill>
                  <a:srgbClr val="2C3E50"/>
                </a:solidFill>
              </a:rPr>
              <a:t>「年齢確認」を前提に許容</a:t>
            </a:r>
            <a:endParaRPr lang="en-US" sz="1300" dirty="0"/>
          </a:p>
          <a:p>
            <a:pPr marL="254000" indent="-254000">
              <a:lnSpc>
                <a:spcPts val="2000"/>
              </a:lnSpc>
              <a:buSzPct val="100000"/>
              <a:buChar char="•"/>
            </a:pPr>
            <a:r>
              <a:rPr lang="en-US" sz="1300" dirty="0">
                <a:solidFill>
                  <a:srgbClr val="2C3E50"/>
                </a:solidFill>
              </a:rPr>
              <a:t>DLsiteなど大手プラットフォームで実績</a:t>
            </a:r>
            <a:endParaRPr lang="en-US" sz="1300" dirty="0"/>
          </a:p>
          <a:p>
            <a:pPr marL="342900" indent="-342900">
              <a:lnSpc>
                <a:spcPts val="2000"/>
              </a:lnSpc>
              <a:buSzPct val="100000"/>
              <a:buChar char="•"/>
            </a:pPr>
            <a:r>
              <a:rPr lang="en-US" sz="1300" dirty="0">
                <a:solidFill>
                  <a:srgbClr val="2C3E50"/>
                </a:solidFill>
              </a:rPr>
              <a:t>AIポリシー（隠れたリスク）</a:t>
            </a:r>
            <a:endParaRPr lang="en-US" sz="1300" dirty="0"/>
          </a:p>
          <a:p>
            <a:pPr marL="254000" indent="-254000">
              <a:lnSpc>
                <a:spcPts val="2000"/>
              </a:lnSpc>
              <a:buSzPct val="100000"/>
              <a:buChar char="•"/>
            </a:pPr>
            <a:r>
              <a:rPr lang="en-US" sz="1300" dirty="0">
                <a:solidFill>
                  <a:srgbClr val="2C3E50"/>
                </a:solidFill>
              </a:rPr>
              <a:t>AppleのApp Store決済と連携</a:t>
            </a:r>
            <a:endParaRPr lang="en-US" sz="1300" dirty="0"/>
          </a:p>
          <a:p>
            <a:pPr marL="254000" indent="-254000">
              <a:lnSpc>
                <a:spcPts val="2000"/>
              </a:lnSpc>
              <a:buSzPct val="100000"/>
              <a:buChar char="•"/>
            </a:pPr>
            <a:r>
              <a:rPr lang="en-US" sz="1300" b="1" dirty="0">
                <a:solidFill>
                  <a:srgbClr val="C0392B"/>
                </a:solidFill>
              </a:rPr>
              <a:t>Appleガイドライン：「AI生成コンテンツ」を「詐欺的表現」「露骨な性的コンテンツ」と同列に禁止</a:t>
            </a:r>
            <a:endParaRPr lang="en-US" sz="1300" dirty="0"/>
          </a:p>
          <a:p>
            <a:pPr marL="254000" indent="-254000">
              <a:lnSpc>
                <a:spcPts val="2000"/>
              </a:lnSpc>
              <a:buSzPct val="100000"/>
              <a:buChar char="•"/>
            </a:pPr>
            <a:r>
              <a:rPr lang="en-US" sz="1300" dirty="0">
                <a:solidFill>
                  <a:srgbClr val="2C3E50"/>
                </a:solidFill>
              </a:rPr>
              <a:t>グローバルプラットフォームのガイドラインに大きく影響される</a:t>
            </a:r>
            <a:endParaRPr lang="en-US" sz="1300" dirty="0"/>
          </a:p>
          <a:p>
            <a:pPr marL="342900" indent="-342900">
              <a:lnSpc>
                <a:spcPts val="2000"/>
              </a:lnSpc>
              <a:buSzPct val="100000"/>
              <a:buChar char="•"/>
            </a:pPr>
            <a:r>
              <a:rPr lang="en-US" sz="1300" dirty="0">
                <a:solidFill>
                  <a:srgbClr val="2C3E50"/>
                </a:solidFill>
              </a:rPr>
              <a:t>結論</a:t>
            </a:r>
            <a:endParaRPr lang="en-US" sz="1300" dirty="0"/>
          </a:p>
          <a:p>
            <a:pPr marL="254000" indent="-254000">
              <a:lnSpc>
                <a:spcPts val="2000"/>
              </a:lnSpc>
              <a:buSzPct val="100000"/>
              <a:buChar char="•"/>
            </a:pPr>
            <a:r>
              <a:rPr lang="en-US" sz="1300" dirty="0">
                <a:solidFill>
                  <a:srgbClr val="C0392B"/>
                </a:solidFill>
              </a:rPr>
              <a:t>キャリア各社は「AIアダルトチャット」を高リスクと見なす</a:t>
            </a:r>
            <a:endParaRPr lang="en-US" sz="1300" dirty="0"/>
          </a:p>
          <a:p>
            <a:pPr marL="254000" indent="-254000">
              <a:lnSpc>
                <a:spcPts val="2000"/>
              </a:lnSpc>
              <a:buSzPct val="100000"/>
              <a:buChar char="•"/>
            </a:pPr>
            <a:r>
              <a:rPr lang="en-US" sz="1300" b="1" dirty="0">
                <a:solidFill>
                  <a:srgbClr val="C0392B"/>
                </a:solidFill>
              </a:rPr>
              <a:t>新規加盟店の審査通過可能性は非常に低い</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第3部：決済手段別AIアダルトポリシー (2/3) - 電子マネー</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プリペイド型電子マネー（BitCash、C-CHECK）</a:t>
            </a:r>
            <a:endParaRPr lang="en-US" sz="2400" dirty="0"/>
          </a:p>
        </p:txBody>
      </p:sp>
      <p:sp>
        <p:nvSpPr>
          <p:cNvPr id="4" name="Text 2"/>
          <p:cNvSpPr/>
          <p:nvPr/>
        </p:nvSpPr>
        <p:spPr>
          <a:xfrm>
            <a:off x="7315200" y="914400"/>
            <a:ext cx="1371600" cy="365760"/>
          </a:xfrm>
          <a:prstGeom prst="rect">
            <a:avLst/>
          </a:prstGeom>
          <a:solidFill>
            <a:srgbClr val="27AE60"/>
          </a:solidFill>
          <a:ln/>
        </p:spPr>
        <p:txBody>
          <a:bodyPr wrap="square" rtlCol="0" anchor="ctr"/>
          <a:lstStyle/>
          <a:p>
            <a:pPr marL="0" indent="0" algn="ctr">
              <a:buNone/>
            </a:pPr>
            <a:r>
              <a:rPr lang="en-US" sz="1600" b="1" dirty="0">
                <a:solidFill>
                  <a:srgbClr val="FFFFFF"/>
                </a:solidFill>
              </a:rPr>
              <a:t>最有力</a:t>
            </a:r>
            <a:endParaRPr lang="en-US" sz="1600" dirty="0"/>
          </a:p>
        </p:txBody>
      </p:sp>
      <p:sp>
        <p:nvSpPr>
          <p:cNvPr id="5" name="Text 3"/>
          <p:cNvSpPr/>
          <p:nvPr/>
        </p:nvSpPr>
        <p:spPr>
          <a:xfrm>
            <a:off x="457200" y="1463040"/>
            <a:ext cx="8229600" cy="4572000"/>
          </a:xfrm>
          <a:prstGeom prst="rect">
            <a:avLst/>
          </a:prstGeom>
          <a:noFill/>
          <a:ln/>
        </p:spPr>
        <p:txBody>
          <a:bodyPr wrap="square" rtlCol="0" anchor="ctr"/>
          <a:lstStyle/>
          <a:p>
            <a:pPr marL="342900" indent="-342900">
              <a:lnSpc>
                <a:spcPts val="2000"/>
              </a:lnSpc>
              <a:buSzPct val="100000"/>
              <a:buChar char="•"/>
            </a:pPr>
            <a:r>
              <a:rPr lang="en-US" sz="1300" dirty="0">
                <a:solidFill>
                  <a:srgbClr val="2C3E50"/>
                </a:solidFill>
              </a:rPr>
              <a:t>R18ポリシー</a:t>
            </a:r>
            <a:endParaRPr lang="en-US" sz="1300" dirty="0"/>
          </a:p>
          <a:p>
            <a:pPr marL="254000" indent="-254000">
              <a:lnSpc>
                <a:spcPts val="2000"/>
              </a:lnSpc>
              <a:buSzPct val="100000"/>
              <a:buChar char="•"/>
            </a:pPr>
            <a:r>
              <a:rPr lang="en-US" sz="1300" b="1" dirty="0">
                <a:solidFill>
                  <a:srgbClr val="2C3E50"/>
                </a:solidFill>
              </a:rPr>
              <a:t>R18決済が存在理由であり主力市場</a:t>
            </a:r>
            <a:endParaRPr lang="en-US" sz="1300" dirty="0"/>
          </a:p>
          <a:p>
            <a:pPr marL="254000" indent="-254000">
              <a:lnSpc>
                <a:spcPts val="2000"/>
              </a:lnSpc>
              <a:buSzPct val="100000"/>
              <a:buChar char="•"/>
            </a:pPr>
            <a:r>
              <a:rPr lang="en-US" sz="1300" dirty="0">
                <a:solidFill>
                  <a:srgbClr val="2C3E50"/>
                </a:solidFill>
              </a:rPr>
              <a:t>成人向けコンテンツに完全特化</a:t>
            </a:r>
            <a:endParaRPr lang="en-US" sz="1300" dirty="0"/>
          </a:p>
          <a:p>
            <a:pPr marL="342900" indent="-342900">
              <a:lnSpc>
                <a:spcPts val="2000"/>
              </a:lnSpc>
              <a:buSzPct val="100000"/>
              <a:buChar char="•"/>
            </a:pPr>
            <a:r>
              <a:rPr lang="en-US" sz="1300" dirty="0">
                <a:solidFill>
                  <a:srgbClr val="2C3E50"/>
                </a:solidFill>
              </a:rPr>
              <a:t>AIポリシー</a:t>
            </a:r>
            <a:endParaRPr lang="en-US" sz="1300" dirty="0"/>
          </a:p>
          <a:p>
            <a:pPr marL="254000" indent="-254000">
              <a:lnSpc>
                <a:spcPts val="2000"/>
              </a:lnSpc>
              <a:buSzPct val="100000"/>
              <a:buChar char="•"/>
            </a:pPr>
            <a:r>
              <a:rPr lang="en-US" sz="1300" dirty="0">
                <a:solidFill>
                  <a:srgbClr val="2C3E50"/>
                </a:solidFill>
              </a:rPr>
              <a:t>FANZAの先例を注視しているが、キャリア決済より遥かに寛容</a:t>
            </a:r>
            <a:endParaRPr lang="en-US" sz="1300" dirty="0"/>
          </a:p>
          <a:p>
            <a:pPr marL="254000" indent="-254000">
              <a:lnSpc>
                <a:spcPts val="2000"/>
              </a:lnSpc>
              <a:buSzPct val="100000"/>
              <a:buChar char="•"/>
            </a:pPr>
            <a:r>
              <a:rPr lang="en-US" sz="1300" dirty="0">
                <a:solidFill>
                  <a:srgbClr val="2C3E50"/>
                </a:solidFill>
              </a:rPr>
              <a:t>AI理由だけで決済停止するより、条件付き許可の可能性が高い</a:t>
            </a:r>
            <a:endParaRPr lang="en-US" sz="1300" dirty="0"/>
          </a:p>
          <a:p>
            <a:pPr marL="254000" indent="-254000">
              <a:lnSpc>
                <a:spcPts val="2000"/>
              </a:lnSpc>
              <a:buSzPct val="100000"/>
              <a:buChar char="•"/>
            </a:pPr>
            <a:r>
              <a:rPr lang="en-US" sz="1300" dirty="0">
                <a:solidFill>
                  <a:srgbClr val="2C3E50"/>
                </a:solidFill>
              </a:rPr>
              <a:t>予想される条件</a:t>
            </a:r>
            <a:endParaRPr lang="en-US" sz="1300" dirty="0"/>
          </a:p>
          <a:p>
            <a:pPr marL="508000" indent="-508000">
              <a:lnSpc>
                <a:spcPts val="2000"/>
              </a:lnSpc>
              <a:buSzPct val="100000"/>
              <a:buChar char="•"/>
            </a:pPr>
            <a:r>
              <a:rPr lang="en-US" sz="1300" dirty="0">
                <a:solidFill>
                  <a:srgbClr val="2C3E50"/>
                </a:solidFill>
              </a:rPr>
              <a:t>AIによる法的責任を全て加盟店に転嫁</a:t>
            </a:r>
            <a:endParaRPr lang="en-US" sz="1300" dirty="0"/>
          </a:p>
          <a:p>
            <a:pPr marL="508000" indent="-508000">
              <a:lnSpc>
                <a:spcPts val="2000"/>
              </a:lnSpc>
              <a:buSzPct val="100000"/>
              <a:buChar char="•"/>
            </a:pPr>
            <a:r>
              <a:rPr lang="en-US" sz="1300" dirty="0">
                <a:solidFill>
                  <a:srgbClr val="2C3E50"/>
                </a:solidFill>
              </a:rPr>
              <a:t>厳格なコンテンツ監視を要求</a:t>
            </a:r>
            <a:endParaRPr lang="en-US" sz="1300" dirty="0"/>
          </a:p>
          <a:p>
            <a:pPr marL="342900" indent="-342900">
              <a:lnSpc>
                <a:spcPts val="2000"/>
              </a:lnSpc>
              <a:buSzPct val="100000"/>
              <a:buChar char="•"/>
            </a:pPr>
            <a:r>
              <a:rPr lang="en-US" sz="1300" dirty="0">
                <a:solidFill>
                  <a:srgbClr val="2C3E50"/>
                </a:solidFill>
              </a:rPr>
              <a:t>結論</a:t>
            </a:r>
            <a:endParaRPr lang="en-US" sz="1300" dirty="0"/>
          </a:p>
          <a:p>
            <a:pPr marL="254000" indent="-254000">
              <a:lnSpc>
                <a:spcPts val="2000"/>
              </a:lnSpc>
              <a:buSzPct val="100000"/>
              <a:buChar char="•"/>
            </a:pPr>
            <a:r>
              <a:rPr lang="en-US" sz="1400" b="1" dirty="0">
                <a:solidFill>
                  <a:srgbClr val="27AE60"/>
                </a:solidFill>
              </a:rPr>
              <a:t>AIアダルトチャットサービスが導入できる最も現実的かつ唯一の決済手段</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第3部：決済手段別AIアダルトポリシー (3/3) - QR決済</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QR・スマホ決済（PayPay、LINE Pay、楽天ペイ）</a:t>
            </a:r>
            <a:endParaRPr lang="en-US" sz="2400" dirty="0"/>
          </a:p>
        </p:txBody>
      </p:sp>
      <p:sp>
        <p:nvSpPr>
          <p:cNvPr id="4" name="Text 2"/>
          <p:cNvSpPr/>
          <p:nvPr/>
        </p:nvSpPr>
        <p:spPr>
          <a:xfrm>
            <a:off x="7315200" y="914400"/>
            <a:ext cx="1371600" cy="365760"/>
          </a:xfrm>
          <a:prstGeom prst="rect">
            <a:avLst/>
          </a:prstGeom>
          <a:solidFill>
            <a:srgbClr val="C0392B"/>
          </a:solidFill>
          <a:ln/>
        </p:spPr>
        <p:txBody>
          <a:bodyPr wrap="square" rtlCol="0" anchor="ctr"/>
          <a:lstStyle/>
          <a:p>
            <a:pPr marL="0" indent="0" algn="ctr">
              <a:buNone/>
            </a:pPr>
            <a:r>
              <a:rPr lang="en-US" sz="1600" b="1" dirty="0">
                <a:solidFill>
                  <a:srgbClr val="FFFFFF"/>
                </a:solidFill>
              </a:rPr>
              <a:t>絶対不可</a:t>
            </a:r>
            <a:endParaRPr lang="en-US" sz="1600" dirty="0"/>
          </a:p>
        </p:txBody>
      </p:sp>
      <p:sp>
        <p:nvSpPr>
          <p:cNvPr id="5" name="Text 3"/>
          <p:cNvSpPr/>
          <p:nvPr/>
        </p:nvSpPr>
        <p:spPr>
          <a:xfrm>
            <a:off x="457200" y="1463040"/>
            <a:ext cx="8229600" cy="4572000"/>
          </a:xfrm>
          <a:prstGeom prst="rect">
            <a:avLst/>
          </a:prstGeom>
          <a:noFill/>
          <a:ln/>
        </p:spPr>
        <p:txBody>
          <a:bodyPr wrap="square" rtlCol="0" anchor="ctr"/>
          <a:lstStyle/>
          <a:p>
            <a:pPr marL="342900" indent="-342900">
              <a:lnSpc>
                <a:spcPts val="1800"/>
              </a:lnSpc>
              <a:buSzPct val="100000"/>
              <a:buChar char="•"/>
            </a:pPr>
            <a:r>
              <a:rPr lang="en-US" sz="1300" dirty="0">
                <a:solidFill>
                  <a:srgbClr val="2C3E50"/>
                </a:solidFill>
              </a:rPr>
              <a:t>R18ポリシー</a:t>
            </a:r>
            <a:endParaRPr lang="en-US" sz="1300" dirty="0"/>
          </a:p>
          <a:p>
            <a:pPr marL="254000" indent="-254000">
              <a:lnSpc>
                <a:spcPts val="1800"/>
              </a:lnSpc>
              <a:buSzPct val="100000"/>
              <a:buChar char="•"/>
            </a:pPr>
            <a:r>
              <a:rPr lang="en-US" sz="1300" b="1" dirty="0">
                <a:solidFill>
                  <a:srgbClr val="C0392B"/>
                </a:solidFill>
              </a:rPr>
              <a:t>厳格に禁止</a:t>
            </a:r>
            <a:endParaRPr lang="en-US" sz="1300" dirty="0"/>
          </a:p>
          <a:p>
            <a:pPr marL="254000" indent="-254000">
              <a:lnSpc>
                <a:spcPts val="1800"/>
              </a:lnSpc>
              <a:buSzPct val="100000"/>
              <a:buChar char="•"/>
            </a:pPr>
            <a:r>
              <a:rPr lang="en-US" sz="1300" dirty="0">
                <a:solidFill>
                  <a:srgbClr val="2C3E50"/>
                </a:solidFill>
              </a:rPr>
              <a:t>日常的な決済手段として「クリーン」なブランドを構築</a:t>
            </a:r>
            <a:endParaRPr lang="en-US" sz="1300" dirty="0"/>
          </a:p>
          <a:p>
            <a:pPr marL="342900" indent="-342900">
              <a:lnSpc>
                <a:spcPts val="1800"/>
              </a:lnSpc>
              <a:buSzPct val="100000"/>
              <a:buChar char="•"/>
            </a:pPr>
            <a:r>
              <a:rPr lang="en-US" sz="1300" dirty="0">
                <a:solidFill>
                  <a:srgbClr val="2C3E50"/>
                </a:solidFill>
              </a:rPr>
              <a:t>AIポリシー</a:t>
            </a:r>
            <a:endParaRPr lang="en-US" sz="1300" dirty="0"/>
          </a:p>
          <a:p>
            <a:pPr marL="254000" indent="-254000">
              <a:lnSpc>
                <a:spcPts val="1800"/>
              </a:lnSpc>
              <a:buSzPct val="100000"/>
              <a:buChar char="•"/>
            </a:pPr>
            <a:r>
              <a:rPr lang="en-US" sz="1300" dirty="0">
                <a:solidFill>
                  <a:srgbClr val="C0392B"/>
                </a:solidFill>
              </a:rPr>
              <a:t>R18が既に禁止されているため、AIアダルトは議論の余地なく禁止</a:t>
            </a:r>
            <a:endParaRPr lang="en-US" sz="1300" dirty="0"/>
          </a:p>
          <a:p>
            <a:pPr marL="342900" indent="-342900">
              <a:lnSpc>
                <a:spcPts val="1800"/>
              </a:lnSpc>
              <a:buSzPct val="100000"/>
              <a:buChar char="•"/>
            </a:pPr>
            <a:r>
              <a:rPr lang="en-US" sz="1300" dirty="0">
                <a:solidFill>
                  <a:srgbClr val="2C3E50"/>
                </a:solidFill>
              </a:rPr>
              <a:t>結論</a:t>
            </a:r>
            <a:endParaRPr lang="en-US" sz="1300" dirty="0"/>
          </a:p>
          <a:p>
            <a:pPr marL="254000" indent="-254000">
              <a:lnSpc>
                <a:spcPts val="1800"/>
              </a:lnSpc>
              <a:buSzPct val="100000"/>
              <a:buChar char="•"/>
            </a:pPr>
            <a:r>
              <a:rPr lang="en-US" sz="1600" b="1" dirty="0">
                <a:solidFill>
                  <a:srgbClr val="C0392B"/>
                </a:solidFill>
              </a:rPr>
              <a:t>絶対利用不可</a:t>
            </a:r>
            <a:endParaRPr lang="en-US" sz="1300" dirty="0"/>
          </a:p>
          <a:p>
            <a:pPr marL="254000" indent="-254000">
              <a:lnSpc>
                <a:spcPts val="1800"/>
              </a:lnSpc>
              <a:buSzPct val="100000"/>
              <a:buChar char="•"/>
            </a:pPr>
            <a:r>
              <a:rPr lang="en-US" sz="1300" b="1" dirty="0">
                <a:solidFill>
                  <a:srgbClr val="C0392B"/>
                </a:solidFill>
              </a:rPr>
              <a:t>PGへの申請自体をすべきではない</a:t>
            </a:r>
            <a:endParaRPr lang="en-US" sz="1300" dirty="0"/>
          </a:p>
          <a:p>
            <a:pPr marL="254000" indent="-254000">
              <a:lnSpc>
                <a:spcPts val="1800"/>
              </a:lnSpc>
              <a:buSzPct val="100000"/>
              <a:buChar char="•"/>
            </a:pPr>
            <a:r>
              <a:rPr lang="en-US" sz="1300" dirty="0">
                <a:solidFill>
                  <a:srgbClr val="2C3E50"/>
                </a:solidFill>
              </a:rPr>
              <a:t>申請は以下の悪影響をもたらす</a:t>
            </a:r>
            <a:endParaRPr lang="en-US" sz="1300" dirty="0"/>
          </a:p>
          <a:p>
            <a:pPr marL="508000" indent="-508000">
              <a:lnSpc>
                <a:spcPts val="1800"/>
              </a:lnSpc>
              <a:buSzPct val="100000"/>
              <a:buChar char="•"/>
            </a:pPr>
            <a:r>
              <a:rPr lang="en-US" sz="1300" dirty="0">
                <a:solidFill>
                  <a:srgbClr val="2C3E50"/>
                </a:solidFill>
              </a:rPr>
              <a:t>ビジネスモデルへの理解不足を露呈</a:t>
            </a:r>
            <a:endParaRPr lang="en-US" sz="1300" dirty="0"/>
          </a:p>
          <a:p>
            <a:pPr marL="508000" indent="-508000">
              <a:lnSpc>
                <a:spcPts val="1800"/>
              </a:lnSpc>
              <a:buSzPct val="100000"/>
              <a:buChar char="•"/>
            </a:pPr>
            <a:r>
              <a:rPr lang="en-US" sz="1300" dirty="0">
                <a:solidFill>
                  <a:srgbClr val="2C3E50"/>
                </a:solidFill>
              </a:rPr>
              <a:t>他の決済手段（BitCashなど）の審査にも悪影響</a:t>
            </a:r>
            <a:endParaRPr lang="en-US" sz="1300" dirty="0"/>
          </a:p>
          <a:p>
            <a:pPr marL="508000" indent="-508000">
              <a:lnSpc>
                <a:spcPts val="1800"/>
              </a:lnSpc>
              <a:buSzPct val="100000"/>
              <a:buChar char="•"/>
            </a:pPr>
            <a:r>
              <a:rPr lang="en-US" sz="1300" dirty="0">
                <a:solidFill>
                  <a:srgbClr val="2C3E50"/>
                </a:solidFill>
              </a:rPr>
              <a:t>審査時間の無駄</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第4部：超ハイリスクカテゴリーの審査基準</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PGリスク審査チームが集中検討する事項</a:t>
            </a:r>
            <a:endParaRPr lang="en-US" sz="2400" dirty="0"/>
          </a:p>
        </p:txBody>
      </p:sp>
      <p:sp>
        <p:nvSpPr>
          <p:cNvPr id="4" name="Text 2"/>
          <p:cNvSpPr/>
          <p:nvPr/>
        </p:nvSpPr>
        <p:spPr>
          <a:xfrm>
            <a:off x="457200" y="1371600"/>
            <a:ext cx="8229600" cy="5029200"/>
          </a:xfrm>
          <a:prstGeom prst="rect">
            <a:avLst/>
          </a:prstGeom>
          <a:noFill/>
          <a:ln/>
        </p:spPr>
        <p:txBody>
          <a:bodyPr wrap="square" rtlCol="0" anchor="ctr"/>
          <a:lstStyle/>
          <a:p>
            <a:pPr marL="342900" indent="-342900">
              <a:lnSpc>
                <a:spcPts val="2000"/>
              </a:lnSpc>
              <a:buSzPct val="100000"/>
              <a:buChar char="•"/>
            </a:pPr>
            <a:r>
              <a:rPr lang="en-US" sz="1300" dirty="0">
                <a:solidFill>
                  <a:srgbClr val="2C3E50"/>
                </a:solidFill>
              </a:rPr>
              <a:t>①法的遵守（特に児童/ディープフェイク）</a:t>
            </a:r>
            <a:endParaRPr lang="en-US" sz="1300" dirty="0"/>
          </a:p>
          <a:p>
            <a:pPr marL="254000" indent="-254000">
              <a:lnSpc>
                <a:spcPts val="2000"/>
              </a:lnSpc>
              <a:buSzPct val="100000"/>
              <a:buChar char="•"/>
            </a:pPr>
            <a:r>
              <a:rPr lang="en-US" sz="1300" b="1" dirty="0">
                <a:solidFill>
                  <a:srgbClr val="2C3E50"/>
                </a:solidFill>
              </a:rPr>
              <a:t>AIが違法コンテンツを生成することを100%遮断する方法</a:t>
            </a:r>
            <a:endParaRPr lang="en-US" sz="1300" dirty="0"/>
          </a:p>
          <a:p>
            <a:pPr marL="254000" indent="-254000">
              <a:lnSpc>
                <a:spcPts val="2000"/>
              </a:lnSpc>
              <a:buSzPct val="100000"/>
              <a:buChar char="•"/>
            </a:pPr>
            <a:r>
              <a:rPr lang="en-US" sz="1300" dirty="0">
                <a:solidFill>
                  <a:srgbClr val="2C3E50"/>
                </a:solidFill>
              </a:rPr>
              <a:t>児童ポルノ、実在人物ディープフェイク対策</a:t>
            </a:r>
            <a:endParaRPr lang="en-US" sz="1300" dirty="0"/>
          </a:p>
          <a:p>
            <a:pPr marL="342900" indent="-342900">
              <a:lnSpc>
                <a:spcPts val="2000"/>
              </a:lnSpc>
              <a:buSzPct val="100000"/>
              <a:buChar char="•"/>
            </a:pPr>
            <a:r>
              <a:rPr lang="en-US" sz="1300" dirty="0">
                <a:solidFill>
                  <a:srgbClr val="2C3E50"/>
                </a:solidFill>
              </a:rPr>
              <a:t>②著作権</a:t>
            </a:r>
            <a:endParaRPr lang="en-US" sz="1300" dirty="0"/>
          </a:p>
          <a:p>
            <a:pPr marL="254000" indent="-254000">
              <a:lnSpc>
                <a:spcPts val="2000"/>
              </a:lnSpc>
              <a:buSzPct val="100000"/>
              <a:buChar char="•"/>
            </a:pPr>
            <a:r>
              <a:rPr lang="en-US" sz="1300" dirty="0">
                <a:solidFill>
                  <a:srgbClr val="2C3E50"/>
                </a:solidFill>
              </a:rPr>
              <a:t>AI学習データの著作権・肖像権問題の解決証明</a:t>
            </a:r>
            <a:endParaRPr lang="en-US" sz="1300" dirty="0"/>
          </a:p>
          <a:p>
            <a:pPr marL="342900" indent="-342900">
              <a:lnSpc>
                <a:spcPts val="2000"/>
              </a:lnSpc>
              <a:buSzPct val="100000"/>
              <a:buChar char="•"/>
            </a:pPr>
            <a:r>
              <a:rPr lang="en-US" sz="1300" dirty="0">
                <a:solidFill>
                  <a:srgbClr val="2C3E50"/>
                </a:solidFill>
              </a:rPr>
              <a:t>③詐欺防止</a:t>
            </a:r>
            <a:endParaRPr lang="en-US" sz="1300" dirty="0"/>
          </a:p>
          <a:p>
            <a:pPr marL="254000" indent="-254000">
              <a:lnSpc>
                <a:spcPts val="2000"/>
              </a:lnSpc>
              <a:buSzPct val="100000"/>
              <a:buChar char="•"/>
            </a:pPr>
            <a:r>
              <a:rPr lang="en-US" sz="1300" dirty="0">
                <a:solidFill>
                  <a:srgbClr val="2C3E50"/>
                </a:solidFill>
              </a:rPr>
              <a:t>ユーザーがAIを実在人物と誤認して詐欺被害に遭う防止策</a:t>
            </a:r>
            <a:endParaRPr lang="en-US" sz="1300" dirty="0"/>
          </a:p>
          <a:p>
            <a:pPr marL="254000" indent="-254000">
              <a:lnSpc>
                <a:spcPts val="2000"/>
              </a:lnSpc>
              <a:buSzPct val="100000"/>
              <a:buChar char="•"/>
            </a:pPr>
            <a:r>
              <a:rPr lang="en-US" sz="1300" dirty="0">
                <a:solidFill>
                  <a:srgbClr val="2C3E50"/>
                </a:solidFill>
              </a:rPr>
              <a:t>チャットサービスでは特に重要</a:t>
            </a:r>
            <a:endParaRPr lang="en-US" sz="1300" dirty="0"/>
          </a:p>
          <a:p>
            <a:pPr marL="342900" indent="-342900">
              <a:lnSpc>
                <a:spcPts val="2000"/>
              </a:lnSpc>
              <a:buSzPct val="100000"/>
              <a:buChar char="•"/>
            </a:pPr>
            <a:r>
              <a:rPr lang="en-US" sz="1300" dirty="0">
                <a:solidFill>
                  <a:srgbClr val="2C3E50"/>
                </a:solidFill>
              </a:rPr>
              <a:t>④年齢確認</a:t>
            </a:r>
            <a:endParaRPr lang="en-US" sz="1300" dirty="0"/>
          </a:p>
          <a:p>
            <a:pPr marL="254000" indent="-254000">
              <a:lnSpc>
                <a:spcPts val="2000"/>
              </a:lnSpc>
              <a:buSzPct val="100000"/>
              <a:buChar char="•"/>
            </a:pPr>
            <a:r>
              <a:rPr lang="en-US" sz="1300" dirty="0">
                <a:solidFill>
                  <a:srgbClr val="2C3E50"/>
                </a:solidFill>
              </a:rPr>
              <a:t>法的に有効な年齢確認システムの実装</a:t>
            </a:r>
            <a:endParaRPr lang="en-US" sz="1300" dirty="0"/>
          </a:p>
          <a:p>
            <a:pPr marL="342900" indent="-342900">
              <a:lnSpc>
                <a:spcPts val="2000"/>
              </a:lnSpc>
              <a:buSzPct val="100000"/>
              <a:buChar char="•"/>
            </a:pPr>
            <a:r>
              <a:rPr lang="en-US" sz="1300" dirty="0">
                <a:solidFill>
                  <a:srgbClr val="2C3E50"/>
                </a:solidFill>
              </a:rPr>
              <a:t>⑤企業実体</a:t>
            </a:r>
            <a:endParaRPr lang="en-US" sz="1300" dirty="0"/>
          </a:p>
          <a:p>
            <a:pPr marL="254000" indent="-254000">
              <a:lnSpc>
                <a:spcPts val="2000"/>
              </a:lnSpc>
              <a:buSzPct val="100000"/>
              <a:buChar char="•"/>
            </a:pPr>
            <a:r>
              <a:rPr lang="en-US" sz="1300" dirty="0">
                <a:solidFill>
                  <a:srgbClr val="2C3E50"/>
                </a:solidFill>
              </a:rPr>
              <a:t>日本法人としての明確な実体</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第4部：予想手数料構造の比較</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20040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33400">
                <a:tc>
                  <a:txBody>
                    <a:bodyPr/>
                    <a:lstStyle/>
                    <a:p>
                      <a:pPr marL="0" indent="0" algn="ctr">
                        <a:buNone/>
                      </a:pPr>
                      <a:r>
                        <a:rPr lang="en-US" sz="1300" b="1" dirty="0">
                          <a:solidFill>
                            <a:srgbClr val="FFFFFF"/>
                          </a:solidFill>
                        </a:rPr>
                        <a:t>手数料項目</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tc>
                  <a:txBody>
                    <a:bodyPr/>
                    <a:lstStyle/>
                    <a:p>
                      <a:pPr marL="0" indent="0" algn="ctr">
                        <a:buNone/>
                      </a:pPr>
                      <a:r>
                        <a:rPr lang="en-US" sz="1300" b="1" dirty="0">
                          <a:solidFill>
                            <a:srgbClr val="FFFFFF"/>
                          </a:solidFill>
                        </a:rPr>
                        <a:t>低リスク標準加盟店</a:t>
                      </a:r>
                      <a:endParaRPr lang="en-US" sz="1300" dirty="0"/>
                    </a:p>
                    <a:p>
                      <a:pPr marL="0" indent="0" algn="ctr">
                        <a:buNone/>
                      </a:pPr>
                      <a:r>
                        <a:rPr lang="en-US" sz="1300" b="1" dirty="0">
                          <a:solidFill>
                            <a:srgbClr val="FFFFFF"/>
                          </a:solidFill>
                        </a:rPr>
                        <a:t>(例: VeriTrans)</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tc>
                  <a:txBody>
                    <a:bodyPr/>
                    <a:lstStyle/>
                    <a:p>
                      <a:pPr marL="0" indent="0" algn="ctr">
                        <a:buNone/>
                      </a:pPr>
                      <a:r>
                        <a:rPr lang="en-US" sz="1300" b="1" dirty="0">
                          <a:solidFill>
                            <a:srgbClr val="FFFFFF"/>
                          </a:solidFill>
                        </a:rPr>
                        <a:t>ハイリスク「AIアダルト」加盟店</a:t>
                      </a:r>
                      <a:endParaRPr lang="en-US" sz="1300" dirty="0"/>
                    </a:p>
                    <a:p>
                      <a:pPr marL="0" indent="0" algn="ctr">
                        <a:buNone/>
                      </a:pPr>
                      <a:r>
                        <a:rPr lang="en-US" sz="1300" b="1" dirty="0">
                          <a:solidFill>
                            <a:srgbClr val="FFFFFF"/>
                          </a:solidFill>
                        </a:rPr>
                        <a:t>(予想値)</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E74C3C"/>
                    </a:solidFill>
                  </a:tcPr>
                </a:tc>
                <a:extLst>
                  <a:ext uri="{0D108BD9-81ED-4DB2-BD59-A6C34878D82A}">
                    <a16:rowId xmlns:a16="http://schemas.microsoft.com/office/drawing/2014/main" val="10000"/>
                  </a:ext>
                </a:extLst>
              </a:tr>
              <a:tr h="533400">
                <a:tc>
                  <a:txBody>
                    <a:bodyPr/>
                    <a:lstStyle/>
                    <a:p>
                      <a:pPr marL="0" indent="0" algn="ctr">
                        <a:buNone/>
                      </a:pPr>
                      <a:r>
                        <a:rPr lang="en-US" sz="1300" b="1" dirty="0">
                          <a:solidFill>
                            <a:srgbClr val="000000"/>
                          </a:solidFill>
                        </a:rPr>
                        <a:t>初期費用</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300" dirty="0">
                          <a:solidFill>
                            <a:srgbClr val="000000"/>
                          </a:solidFill>
                        </a:rPr>
                        <a:t>0円～</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300" b="1" dirty="0">
                          <a:solidFill>
                            <a:srgbClr val="E74C3C"/>
                          </a:solidFill>
                        </a:rPr>
                        <a:t>50,000～300,000円</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1"/>
                  </a:ext>
                </a:extLst>
              </a:tr>
              <a:tr h="533400">
                <a:tc>
                  <a:txBody>
                    <a:bodyPr/>
                    <a:lstStyle/>
                    <a:p>
                      <a:pPr marL="0" indent="0" algn="ctr">
                        <a:buNone/>
                      </a:pPr>
                      <a:r>
                        <a:rPr lang="en-US" sz="1300" b="1" dirty="0">
                          <a:solidFill>
                            <a:srgbClr val="000000"/>
                          </a:solidFill>
                        </a:rPr>
                        <a:t>月額費用</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300" dirty="0">
                          <a:solidFill>
                            <a:srgbClr val="000000"/>
                          </a:solidFill>
                        </a:rPr>
                        <a:t>0円～</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300" b="1" dirty="0">
                          <a:solidFill>
                            <a:srgbClr val="E74C3C"/>
                          </a:solidFill>
                        </a:rPr>
                        <a:t>5,000～30,000円</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2"/>
                  </a:ext>
                </a:extLst>
              </a:tr>
              <a:tr h="533400">
                <a:tc>
                  <a:txBody>
                    <a:bodyPr/>
                    <a:lstStyle/>
                    <a:p>
                      <a:pPr marL="0" indent="0" algn="ctr">
                        <a:buNone/>
                      </a:pPr>
                      <a:r>
                        <a:rPr lang="en-US" sz="1300" b="1" dirty="0">
                          <a:solidFill>
                            <a:srgbClr val="000000"/>
                          </a:solidFill>
                        </a:rPr>
                        <a:t>決済手数料</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300" dirty="0">
                          <a:solidFill>
                            <a:srgbClr val="000000"/>
                          </a:solidFill>
                        </a:rPr>
                        <a:t>1.98%～3.25%</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300" b="1" dirty="0">
                          <a:solidFill>
                            <a:srgbClr val="E74C3C"/>
                          </a:solidFill>
                        </a:rPr>
                        <a:t>5.0%～12.0%</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3"/>
                  </a:ext>
                </a:extLst>
              </a:tr>
              <a:tr h="533400">
                <a:tc>
                  <a:txBody>
                    <a:bodyPr/>
                    <a:lstStyle/>
                    <a:p>
                      <a:pPr marL="0" indent="0" algn="ctr">
                        <a:buNone/>
                      </a:pPr>
                      <a:r>
                        <a:rPr lang="en-US" sz="1300" b="1" dirty="0">
                          <a:solidFill>
                            <a:srgbClr val="000000"/>
                          </a:solidFill>
                        </a:rPr>
                        <a:t>トランザクション料</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300" dirty="0">
                          <a:solidFill>
                            <a:srgbClr val="000000"/>
                          </a:solidFill>
                        </a:rPr>
                        <a:t>無料～</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300" dirty="0">
                          <a:solidFill>
                            <a:srgbClr val="E74C3C"/>
                          </a:solidFill>
                        </a:rPr>
                        <a:t>55円/件</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4"/>
                  </a:ext>
                </a:extLst>
              </a:tr>
              <a:tr h="533400">
                <a:tc>
                  <a:txBody>
                    <a:bodyPr/>
                    <a:lstStyle/>
                    <a:p>
                      <a:pPr marL="0" indent="0" algn="ctr">
                        <a:buNone/>
                      </a:pPr>
                      <a:r>
                        <a:rPr lang="en-US" sz="1300" b="1" dirty="0">
                          <a:solidFill>
                            <a:srgbClr val="000000"/>
                          </a:solidFill>
                        </a:rPr>
                        <a:t>チャージバック手数料</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300" dirty="0">
                          <a:solidFill>
                            <a:srgbClr val="000000"/>
                          </a:solidFill>
                        </a:rPr>
                        <a:t>1,000円～</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lgn="ctr">
                        <a:buNone/>
                      </a:pPr>
                      <a:r>
                        <a:rPr lang="en-US" sz="1300" dirty="0">
                          <a:solidFill>
                            <a:srgbClr val="E74C3C"/>
                          </a:solidFill>
                        </a:rPr>
                        <a:t>5,500円/件</a:t>
                      </a:r>
                      <a:endParaRPr lang="en-US" sz="13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457200" y="4572000"/>
            <a:ext cx="8229600" cy="731520"/>
          </a:xfrm>
          <a:prstGeom prst="rect">
            <a:avLst/>
          </a:prstGeom>
          <a:solidFill>
            <a:srgbClr val="ECF0F1"/>
          </a:solidFill>
          <a:ln/>
        </p:spPr>
        <p:txBody>
          <a:bodyPr wrap="square" rtlCol="0" anchor="ctr"/>
          <a:lstStyle/>
          <a:p>
            <a:pPr marL="0" indent="0" algn="ctr">
              <a:buNone/>
            </a:pPr>
            <a:r>
              <a:rPr lang="en-US" sz="1400" b="1" dirty="0">
                <a:solidFill>
                  <a:srgbClr val="E74C3C"/>
                </a:solidFill>
              </a:rPr>
              <a:t>「初期費用0円」のマーケティングは本事業に不適用</a:t>
            </a:r>
            <a:endParaRPr lang="en-US" sz="1400" dirty="0"/>
          </a:p>
        </p:txBody>
      </p:sp>
      <p:sp>
        <p:nvSpPr>
          <p:cNvPr id="5" name="Text 2"/>
          <p:cNvSpPr/>
          <p:nvPr/>
        </p:nvSpPr>
        <p:spPr>
          <a:xfrm>
            <a:off x="457200" y="5486400"/>
            <a:ext cx="8229600" cy="731520"/>
          </a:xfrm>
          <a:prstGeom prst="rect">
            <a:avLst/>
          </a:prstGeom>
          <a:noFill/>
          <a:ln/>
        </p:spPr>
        <p:txBody>
          <a:bodyPr wrap="square" rtlCol="0" anchor="ctr"/>
          <a:lstStyle/>
          <a:p>
            <a:pPr marL="0" indent="0" algn="ctr">
              <a:buNone/>
            </a:pPr>
            <a:r>
              <a:rPr lang="en-US" sz="1200" dirty="0">
                <a:solidFill>
                  <a:srgbClr val="2C3E50"/>
                </a:solidFill>
              </a:rPr>
              <a:t>ハイリスク加盟店は、PGが代わりに負担するリスクに対するプレミアムを支払う必要がある</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第5部：標準申込ワークフロー（AXES Payment基準）</a:t>
            </a:r>
            <a:endParaRPr lang="en-US" sz="1400" dirty="0"/>
          </a:p>
        </p:txBody>
      </p:sp>
      <p:sp>
        <p:nvSpPr>
          <p:cNvPr id="3" name="Text 1"/>
          <p:cNvSpPr/>
          <p:nvPr/>
        </p:nvSpPr>
        <p:spPr>
          <a:xfrm>
            <a:off x="457200" y="1097280"/>
            <a:ext cx="8229600" cy="5303520"/>
          </a:xfrm>
          <a:prstGeom prst="rect">
            <a:avLst/>
          </a:prstGeom>
          <a:noFill/>
          <a:ln/>
        </p:spPr>
        <p:txBody>
          <a:bodyPr wrap="square" rtlCol="0" anchor="ctr"/>
          <a:lstStyle/>
          <a:p>
            <a:pPr marL="342900" indent="-342900">
              <a:lnSpc>
                <a:spcPts val="1600"/>
              </a:lnSpc>
              <a:buSzPct val="100000"/>
              <a:buChar char="•"/>
            </a:pPr>
            <a:r>
              <a:rPr lang="en-US" sz="1200" dirty="0">
                <a:solidFill>
                  <a:srgbClr val="2C3E50"/>
                </a:solidFill>
              </a:rPr>
              <a:t>①お問合せ</a:t>
            </a:r>
            <a:endParaRPr lang="en-US" sz="1200" dirty="0"/>
          </a:p>
          <a:p>
            <a:pPr marL="254000" indent="-254000">
              <a:lnSpc>
                <a:spcPts val="1600"/>
              </a:lnSpc>
              <a:buSzPct val="100000"/>
              <a:buChar char="•"/>
            </a:pPr>
            <a:r>
              <a:rPr lang="en-US" sz="1200" dirty="0">
                <a:solidFill>
                  <a:srgbClr val="2C3E50"/>
                </a:solidFill>
              </a:rPr>
              <a:t>ウェブフォームまたは電話で一次受付</a:t>
            </a:r>
            <a:endParaRPr lang="en-US" sz="1200" dirty="0"/>
          </a:p>
          <a:p>
            <a:pPr marL="254000" indent="-254000">
              <a:lnSpc>
                <a:spcPts val="1600"/>
              </a:lnSpc>
              <a:buSzPct val="100000"/>
              <a:buChar char="•"/>
            </a:pPr>
            <a:r>
              <a:rPr lang="en-US" sz="1200" b="1" dirty="0">
                <a:solidFill>
                  <a:srgbClr val="E74C3C"/>
                </a:solidFill>
              </a:rPr>
              <a:t>ビジネスモデルを明確に伝える（隠さない）</a:t>
            </a:r>
            <a:endParaRPr lang="en-US" sz="1200" dirty="0"/>
          </a:p>
          <a:p>
            <a:pPr marL="342900" indent="-342900">
              <a:lnSpc>
                <a:spcPts val="1600"/>
              </a:lnSpc>
              <a:buSzPct val="100000"/>
              <a:buChar char="•"/>
            </a:pPr>
            <a:r>
              <a:rPr lang="en-US" sz="1200" dirty="0">
                <a:solidFill>
                  <a:srgbClr val="2C3E50"/>
                </a:solidFill>
              </a:rPr>
              <a:t>②受付・ヒアリング</a:t>
            </a:r>
            <a:endParaRPr lang="en-US" sz="1200" dirty="0"/>
          </a:p>
          <a:p>
            <a:pPr marL="254000" indent="-254000">
              <a:lnSpc>
                <a:spcPts val="1600"/>
              </a:lnSpc>
              <a:buSzPct val="100000"/>
              <a:buChar char="•"/>
            </a:pPr>
            <a:r>
              <a:rPr lang="en-US" sz="1200" dirty="0">
                <a:solidFill>
                  <a:srgbClr val="2C3E50"/>
                </a:solidFill>
              </a:rPr>
              <a:t>PGの営業/リスク担当者との通話</a:t>
            </a:r>
            <a:endParaRPr lang="en-US" sz="1200" dirty="0"/>
          </a:p>
          <a:p>
            <a:pPr marL="254000" indent="-254000">
              <a:lnSpc>
                <a:spcPts val="1600"/>
              </a:lnSpc>
              <a:buSzPct val="100000"/>
              <a:buChar char="•"/>
            </a:pPr>
            <a:r>
              <a:rPr lang="en-US" sz="1200" b="1" dirty="0">
                <a:solidFill>
                  <a:srgbClr val="E74C3C"/>
                </a:solidFill>
              </a:rPr>
              <a:t>最も重要な段階 - リスク質問への防御準備が必要</a:t>
            </a:r>
            <a:endParaRPr lang="en-US" sz="1200" dirty="0"/>
          </a:p>
          <a:p>
            <a:pPr marL="342900" indent="-342900">
              <a:lnSpc>
                <a:spcPts val="1600"/>
              </a:lnSpc>
              <a:buSzPct val="100000"/>
              <a:buChar char="•"/>
            </a:pPr>
            <a:r>
              <a:rPr lang="en-US" sz="1200" dirty="0">
                <a:solidFill>
                  <a:srgbClr val="2C3E50"/>
                </a:solidFill>
              </a:rPr>
              <a:t>③必要書類の送付</a:t>
            </a:r>
            <a:endParaRPr lang="en-US" sz="1200" dirty="0"/>
          </a:p>
          <a:p>
            <a:pPr marL="254000" indent="-254000">
              <a:lnSpc>
                <a:spcPts val="1600"/>
              </a:lnSpc>
              <a:buSzPct val="100000"/>
              <a:buChar char="•"/>
            </a:pPr>
            <a:r>
              <a:rPr lang="en-US" sz="1200" dirty="0">
                <a:solidFill>
                  <a:srgbClr val="2C3E50"/>
                </a:solidFill>
              </a:rPr>
              <a:t>法人登記簿謄本、印鑑証明書など</a:t>
            </a:r>
            <a:endParaRPr lang="en-US" sz="1200" dirty="0"/>
          </a:p>
          <a:p>
            <a:pPr marL="342900" indent="-342900">
              <a:lnSpc>
                <a:spcPts val="1600"/>
              </a:lnSpc>
              <a:buSzPct val="100000"/>
              <a:buChar char="•"/>
            </a:pPr>
            <a:r>
              <a:rPr lang="en-US" sz="1200" dirty="0">
                <a:solidFill>
                  <a:srgbClr val="2C3E50"/>
                </a:solidFill>
              </a:rPr>
              <a:t>④審査</a:t>
            </a:r>
            <a:endParaRPr lang="en-US" sz="1200" dirty="0"/>
          </a:p>
          <a:p>
            <a:pPr marL="254000" indent="-254000">
              <a:lnSpc>
                <a:spcPts val="1600"/>
              </a:lnSpc>
              <a:buSzPct val="100000"/>
              <a:buChar char="•"/>
            </a:pPr>
            <a:r>
              <a:rPr lang="en-US" sz="1200" dirty="0">
                <a:solidFill>
                  <a:srgbClr val="2C3E50"/>
                </a:solidFill>
              </a:rPr>
              <a:t>PGおよびDNC提供元（BitCash、キャリアなど）が審査</a:t>
            </a:r>
            <a:endParaRPr lang="en-US" sz="1200" dirty="0"/>
          </a:p>
          <a:p>
            <a:pPr marL="254000" indent="-254000">
              <a:lnSpc>
                <a:spcPts val="1600"/>
              </a:lnSpc>
              <a:buSzPct val="100000"/>
              <a:buChar char="•"/>
            </a:pPr>
            <a:r>
              <a:rPr lang="en-US" sz="1200" dirty="0">
                <a:solidFill>
                  <a:srgbClr val="F39C12"/>
                </a:solidFill>
              </a:rPr>
              <a:t>数週間～数ヶ月を要する</a:t>
            </a:r>
            <a:endParaRPr lang="en-US" sz="1200" dirty="0"/>
          </a:p>
          <a:p>
            <a:pPr marL="342900" indent="-342900">
              <a:lnSpc>
                <a:spcPts val="1600"/>
              </a:lnSpc>
              <a:buSzPct val="100000"/>
              <a:buChar char="•"/>
            </a:pPr>
            <a:r>
              <a:rPr lang="en-US" sz="1200" dirty="0">
                <a:solidFill>
                  <a:srgbClr val="2C3E50"/>
                </a:solidFill>
              </a:rPr>
              <a:t>⑤開設契約金の振込</a:t>
            </a:r>
            <a:endParaRPr lang="en-US" sz="1200" dirty="0"/>
          </a:p>
          <a:p>
            <a:pPr marL="254000" indent="-254000">
              <a:lnSpc>
                <a:spcPts val="1600"/>
              </a:lnSpc>
              <a:buSzPct val="100000"/>
              <a:buChar char="•"/>
            </a:pPr>
            <a:r>
              <a:rPr lang="en-US" sz="1200" dirty="0">
                <a:solidFill>
                  <a:srgbClr val="2C3E50"/>
                </a:solidFill>
              </a:rPr>
              <a:t>審査承認時、初期費用を支払う</a:t>
            </a:r>
            <a:endParaRPr lang="en-US" sz="1200" dirty="0"/>
          </a:p>
          <a:p>
            <a:pPr marL="342900" indent="-342900">
              <a:lnSpc>
                <a:spcPts val="1600"/>
              </a:lnSpc>
              <a:buSzPct val="100000"/>
              <a:buChar char="•"/>
            </a:pPr>
            <a:r>
              <a:rPr lang="en-US" sz="1200" dirty="0">
                <a:solidFill>
                  <a:srgbClr val="2C3E50"/>
                </a:solidFill>
              </a:rPr>
              <a:t>⑥システム接続・動作テスト</a:t>
            </a:r>
            <a:endParaRPr lang="en-US" sz="1200" dirty="0"/>
          </a:p>
          <a:p>
            <a:pPr marL="254000" indent="-254000">
              <a:lnSpc>
                <a:spcPts val="1600"/>
              </a:lnSpc>
              <a:buSzPct val="100000"/>
              <a:buChar char="•"/>
            </a:pPr>
            <a:r>
              <a:rPr lang="en-US" sz="1200" dirty="0">
                <a:solidFill>
                  <a:srgbClr val="2C3E50"/>
                </a:solidFill>
              </a:rPr>
              <a:t>PG提供APIを通じた技術連携</a:t>
            </a:r>
            <a:endParaRPr lang="en-US" sz="1200" dirty="0"/>
          </a:p>
          <a:p>
            <a:pPr marL="342900" indent="-342900">
              <a:lnSpc>
                <a:spcPts val="1600"/>
              </a:lnSpc>
              <a:buSzPct val="100000"/>
              <a:buChar char="•"/>
            </a:pPr>
            <a:r>
              <a:rPr lang="en-US" sz="1200" dirty="0">
                <a:solidFill>
                  <a:srgbClr val="2C3E50"/>
                </a:solidFill>
              </a:rPr>
              <a:t>⑦運用開始</a:t>
            </a:r>
            <a:endParaRPr lang="en-US" sz="1200" dirty="0"/>
          </a:p>
          <a:p>
            <a:pPr marL="254000" indent="-254000">
              <a:lnSpc>
                <a:spcPts val="1600"/>
              </a:lnSpc>
              <a:buSzPct val="100000"/>
              <a:buChar char="•"/>
            </a:pPr>
            <a:r>
              <a:rPr lang="en-US" sz="1200" dirty="0">
                <a:solidFill>
                  <a:srgbClr val="2C3E50"/>
                </a:solidFill>
              </a:rPr>
              <a:t>サービスローンチ</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第5部：法人申込必須書類チェックリスト（KYB）</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4572001"/>
        </p:xfrm>
        <a:graphic>
          <a:graphicData uri="http://schemas.openxmlformats.org/drawingml/2006/table">
            <a:tbl>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653143">
                <a:tc>
                  <a:txBody>
                    <a:bodyPr/>
                    <a:lstStyle/>
                    <a:p>
                      <a:pPr marL="0" indent="0">
                        <a:buNone/>
                      </a:pPr>
                      <a:r>
                        <a:rPr lang="en-US" sz="1200" b="1" dirty="0">
                          <a:solidFill>
                            <a:srgbClr val="FFFFFF"/>
                          </a:solidFill>
                        </a:rPr>
                        <a:t>必須書類</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tc>
                  <a:txBody>
                    <a:bodyPr/>
                    <a:lstStyle/>
                    <a:p>
                      <a:pPr marL="0" indent="0">
                        <a:buNone/>
                      </a:pPr>
                      <a:r>
                        <a:rPr lang="en-US" sz="1200" b="1" dirty="0">
                          <a:solidFill>
                            <a:srgbClr val="FFFFFF"/>
                          </a:solidFill>
                        </a:rPr>
                        <a:t>備考</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extLst>
                  <a:ext uri="{0D108BD9-81ED-4DB2-BD59-A6C34878D82A}">
                    <a16:rowId xmlns:a16="http://schemas.microsoft.com/office/drawing/2014/main" val="10000"/>
                  </a:ext>
                </a:extLst>
              </a:tr>
              <a:tr h="653143">
                <a:tc>
                  <a:txBody>
                    <a:bodyPr/>
                    <a:lstStyle/>
                    <a:p>
                      <a:pPr marL="0" indent="0">
                        <a:buNone/>
                      </a:pPr>
                      <a:r>
                        <a:rPr lang="en-US" sz="1200" b="1" dirty="0">
                          <a:solidFill>
                            <a:srgbClr val="000000"/>
                          </a:solidFill>
                        </a:rPr>
                        <a:t>履歴事項全部証明書</a:t>
                      </a:r>
                      <a:endParaRPr lang="en-US" sz="1200" dirty="0"/>
                    </a:p>
                    <a:p>
                      <a:pPr marL="0" indent="0">
                        <a:buNone/>
                      </a:pPr>
                      <a:r>
                        <a:rPr lang="en-US" sz="1200" b="1" dirty="0">
                          <a:solidFill>
                            <a:srgbClr val="000000"/>
                          </a:solidFill>
                        </a:rPr>
                        <a:t>(法人登記簿謄本)</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200" dirty="0">
                          <a:solidFill>
                            <a:srgbClr val="000000"/>
                          </a:solidFill>
                        </a:rPr>
                        <a:t>発行3ヶ月以内の原本またはコピー</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1"/>
                  </a:ext>
                </a:extLst>
              </a:tr>
              <a:tr h="653143">
                <a:tc>
                  <a:txBody>
                    <a:bodyPr/>
                    <a:lstStyle/>
                    <a:p>
                      <a:pPr marL="0" indent="0">
                        <a:buNone/>
                      </a:pPr>
                      <a:r>
                        <a:rPr lang="en-US" sz="1200" b="1" dirty="0">
                          <a:solidFill>
                            <a:srgbClr val="000000"/>
                          </a:solidFill>
                        </a:rPr>
                        <a:t>印鑑証明書</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200" dirty="0">
                          <a:solidFill>
                            <a:srgbClr val="000000"/>
                          </a:solidFill>
                        </a:rPr>
                        <a:t>発行3ヶ月以内の原本</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2"/>
                  </a:ext>
                </a:extLst>
              </a:tr>
              <a:tr h="653143">
                <a:tc>
                  <a:txBody>
                    <a:bodyPr/>
                    <a:lstStyle/>
                    <a:p>
                      <a:pPr marL="0" indent="0">
                        <a:buNone/>
                      </a:pPr>
                      <a:r>
                        <a:rPr lang="en-US" sz="1200" b="1" dirty="0">
                          <a:solidFill>
                            <a:srgbClr val="000000"/>
                          </a:solidFill>
                        </a:rPr>
                        <a:t>PG指定申込書</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200" dirty="0">
                          <a:solidFill>
                            <a:srgbClr val="000000"/>
                          </a:solidFill>
                        </a:rPr>
                        <a:t>PGが提供する様式</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3"/>
                  </a:ext>
                </a:extLst>
              </a:tr>
              <a:tr h="653143">
                <a:tc>
                  <a:txBody>
                    <a:bodyPr/>
                    <a:lstStyle/>
                    <a:p>
                      <a:pPr marL="0" indent="0">
                        <a:buNone/>
                      </a:pPr>
                      <a:r>
                        <a:rPr lang="en-US" sz="1200" b="1" dirty="0">
                          <a:solidFill>
                            <a:srgbClr val="000000"/>
                          </a:solidFill>
                        </a:rPr>
                        <a:t>振込先口座情報</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200" dirty="0">
                          <a:solidFill>
                            <a:srgbClr val="000000"/>
                          </a:solidFill>
                        </a:rPr>
                        <a:t>PGからの売上入金を受ける法人口座</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4"/>
                  </a:ext>
                </a:extLst>
              </a:tr>
              <a:tr h="653143">
                <a:tc>
                  <a:txBody>
                    <a:bodyPr/>
                    <a:lstStyle/>
                    <a:p>
                      <a:pPr marL="0" indent="0">
                        <a:buNone/>
                      </a:pPr>
                      <a:r>
                        <a:rPr lang="en-US" sz="1200" b="1" dirty="0">
                          <a:solidFill>
                            <a:srgbClr val="E74C3C"/>
                          </a:solidFill>
                        </a:rPr>
                        <a:t>ウェブサイト/サービスURL</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200" b="1" dirty="0">
                          <a:solidFill>
                            <a:srgbClr val="E74C3C"/>
                          </a:solidFill>
                        </a:rPr>
                        <a:t>「Coming Soon」ページは絶対不可</a:t>
                      </a:r>
                      <a:endParaRPr lang="en-US" sz="1200" dirty="0"/>
                    </a:p>
                    <a:p>
                      <a:pPr marL="0" indent="0">
                        <a:buNone/>
                      </a:pPr>
                      <a:r>
                        <a:rPr lang="en-US" sz="1200" b="1" dirty="0">
                          <a:solidFill>
                            <a:srgbClr val="E74C3C"/>
                          </a:solidFill>
                        </a:rPr>
                        <a:t>全機能実装されたテストサイトが必須</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5"/>
                  </a:ext>
                </a:extLst>
              </a:tr>
              <a:tr h="653143">
                <a:tc>
                  <a:txBody>
                    <a:bodyPr/>
                    <a:lstStyle/>
                    <a:p>
                      <a:pPr marL="0" indent="0">
                        <a:buNone/>
                      </a:pPr>
                      <a:r>
                        <a:rPr lang="en-US" sz="1200" b="1" dirty="0">
                          <a:solidFill>
                            <a:srgbClr val="E74C3C"/>
                          </a:solidFill>
                        </a:rPr>
                        <a:t>コンプライアンス文書</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200" dirty="0">
                          <a:solidFill>
                            <a:srgbClr val="E74C3C"/>
                          </a:solidFill>
                        </a:rPr>
                        <a:t>利用規約、個人情報保護方針</a:t>
                      </a:r>
                      <a:endParaRPr lang="en-US" sz="1200" dirty="0"/>
                    </a:p>
                    <a:p>
                      <a:pPr marL="0" indent="0">
                        <a:buNone/>
                      </a:pPr>
                      <a:r>
                        <a:rPr lang="en-US" sz="1200" dirty="0">
                          <a:solidFill>
                            <a:srgbClr val="E74C3C"/>
                          </a:solidFill>
                        </a:rPr>
                        <a:t>AIコンテンツポリシー文書</a:t>
                      </a:r>
                      <a:endParaRPr lang="en-US" sz="12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457200" y="5943600"/>
            <a:ext cx="8229600" cy="457200"/>
          </a:xfrm>
          <a:prstGeom prst="rect">
            <a:avLst/>
          </a:prstGeom>
          <a:noFill/>
          <a:ln/>
        </p:spPr>
        <p:txBody>
          <a:bodyPr wrap="square" rtlCol="0" anchor="ctr"/>
          <a:lstStyle/>
          <a:p>
            <a:pPr marL="0" indent="0" algn="ctr">
              <a:buNone/>
            </a:pPr>
            <a:r>
              <a:rPr lang="en-US" sz="1200" b="1" dirty="0">
                <a:solidFill>
                  <a:srgbClr val="E74C3C"/>
                </a:solidFill>
              </a:rPr>
              <a:t>年齢確認、コンテンツフィルタリング、決済ページなど全機能が必須</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第6部：最終実行可能性の評価 - 推奨経路</a:t>
            </a:r>
            <a:endParaRPr lang="en-US" sz="1400" dirty="0"/>
          </a:p>
        </p:txBody>
      </p:sp>
      <p:sp>
        <p:nvSpPr>
          <p:cNvPr id="3" name="Text 1"/>
          <p:cNvSpPr/>
          <p:nvPr/>
        </p:nvSpPr>
        <p:spPr>
          <a:xfrm>
            <a:off x="457200" y="1097280"/>
            <a:ext cx="8229600" cy="5303520"/>
          </a:xfrm>
          <a:prstGeom prst="rect">
            <a:avLst/>
          </a:prstGeom>
          <a:noFill/>
          <a:ln/>
        </p:spPr>
        <p:txBody>
          <a:bodyPr wrap="square" rtlCol="0" anchor="ctr"/>
          <a:lstStyle/>
          <a:p>
            <a:pPr marL="342900" indent="-342900">
              <a:lnSpc>
                <a:spcPts val="1800"/>
              </a:lnSpc>
              <a:buSzPct val="100000"/>
              <a:buChar char="•"/>
            </a:pPr>
            <a:r>
              <a:rPr lang="en-US" sz="1300" dirty="0">
                <a:solidFill>
                  <a:srgbClr val="2C3E50"/>
                </a:solidFill>
              </a:rPr>
              <a:t>法人主体</a:t>
            </a:r>
            <a:endParaRPr lang="en-US" sz="1300" dirty="0"/>
          </a:p>
          <a:p>
            <a:pPr marL="254000" indent="-254000">
              <a:lnSpc>
                <a:spcPts val="1800"/>
              </a:lnSpc>
              <a:buSzPct val="100000"/>
              <a:buChar char="•"/>
            </a:pPr>
            <a:r>
              <a:rPr lang="en-US" sz="1300" b="1" dirty="0">
                <a:solidFill>
                  <a:srgbClr val="2C3E50"/>
                </a:solidFill>
              </a:rPr>
              <a:t>完全な日本法人である必要がある</a:t>
            </a:r>
            <a:endParaRPr lang="en-US" sz="1300" dirty="0"/>
          </a:p>
          <a:p>
            <a:pPr marL="254000" indent="-254000">
              <a:lnSpc>
                <a:spcPts val="1800"/>
              </a:lnSpc>
              <a:buSzPct val="100000"/>
              <a:buChar char="•"/>
            </a:pPr>
            <a:r>
              <a:rPr lang="en-US" sz="1300" dirty="0">
                <a:solidFill>
                  <a:srgbClr val="2C3E50"/>
                </a:solidFill>
              </a:rPr>
              <a:t>全ての必要書類を準備</a:t>
            </a:r>
            <a:endParaRPr lang="en-US" sz="1300" dirty="0"/>
          </a:p>
          <a:p>
            <a:pPr marL="342900" indent="-342900">
              <a:lnSpc>
                <a:spcPts val="1800"/>
              </a:lnSpc>
              <a:buSzPct val="100000"/>
              <a:buChar char="•"/>
            </a:pPr>
            <a:r>
              <a:rPr lang="en-US" sz="1300" dirty="0">
                <a:solidFill>
                  <a:srgbClr val="2C3E50"/>
                </a:solidFill>
              </a:rPr>
              <a:t>第1候補PG：AXES Payment</a:t>
            </a:r>
            <a:endParaRPr lang="en-US" sz="1300" dirty="0"/>
          </a:p>
          <a:p>
            <a:pPr marL="254000" indent="-254000">
              <a:lnSpc>
                <a:spcPts val="1800"/>
              </a:lnSpc>
              <a:buSzPct val="100000"/>
              <a:buChar char="•"/>
            </a:pPr>
            <a:r>
              <a:rPr lang="en-US" sz="1300" dirty="0">
                <a:solidFill>
                  <a:srgbClr val="2C3E50"/>
                </a:solidFill>
              </a:rPr>
              <a:t>ハイリスク専門の審査プロセスを保有</a:t>
            </a:r>
            <a:endParaRPr lang="en-US" sz="1300" dirty="0"/>
          </a:p>
          <a:p>
            <a:pPr marL="254000" indent="-254000">
              <a:lnSpc>
                <a:spcPts val="1800"/>
              </a:lnSpc>
              <a:buSzPct val="100000"/>
              <a:buChar char="•"/>
            </a:pPr>
            <a:r>
              <a:rPr lang="en-US" sz="1300" dirty="0">
                <a:solidFill>
                  <a:srgbClr val="2C3E50"/>
                </a:solidFill>
              </a:rPr>
              <a:t>必要なDNCカテゴリーを提供する唯一の候補</a:t>
            </a:r>
            <a:endParaRPr lang="en-US" sz="1300" dirty="0"/>
          </a:p>
          <a:p>
            <a:pPr marL="254000" indent="-254000">
              <a:lnSpc>
                <a:spcPts val="1800"/>
              </a:lnSpc>
              <a:buSzPct val="100000"/>
              <a:buChar char="•"/>
            </a:pPr>
            <a:r>
              <a:rPr lang="en-US" sz="1300" b="1" dirty="0">
                <a:solidFill>
                  <a:srgbClr val="E74C3C"/>
                </a:solidFill>
              </a:rPr>
              <a:t>BitCash/C-CHECK取扱可否を「ヒアリング」で必ず確認</a:t>
            </a:r>
            <a:endParaRPr lang="en-US" sz="1300" dirty="0"/>
          </a:p>
          <a:p>
            <a:pPr marL="342900" indent="-342900">
              <a:lnSpc>
                <a:spcPts val="1800"/>
              </a:lnSpc>
              <a:buSzPct val="100000"/>
              <a:buChar char="•"/>
            </a:pPr>
            <a:r>
              <a:rPr lang="en-US" sz="1300" dirty="0">
                <a:solidFill>
                  <a:srgbClr val="2C3E50"/>
                </a:solidFill>
              </a:rPr>
              <a:t>第2候補PG</a:t>
            </a:r>
            <a:endParaRPr lang="en-US" sz="1300" dirty="0"/>
          </a:p>
          <a:p>
            <a:pPr marL="254000" indent="-254000">
              <a:lnSpc>
                <a:spcPts val="1800"/>
              </a:lnSpc>
              <a:buSzPct val="100000"/>
              <a:buChar char="•"/>
            </a:pPr>
            <a:r>
              <a:rPr lang="en-US" sz="1300" dirty="0">
                <a:solidFill>
                  <a:srgbClr val="2C3E50"/>
                </a:solidFill>
              </a:rPr>
              <a:t>R18コンテンツのみを専門とする小規模非主流PG</a:t>
            </a:r>
            <a:endParaRPr lang="en-US" sz="1300" dirty="0"/>
          </a:p>
          <a:p>
            <a:pPr marL="254000" indent="-254000">
              <a:lnSpc>
                <a:spcPts val="1800"/>
              </a:lnSpc>
              <a:buSzPct val="100000"/>
              <a:buChar char="•"/>
            </a:pPr>
            <a:r>
              <a:rPr lang="en-US" sz="1300" dirty="0">
                <a:solidFill>
                  <a:srgbClr val="2C3E50"/>
                </a:solidFill>
              </a:rPr>
              <a:t>ICPGW、SUI Credit、CREDIXなど（後述）</a:t>
            </a:r>
            <a:endParaRPr lang="en-US" sz="1300" dirty="0"/>
          </a:p>
          <a:p>
            <a:pPr marL="342900" indent="-342900">
              <a:lnSpc>
                <a:spcPts val="1800"/>
              </a:lnSpc>
              <a:buSzPct val="100000"/>
              <a:buChar char="•"/>
            </a:pPr>
            <a:r>
              <a:rPr lang="en-US" sz="1300" dirty="0">
                <a:solidFill>
                  <a:srgbClr val="2C3E50"/>
                </a:solidFill>
              </a:rPr>
              <a:t>回避対象</a:t>
            </a:r>
            <a:endParaRPr lang="en-US" sz="1300" dirty="0"/>
          </a:p>
          <a:p>
            <a:pPr marL="254000" indent="-254000">
              <a:lnSpc>
                <a:spcPts val="1800"/>
              </a:lnSpc>
              <a:buSzPct val="100000"/>
              <a:buChar char="•"/>
            </a:pPr>
            <a:r>
              <a:rPr lang="en-US" sz="1300" b="1" dirty="0">
                <a:solidFill>
                  <a:srgbClr val="C0392B"/>
                </a:solidFill>
              </a:rPr>
              <a:t>GMO-PGとVeriTrans</a:t>
            </a:r>
            <a:endParaRPr lang="en-US" sz="1300" dirty="0"/>
          </a:p>
          <a:p>
            <a:pPr marL="254000" indent="-254000">
              <a:lnSpc>
                <a:spcPts val="1800"/>
              </a:lnSpc>
              <a:buSzPct val="100000"/>
              <a:buChar char="•"/>
            </a:pPr>
            <a:r>
              <a:rPr lang="en-US" sz="1300" dirty="0">
                <a:solidFill>
                  <a:srgbClr val="2C3E50"/>
                </a:solidFill>
              </a:rPr>
              <a:t>R18新規事業者と方向性が異なる</a:t>
            </a:r>
            <a:endParaRPr lang="en-US" sz="1300" dirty="0"/>
          </a:p>
          <a:p>
            <a:pPr marL="254000" indent="-254000">
              <a:lnSpc>
                <a:spcPts val="1800"/>
              </a:lnSpc>
              <a:buSzPct val="100000"/>
              <a:buChar char="•"/>
            </a:pPr>
            <a:r>
              <a:rPr lang="en-US" sz="1300" dirty="0">
                <a:solidFill>
                  <a:srgbClr val="C0392B"/>
                </a:solidFill>
              </a:rPr>
              <a:t>申請時に即時拒否が確実視される</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第6部：推奨DNC導入戦略</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優先順位別導入戦略</a:t>
            </a:r>
            <a:endParaRPr lang="en-US" sz="2400" dirty="0"/>
          </a:p>
        </p:txBody>
      </p:sp>
      <p:sp>
        <p:nvSpPr>
          <p:cNvPr id="4" name="Text 2"/>
          <p:cNvSpPr/>
          <p:nvPr/>
        </p:nvSpPr>
        <p:spPr>
          <a:xfrm>
            <a:off x="457200" y="1371600"/>
            <a:ext cx="8229600" cy="5029200"/>
          </a:xfrm>
          <a:prstGeom prst="rect">
            <a:avLst/>
          </a:prstGeom>
          <a:noFill/>
          <a:ln/>
        </p:spPr>
        <p:txBody>
          <a:bodyPr wrap="square" rtlCol="0" anchor="ctr"/>
          <a:lstStyle/>
          <a:p>
            <a:pPr marL="342900" indent="-342900">
              <a:lnSpc>
                <a:spcPts val="1800"/>
              </a:lnSpc>
              <a:buSzPct val="100000"/>
              <a:buChar char="•"/>
            </a:pPr>
            <a:r>
              <a:rPr lang="en-US" sz="1200" dirty="0">
                <a:solidFill>
                  <a:srgbClr val="2C3E50"/>
                </a:solidFill>
              </a:rPr>
              <a:t>第1優先（必須）：BitCash &amp; C-CHECK</a:t>
            </a:r>
            <a:endParaRPr lang="en-US" sz="1200" dirty="0"/>
          </a:p>
          <a:p>
            <a:pPr marL="254000" indent="-254000">
              <a:lnSpc>
                <a:spcPts val="1800"/>
              </a:lnSpc>
              <a:buSzPct val="100000"/>
              <a:buChar char="•"/>
            </a:pPr>
            <a:r>
              <a:rPr lang="en-US" sz="1200" b="1" dirty="0">
                <a:solidFill>
                  <a:srgbClr val="E74C3C"/>
                </a:solidFill>
              </a:rPr>
              <a:t>この決済手段なしには運営は事実上不可能</a:t>
            </a:r>
            <a:endParaRPr lang="en-US" sz="1200" dirty="0"/>
          </a:p>
          <a:p>
            <a:pPr marL="254000" indent="-254000">
              <a:lnSpc>
                <a:spcPts val="1800"/>
              </a:lnSpc>
              <a:buSzPct val="100000"/>
              <a:buChar char="•"/>
            </a:pPr>
            <a:r>
              <a:rPr lang="en-US" sz="1200" dirty="0">
                <a:solidFill>
                  <a:srgbClr val="2C3E50"/>
                </a:solidFill>
              </a:rPr>
              <a:t>AXESヒアリング時に真っ先に質問</a:t>
            </a:r>
            <a:endParaRPr lang="en-US" sz="1200" dirty="0"/>
          </a:p>
          <a:p>
            <a:pPr marL="254000" indent="-254000">
              <a:lnSpc>
                <a:spcPts val="1800"/>
              </a:lnSpc>
              <a:buSzPct val="100000"/>
              <a:buChar char="•"/>
            </a:pPr>
            <a:r>
              <a:rPr lang="en-US" sz="1200" dirty="0">
                <a:solidFill>
                  <a:srgbClr val="E74C3C"/>
                </a:solidFill>
              </a:rPr>
              <a:t>「R18デジタルコンテンツ向けのBitCash/C-CHECK審査は可能か?」</a:t>
            </a:r>
            <a:endParaRPr lang="en-US" sz="1200" dirty="0"/>
          </a:p>
          <a:p>
            <a:pPr marL="342900" indent="-342900">
              <a:lnSpc>
                <a:spcPts val="1800"/>
              </a:lnSpc>
              <a:buSzPct val="100000"/>
              <a:buChar char="•"/>
            </a:pPr>
            <a:r>
              <a:rPr lang="en-US" sz="1200" dirty="0">
                <a:solidFill>
                  <a:srgbClr val="2C3E50"/>
                </a:solidFill>
              </a:rPr>
              <a:t>第2優先（高難易度）：キャリア決済</a:t>
            </a:r>
            <a:endParaRPr lang="en-US" sz="1200" dirty="0"/>
          </a:p>
          <a:p>
            <a:pPr marL="254000" indent="-254000">
              <a:lnSpc>
                <a:spcPts val="1800"/>
              </a:lnSpc>
              <a:buSzPct val="100000"/>
              <a:buChar char="•"/>
            </a:pPr>
            <a:r>
              <a:rPr lang="en-US" sz="1200" dirty="0">
                <a:solidFill>
                  <a:srgbClr val="2C3E50"/>
                </a:solidFill>
              </a:rPr>
              <a:t>技術的にはPG各社がサポート</a:t>
            </a:r>
            <a:endParaRPr lang="en-US" sz="1200" dirty="0"/>
          </a:p>
          <a:p>
            <a:pPr marL="254000" indent="-254000">
              <a:lnSpc>
                <a:spcPts val="1800"/>
              </a:lnSpc>
              <a:buSzPct val="100000"/>
              <a:buChar char="•"/>
            </a:pPr>
            <a:r>
              <a:rPr lang="en-US" sz="1200" dirty="0">
                <a:solidFill>
                  <a:srgbClr val="F39C12"/>
                </a:solidFill>
              </a:rPr>
              <a:t>AIリスクのためキャリア自体の審査通過が非常に困難</a:t>
            </a:r>
            <a:endParaRPr lang="en-US" sz="1200" dirty="0"/>
          </a:p>
          <a:p>
            <a:pPr marL="254000" indent="-254000">
              <a:lnSpc>
                <a:spcPts val="1800"/>
              </a:lnSpc>
              <a:buSzPct val="100000"/>
              <a:buChar char="•"/>
            </a:pPr>
            <a:r>
              <a:rPr lang="en-US" sz="1200" dirty="0">
                <a:solidFill>
                  <a:srgbClr val="F39C12"/>
                </a:solidFill>
              </a:rPr>
              <a:t>PGが承認してもキャリアが拒否する可能性</a:t>
            </a:r>
            <a:endParaRPr lang="en-US" sz="1200" dirty="0"/>
          </a:p>
          <a:p>
            <a:pPr marL="342900" indent="-342900">
              <a:lnSpc>
                <a:spcPts val="1800"/>
              </a:lnSpc>
              <a:buSzPct val="100000"/>
              <a:buChar char="•"/>
            </a:pPr>
            <a:r>
              <a:rPr lang="en-US" sz="1200" dirty="0">
                <a:solidFill>
                  <a:srgbClr val="2C3E50"/>
                </a:solidFill>
              </a:rPr>
              <a:t>導入禁止：QR決済（PayPay、LINE Payなど）</a:t>
            </a:r>
            <a:endParaRPr lang="en-US" sz="1200" dirty="0"/>
          </a:p>
          <a:p>
            <a:pPr marL="254000" indent="-254000">
              <a:lnSpc>
                <a:spcPts val="1800"/>
              </a:lnSpc>
              <a:buSzPct val="100000"/>
              <a:buChar char="•"/>
            </a:pPr>
            <a:r>
              <a:rPr lang="en-US" sz="1200" b="1" dirty="0">
                <a:solidFill>
                  <a:srgbClr val="C0392B"/>
                </a:solidFill>
              </a:rPr>
              <a:t>申請自体をすべきではない</a:t>
            </a:r>
            <a:endParaRPr lang="en-US" sz="1200" dirty="0"/>
          </a:p>
          <a:p>
            <a:pPr marL="254000" indent="-254000">
              <a:lnSpc>
                <a:spcPts val="1800"/>
              </a:lnSpc>
              <a:buSzPct val="100000"/>
              <a:buChar char="•"/>
            </a:pPr>
            <a:r>
              <a:rPr lang="en-US" sz="1200" dirty="0">
                <a:solidFill>
                  <a:srgbClr val="C0392B"/>
                </a:solidFill>
              </a:rPr>
              <a:t>審査時間を浪費し、他の決済手段の審査にも悪影響</a:t>
            </a:r>
            <a:endParaRPr lang="en-US" sz="1200" dirty="0"/>
          </a:p>
          <a:p>
            <a:pPr marL="254000" indent="-254000">
              <a:lnSpc>
                <a:spcPts val="1800"/>
              </a:lnSpc>
              <a:buSzPct val="100000"/>
              <a:buChar char="•"/>
            </a:pPr>
            <a:r>
              <a:rPr lang="en-US" sz="1200" dirty="0">
                <a:solidFill>
                  <a:srgbClr val="C0392B"/>
                </a:solidFill>
              </a:rPr>
              <a:t>ビジネスモデル理解不足の印象を与える</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第6部：審査通過のためのリスク緩和戦略</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「リスクおよびコンプライアンス対応資料」を事前準備</a:t>
            </a:r>
            <a:endParaRPr lang="en-US" sz="2400" dirty="0"/>
          </a:p>
        </p:txBody>
      </p:sp>
      <p:sp>
        <p:nvSpPr>
          <p:cNvPr id="4" name="Text 2"/>
          <p:cNvSpPr/>
          <p:nvPr/>
        </p:nvSpPr>
        <p:spPr>
          <a:xfrm>
            <a:off x="457200" y="1371600"/>
            <a:ext cx="8229600" cy="5029200"/>
          </a:xfrm>
          <a:prstGeom prst="rect">
            <a:avLst/>
          </a:prstGeom>
          <a:noFill/>
          <a:ln/>
        </p:spPr>
        <p:txBody>
          <a:bodyPr wrap="square" rtlCol="0" anchor="ctr"/>
          <a:lstStyle/>
          <a:p>
            <a:pPr marL="342900" indent="-342900">
              <a:lnSpc>
                <a:spcPts val="2000"/>
              </a:lnSpc>
              <a:buSzPct val="100000"/>
              <a:buChar char="•"/>
            </a:pPr>
            <a:r>
              <a:rPr lang="en-US" sz="1300" dirty="0">
                <a:solidFill>
                  <a:srgbClr val="2C3E50"/>
                </a:solidFill>
              </a:rPr>
              <a:t>①AIコンテンツポリシー</a:t>
            </a:r>
            <a:endParaRPr lang="en-US" sz="1300" dirty="0"/>
          </a:p>
          <a:p>
            <a:pPr marL="254000" indent="-254000">
              <a:lnSpc>
                <a:spcPts val="2000"/>
              </a:lnSpc>
              <a:buSzPct val="100000"/>
              <a:buChar char="•"/>
            </a:pPr>
            <a:r>
              <a:rPr lang="en-US" sz="1300" dirty="0">
                <a:solidFill>
                  <a:srgbClr val="2C3E50"/>
                </a:solidFill>
              </a:rPr>
              <a:t>AIが何を生成でき、何を絶対に生成できないかの明確な内部ポリシー</a:t>
            </a:r>
            <a:endParaRPr lang="en-US" sz="1300" dirty="0"/>
          </a:p>
          <a:p>
            <a:pPr marL="342900" indent="-342900">
              <a:lnSpc>
                <a:spcPts val="2000"/>
              </a:lnSpc>
              <a:buSzPct val="100000"/>
              <a:buChar char="•"/>
            </a:pPr>
            <a:r>
              <a:rPr lang="en-US" sz="1300" dirty="0">
                <a:solidFill>
                  <a:srgbClr val="2C3E50"/>
                </a:solidFill>
              </a:rPr>
              <a:t>②コンテンツモデレーション</a:t>
            </a:r>
            <a:endParaRPr lang="en-US" sz="1300" dirty="0"/>
          </a:p>
          <a:p>
            <a:pPr marL="254000" indent="-254000">
              <a:lnSpc>
                <a:spcPts val="2000"/>
              </a:lnSpc>
              <a:buSzPct val="100000"/>
              <a:buChar char="•"/>
            </a:pPr>
            <a:r>
              <a:rPr lang="en-US" sz="1300" dirty="0">
                <a:solidFill>
                  <a:srgbClr val="2C3E50"/>
                </a:solidFill>
              </a:rPr>
              <a:t>違法/非同意コンテンツ生成を事前に防止する技術的フィルタリング</a:t>
            </a:r>
            <a:endParaRPr lang="en-US" sz="1300" dirty="0"/>
          </a:p>
          <a:p>
            <a:pPr marL="254000" indent="-254000">
              <a:lnSpc>
                <a:spcPts val="2000"/>
              </a:lnSpc>
              <a:buSzPct val="100000"/>
              <a:buChar char="•"/>
            </a:pPr>
            <a:r>
              <a:rPr lang="en-US" sz="1300" dirty="0">
                <a:solidFill>
                  <a:srgbClr val="2C3E50"/>
                </a:solidFill>
              </a:rPr>
              <a:t>人的監視計画</a:t>
            </a:r>
            <a:endParaRPr lang="en-US" sz="1300" dirty="0"/>
          </a:p>
          <a:p>
            <a:pPr marL="342900" indent="-342900">
              <a:lnSpc>
                <a:spcPts val="2000"/>
              </a:lnSpc>
              <a:buSzPct val="100000"/>
              <a:buChar char="•"/>
            </a:pPr>
            <a:r>
              <a:rPr lang="en-US" sz="1300" dirty="0">
                <a:solidFill>
                  <a:srgbClr val="2C3E50"/>
                </a:solidFill>
              </a:rPr>
              <a:t>③年齢確認</a:t>
            </a:r>
            <a:endParaRPr lang="en-US" sz="1300" dirty="0"/>
          </a:p>
          <a:p>
            <a:pPr marL="254000" indent="-254000">
              <a:lnSpc>
                <a:spcPts val="2000"/>
              </a:lnSpc>
              <a:buSzPct val="100000"/>
              <a:buChar char="•"/>
            </a:pPr>
            <a:r>
              <a:rPr lang="en-US" sz="1300" b="1" dirty="0">
                <a:solidFill>
                  <a:srgbClr val="2C3E50"/>
                </a:solidFill>
              </a:rPr>
              <a:t>法的基準を遵守する強力な年齢確認システムの実装証明</a:t>
            </a:r>
            <a:endParaRPr lang="en-US" sz="1300" dirty="0"/>
          </a:p>
          <a:p>
            <a:pPr marL="342900" indent="-342900">
              <a:lnSpc>
                <a:spcPts val="2000"/>
              </a:lnSpc>
              <a:buSzPct val="100000"/>
              <a:buChar char="•"/>
            </a:pPr>
            <a:r>
              <a:rPr lang="en-US" sz="1300" dirty="0">
                <a:solidFill>
                  <a:srgbClr val="2C3E50"/>
                </a:solidFill>
              </a:rPr>
              <a:t>④学習データポリシー</a:t>
            </a:r>
            <a:endParaRPr lang="en-US" sz="1300" dirty="0"/>
          </a:p>
          <a:p>
            <a:pPr marL="254000" indent="-254000">
              <a:lnSpc>
                <a:spcPts val="2000"/>
              </a:lnSpc>
              <a:buSzPct val="100000"/>
              <a:buChar char="•"/>
            </a:pPr>
            <a:r>
              <a:rPr lang="en-US" sz="1300" dirty="0">
                <a:solidFill>
                  <a:srgbClr val="2C3E50"/>
                </a:solidFill>
              </a:rPr>
              <a:t>AI学習データの法的正当性に関する明確な立場</a:t>
            </a:r>
            <a:endParaRPr lang="en-US" sz="1300" dirty="0"/>
          </a:p>
          <a:p>
            <a:pPr marL="342900" indent="-342900">
              <a:lnSpc>
                <a:spcPts val="2000"/>
              </a:lnSpc>
              <a:buSzPct val="100000"/>
              <a:buChar char="•"/>
            </a:pPr>
            <a:r>
              <a:rPr lang="en-US" sz="1300" dirty="0">
                <a:solidFill>
                  <a:srgbClr val="2C3E50"/>
                </a:solidFill>
              </a:rPr>
              <a:t>⑤利用規約・個人情報保護方針</a:t>
            </a:r>
            <a:endParaRPr lang="en-US" sz="1300" dirty="0"/>
          </a:p>
          <a:p>
            <a:pPr marL="254000" indent="-254000">
              <a:lnSpc>
                <a:spcPts val="2000"/>
              </a:lnSpc>
              <a:buSzPct val="100000"/>
              <a:buChar char="•"/>
            </a:pPr>
            <a:r>
              <a:rPr lang="en-US" sz="1300" dirty="0">
                <a:solidFill>
                  <a:srgbClr val="2C3E50"/>
                </a:solidFill>
              </a:rPr>
              <a:t>リスク免責条項の明確化</a:t>
            </a:r>
            <a:endParaRPr lang="en-US" sz="1300" dirty="0"/>
          </a:p>
          <a:p>
            <a:pPr marL="254000" indent="-254000">
              <a:lnSpc>
                <a:spcPts val="2000"/>
              </a:lnSpc>
              <a:buSzPct val="100000"/>
              <a:buChar char="•"/>
            </a:pPr>
            <a:r>
              <a:rPr lang="en-US" sz="1300" dirty="0">
                <a:solidFill>
                  <a:srgbClr val="2C3E50"/>
                </a:solidFill>
              </a:rPr>
              <a:t>ユーザーがAIであることを明確に認識できる表示</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第7部：国内成人向けコンテンツ対応PG比較 (1/2)</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8595360" cy="5029200"/>
        </p:xfrm>
        <a:graphic>
          <a:graphicData uri="http://schemas.openxmlformats.org/drawingml/2006/table">
            <a:tbl>
              <a:tblPr/>
              <a:tblGrid>
                <a:gridCol w="11887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838200">
                <a:tc>
                  <a:txBody>
                    <a:bodyPr/>
                    <a:lstStyle/>
                    <a:p>
                      <a:pPr marL="0" indent="0">
                        <a:buNone/>
                      </a:pPr>
                      <a:r>
                        <a:rPr lang="en-US" sz="1000" b="1" dirty="0">
                          <a:solidFill>
                            <a:srgbClr val="FFFFFF"/>
                          </a:solidFill>
                        </a:rPr>
                        <a:t>決済会社</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tc>
                  <a:txBody>
                    <a:bodyPr/>
                    <a:lstStyle/>
                    <a:p>
                      <a:pPr marL="0" indent="0">
                        <a:buNone/>
                      </a:pPr>
                      <a:r>
                        <a:rPr lang="en-US" sz="1000" b="1" dirty="0">
                          <a:solidFill>
                            <a:srgbClr val="FFFFFF"/>
                          </a:solidFill>
                        </a:rPr>
                        <a:t>対応</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tc>
                  <a:txBody>
                    <a:bodyPr/>
                    <a:lstStyle/>
                    <a:p>
                      <a:pPr marL="0" indent="0">
                        <a:buNone/>
                      </a:pPr>
                      <a:r>
                        <a:rPr lang="en-US" sz="1000" b="1" dirty="0">
                          <a:solidFill>
                            <a:srgbClr val="FFFFFF"/>
                          </a:solidFill>
                        </a:rPr>
                        <a:t>決済手段</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tc>
                  <a:txBody>
                    <a:bodyPr/>
                    <a:lstStyle/>
                    <a:p>
                      <a:pPr marL="0" indent="0">
                        <a:buNone/>
                      </a:pPr>
                      <a:r>
                        <a:rPr lang="en-US" sz="1000" b="1" dirty="0">
                          <a:solidFill>
                            <a:srgbClr val="FFFFFF"/>
                          </a:solidFill>
                        </a:rPr>
                        <a:t>手数料</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tc>
                  <a:txBody>
                    <a:bodyPr/>
                    <a:lstStyle/>
                    <a:p>
                      <a:pPr marL="0" indent="0">
                        <a:buNone/>
                      </a:pPr>
                      <a:r>
                        <a:rPr lang="en-US" sz="1000" b="1" dirty="0">
                          <a:solidFill>
                            <a:srgbClr val="FFFFFF"/>
                          </a:solidFill>
                        </a:rPr>
                        <a:t>特記事項</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solidFill>
                      <a:srgbClr val="3498DB"/>
                    </a:solidFill>
                  </a:tcPr>
                </a:tc>
                <a:extLst>
                  <a:ext uri="{0D108BD9-81ED-4DB2-BD59-A6C34878D82A}">
                    <a16:rowId xmlns:a16="http://schemas.microsoft.com/office/drawing/2014/main" val="10000"/>
                  </a:ext>
                </a:extLst>
              </a:tr>
              <a:tr h="838200">
                <a:tc>
                  <a:txBody>
                    <a:bodyPr/>
                    <a:lstStyle/>
                    <a:p>
                      <a:pPr marL="0" indent="0">
                        <a:buNone/>
                      </a:pPr>
                      <a:r>
                        <a:rPr lang="en-US" sz="1000" b="1" dirty="0">
                          <a:solidFill>
                            <a:srgbClr val="000000"/>
                          </a:solidFill>
                        </a:rPr>
                        <a:t>ICPGW</a:t>
                      </a:r>
                      <a:endParaRPr lang="en-US" sz="1000" dirty="0"/>
                    </a:p>
                    <a:p>
                      <a:pPr marL="0" indent="0">
                        <a:buNone/>
                      </a:pPr>
                      <a:r>
                        <a:rPr lang="en-US" sz="1000" b="1" dirty="0">
                          <a:solidFill>
                            <a:srgbClr val="000000"/>
                          </a:solidFill>
                        </a:rPr>
                        <a:t>(日本)</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b="1" dirty="0">
                          <a:solidFill>
                            <a:srgbClr val="27AE60"/>
                          </a:solidFill>
                        </a:rPr>
                        <a:t>✅ 完全対応</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Visa, MC</a:t>
                      </a:r>
                      <a:endParaRPr lang="en-US" sz="1000" dirty="0"/>
                    </a:p>
                    <a:p>
                      <a:pPr marL="0" indent="0">
                        <a:buNone/>
                      </a:pPr>
                      <a:r>
                        <a:rPr lang="en-US" sz="1000" dirty="0">
                          <a:solidFill>
                            <a:srgbClr val="000000"/>
                          </a:solidFill>
                        </a:rPr>
                        <a:t>JCB, Amex</a:t>
                      </a:r>
                      <a:endParaRPr lang="en-US" sz="1000" dirty="0"/>
                    </a:p>
                    <a:p>
                      <a:pPr marL="0" indent="0">
                        <a:buNone/>
                      </a:pPr>
                      <a:r>
                        <a:rPr lang="en-US" sz="1000" dirty="0">
                          <a:solidFill>
                            <a:srgbClr val="000000"/>
                          </a:solidFill>
                        </a:rPr>
                        <a:t>¥/US$決済</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約6.75%～</a:t>
                      </a:r>
                      <a:endParaRPr lang="en-US" sz="1000" dirty="0"/>
                    </a:p>
                    <a:p>
                      <a:pPr marL="0" indent="0">
                        <a:buNone/>
                      </a:pPr>
                      <a:r>
                        <a:rPr lang="en-US" sz="1000" dirty="0">
                          <a:solidFill>
                            <a:srgbClr val="000000"/>
                          </a:solidFill>
                        </a:rPr>
                        <a:t>初期費用¥0～</a:t>
                      </a:r>
                      <a:endParaRPr lang="en-US" sz="1000" dirty="0"/>
                    </a:p>
                    <a:p>
                      <a:pPr marL="0" indent="0">
                        <a:buNone/>
                      </a:pPr>
                      <a:r>
                        <a:rPr lang="en-US" sz="1000" dirty="0">
                          <a:solidFill>
                            <a:srgbClr val="000000"/>
                          </a:solidFill>
                        </a:rPr>
                        <a:t>月額¥0～</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7営業日以内導入</a:t>
                      </a:r>
                      <a:endParaRPr lang="en-US" sz="1000" dirty="0"/>
                    </a:p>
                    <a:p>
                      <a:pPr marL="0" indent="0">
                        <a:buNone/>
                      </a:pPr>
                      <a:r>
                        <a:rPr lang="en-US" sz="1000" dirty="0">
                          <a:solidFill>
                            <a:srgbClr val="000000"/>
                          </a:solidFill>
                        </a:rPr>
                        <a:t>加盟店名請求可</a:t>
                      </a:r>
                      <a:endParaRPr lang="en-US" sz="1000" dirty="0"/>
                    </a:p>
                    <a:p>
                      <a:pPr marL="0" indent="0">
                        <a:buNone/>
                      </a:pPr>
                      <a:r>
                        <a:rPr lang="en-US" sz="1000" dirty="0">
                          <a:solidFill>
                            <a:srgbClr val="000000"/>
                          </a:solidFill>
                        </a:rPr>
                        <a:t>15年以上実績</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pPr marL="0" indent="0">
                        <a:buNone/>
                      </a:pPr>
                      <a:r>
                        <a:rPr lang="en-US" sz="1000" b="1" dirty="0">
                          <a:solidFill>
                            <a:srgbClr val="000000"/>
                          </a:solidFill>
                        </a:rPr>
                        <a:t>SUI Credit</a:t>
                      </a:r>
                      <a:endParaRPr lang="en-US" sz="1000" dirty="0"/>
                    </a:p>
                    <a:p>
                      <a:pPr marL="0" indent="0">
                        <a:buNone/>
                      </a:pPr>
                      <a:r>
                        <a:rPr lang="en-US" sz="1000" b="1" dirty="0">
                          <a:solidFill>
                            <a:srgbClr val="000000"/>
                          </a:solidFill>
                        </a:rPr>
                        <a:t>(日本)</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b="1" dirty="0">
                          <a:solidFill>
                            <a:srgbClr val="27AE60"/>
                          </a:solidFill>
                        </a:rPr>
                        <a:t>✅ 特化</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Visa, MC, JCB</a:t>
                      </a:r>
                      <a:endParaRPr lang="en-US" sz="1000" dirty="0"/>
                    </a:p>
                    <a:p>
                      <a:pPr marL="0" indent="0">
                        <a:buNone/>
                      </a:pPr>
                      <a:r>
                        <a:rPr lang="en-US" sz="1000" dirty="0">
                          <a:solidFill>
                            <a:srgbClr val="000000"/>
                          </a:solidFill>
                        </a:rPr>
                        <a:t>Amex, Diners</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個別算定</a:t>
                      </a:r>
                      <a:endParaRPr lang="en-US" sz="1000" dirty="0"/>
                    </a:p>
                    <a:p>
                      <a:pPr marL="0" indent="0">
                        <a:buNone/>
                      </a:pPr>
                      <a:r>
                        <a:rPr lang="en-US" sz="1000" dirty="0">
                          <a:solidFill>
                            <a:srgbClr val="000000"/>
                          </a:solidFill>
                        </a:rPr>
                        <a:t>初期費用¥0</a:t>
                      </a:r>
                      <a:endParaRPr lang="en-US" sz="1000" dirty="0"/>
                    </a:p>
                    <a:p>
                      <a:pPr marL="0" indent="0">
                        <a:buNone/>
                      </a:pPr>
                      <a:r>
                        <a:rPr lang="en-US" sz="1000" dirty="0">
                          <a:solidFill>
                            <a:srgbClr val="000000"/>
                          </a:solidFill>
                        </a:rPr>
                        <a:t>月額なし</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審査1営業日～</a:t>
                      </a:r>
                      <a:endParaRPr lang="en-US" sz="1000" dirty="0"/>
                    </a:p>
                    <a:p>
                      <a:pPr marL="0" indent="0">
                        <a:buNone/>
                      </a:pPr>
                      <a:r>
                        <a:rPr lang="en-US" sz="1000" dirty="0">
                          <a:solidFill>
                            <a:srgbClr val="000000"/>
                          </a:solidFill>
                        </a:rPr>
                        <a:t>初期費用0円</a:t>
                      </a:r>
                      <a:endParaRPr lang="en-US" sz="1000" dirty="0"/>
                    </a:p>
                    <a:p>
                      <a:pPr marL="0" indent="0">
                        <a:buNone/>
                      </a:pPr>
                      <a:r>
                        <a:rPr lang="en-US" sz="1000" dirty="0">
                          <a:solidFill>
                            <a:srgbClr val="000000"/>
                          </a:solidFill>
                        </a:rPr>
                        <a:t>代行会社名義請求</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2"/>
                  </a:ext>
                </a:extLst>
              </a:tr>
              <a:tr h="838200">
                <a:tc>
                  <a:txBody>
                    <a:bodyPr/>
                    <a:lstStyle/>
                    <a:p>
                      <a:pPr marL="0" indent="0">
                        <a:buNone/>
                      </a:pPr>
                      <a:r>
                        <a:rPr lang="en-US" sz="1000" b="1" dirty="0">
                          <a:solidFill>
                            <a:srgbClr val="000000"/>
                          </a:solidFill>
                        </a:rPr>
                        <a:t>CREDIX</a:t>
                      </a:r>
                      <a:endParaRPr lang="en-US" sz="1000" dirty="0"/>
                    </a:p>
                    <a:p>
                      <a:pPr marL="0" indent="0">
                        <a:buNone/>
                      </a:pPr>
                      <a:r>
                        <a:rPr lang="en-US" sz="1000" b="1" dirty="0">
                          <a:solidFill>
                            <a:srgbClr val="000000"/>
                          </a:solidFill>
                        </a:rPr>
                        <a:t>(日本)</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b="1" dirty="0">
                          <a:solidFill>
                            <a:srgbClr val="27AE60"/>
                          </a:solidFill>
                        </a:rPr>
                        <a:t>✅ 専門</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Visa, MC, JCB</a:t>
                      </a:r>
                      <a:endParaRPr lang="en-US" sz="1000" dirty="0"/>
                    </a:p>
                    <a:p>
                      <a:pPr marL="0" indent="0">
                        <a:buNone/>
                      </a:pPr>
                      <a:r>
                        <a:rPr lang="en-US" sz="1000" dirty="0">
                          <a:solidFill>
                            <a:srgbClr val="000000"/>
                          </a:solidFill>
                        </a:rPr>
                        <a:t>US$対応</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低料率提示可</a:t>
                      </a:r>
                      <a:endParaRPr lang="en-US" sz="1000" dirty="0"/>
                    </a:p>
                    <a:p>
                      <a:pPr marL="0" indent="0">
                        <a:buNone/>
                      </a:pPr>
                      <a:r>
                        <a:rPr lang="en-US" sz="1000" dirty="0">
                          <a:solidFill>
                            <a:srgbClr val="000000"/>
                          </a:solidFill>
                        </a:rPr>
                        <a:t>初期費用協議</a:t>
                      </a:r>
                      <a:endParaRPr lang="en-US" sz="1000" dirty="0"/>
                    </a:p>
                    <a:p>
                      <a:pPr marL="0" indent="0">
                        <a:buNone/>
                      </a:pPr>
                      <a:r>
                        <a:rPr lang="en-US" sz="1000" dirty="0">
                          <a:solidFill>
                            <a:srgbClr val="000000"/>
                          </a:solidFill>
                        </a:rPr>
                        <a:t>月額協議</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5～10日導入</a:t>
                      </a:r>
                      <a:endParaRPr lang="en-US" sz="1000" dirty="0"/>
                    </a:p>
                    <a:p>
                      <a:pPr marL="0" indent="0">
                        <a:buNone/>
                      </a:pPr>
                      <a:r>
                        <a:rPr lang="en-US" sz="1000" dirty="0">
                          <a:solidFill>
                            <a:srgbClr val="000000"/>
                          </a:solidFill>
                        </a:rPr>
                        <a:t>独自審査基準</a:t>
                      </a:r>
                      <a:endParaRPr lang="en-US" sz="1000" dirty="0"/>
                    </a:p>
                    <a:p>
                      <a:pPr marL="0" indent="0">
                        <a:buNone/>
                      </a:pPr>
                      <a:r>
                        <a:rPr lang="en-US" sz="1000" dirty="0">
                          <a:solidFill>
                            <a:srgbClr val="000000"/>
                          </a:solidFill>
                        </a:rPr>
                        <a:t>CREDIX名義請求</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3"/>
                  </a:ext>
                </a:extLst>
              </a:tr>
              <a:tr h="838200">
                <a:tc>
                  <a:txBody>
                    <a:bodyPr/>
                    <a:lstStyle/>
                    <a:p>
                      <a:pPr marL="0" indent="0">
                        <a:buNone/>
                      </a:pPr>
                      <a:r>
                        <a:rPr lang="en-US" sz="1000" b="1" dirty="0">
                          <a:solidFill>
                            <a:srgbClr val="000000"/>
                          </a:solidFill>
                        </a:rPr>
                        <a:t>Zeus</a:t>
                      </a:r>
                      <a:endParaRPr lang="en-US" sz="1000" dirty="0"/>
                    </a:p>
                    <a:p>
                      <a:pPr marL="0" indent="0">
                        <a:buNone/>
                      </a:pPr>
                      <a:r>
                        <a:rPr lang="en-US" sz="1000" b="1" dirty="0">
                          <a:solidFill>
                            <a:srgbClr val="000000"/>
                          </a:solidFill>
                        </a:rPr>
                        <a:t>(SBI)</a:t>
                      </a:r>
                      <a:endParaRPr lang="en-US" sz="1000" dirty="0"/>
                    </a:p>
                    <a:p>
                      <a:pPr marL="0" indent="0">
                        <a:buNone/>
                      </a:pPr>
                      <a:r>
                        <a:rPr lang="en-US" sz="1000" b="1" dirty="0">
                          <a:solidFill>
                            <a:srgbClr val="000000"/>
                          </a:solidFill>
                        </a:rPr>
                        <a:t>(日本)</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F39C12"/>
                          </a:solidFill>
                        </a:rPr>
                        <a:t>△ 可能</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Visa, MC, JCB</a:t>
                      </a:r>
                      <a:endParaRPr lang="en-US" sz="1000" dirty="0"/>
                    </a:p>
                    <a:p>
                      <a:pPr marL="0" indent="0">
                        <a:buNone/>
                      </a:pPr>
                      <a:r>
                        <a:rPr lang="en-US" sz="1000" dirty="0">
                          <a:solidFill>
                            <a:srgbClr val="000000"/>
                          </a:solidFill>
                        </a:rPr>
                        <a:t>コンビニ決済等</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5～7%台</a:t>
                      </a:r>
                      <a:endParaRPr lang="en-US" sz="1000" dirty="0"/>
                    </a:p>
                    <a:p>
                      <a:pPr marL="0" indent="0">
                        <a:buNone/>
                      </a:pPr>
                      <a:r>
                        <a:rPr lang="en-US" sz="1000" dirty="0">
                          <a:solidFill>
                            <a:srgbClr val="000000"/>
                          </a:solidFill>
                        </a:rPr>
                        <a:t>初期約¥100k</a:t>
                      </a:r>
                      <a:endParaRPr lang="en-US" sz="1000" dirty="0"/>
                    </a:p>
                    <a:p>
                      <a:pPr marL="0" indent="0">
                        <a:buNone/>
                      </a:pPr>
                      <a:r>
                        <a:rPr lang="en-US" sz="1000" dirty="0">
                          <a:solidFill>
                            <a:srgbClr val="000000"/>
                          </a:solidFill>
                        </a:rPr>
                        <a:t>月額約¥10k</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審査1.5～3ヶ月</a:t>
                      </a:r>
                      <a:endParaRPr lang="en-US" sz="1000" dirty="0"/>
                    </a:p>
                    <a:p>
                      <a:pPr marL="0" indent="0">
                        <a:buNone/>
                      </a:pPr>
                      <a:r>
                        <a:rPr lang="en-US" sz="1000" dirty="0">
                          <a:solidFill>
                            <a:srgbClr val="000000"/>
                          </a:solidFill>
                        </a:rPr>
                        <a:t>SBI系列安定性</a:t>
                      </a:r>
                      <a:endParaRPr lang="en-US" sz="1000" dirty="0"/>
                    </a:p>
                    <a:p>
                      <a:pPr marL="0" indent="0">
                        <a:buNone/>
                      </a:pPr>
                      <a:r>
                        <a:rPr lang="en-US" sz="1000" dirty="0">
                          <a:solidFill>
                            <a:srgbClr val="000000"/>
                          </a:solidFill>
                        </a:rPr>
                        <a:t>JCBのみ増加傾向</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4"/>
                  </a:ext>
                </a:extLst>
              </a:tr>
              <a:tr h="838200">
                <a:tc>
                  <a:txBody>
                    <a:bodyPr/>
                    <a:lstStyle/>
                    <a:p>
                      <a:pPr marL="0" indent="0">
                        <a:buNone/>
                      </a:pPr>
                      <a:r>
                        <a:rPr lang="en-US" sz="1000" b="1" dirty="0">
                          <a:solidFill>
                            <a:srgbClr val="000000"/>
                          </a:solidFill>
                        </a:rPr>
                        <a:t>Billmont</a:t>
                      </a:r>
                      <a:endParaRPr lang="en-US" sz="1000" dirty="0"/>
                    </a:p>
                    <a:p>
                      <a:pPr marL="0" indent="0">
                        <a:buNone/>
                      </a:pPr>
                      <a:r>
                        <a:rPr lang="en-US" sz="1000" b="1" dirty="0">
                          <a:solidFill>
                            <a:srgbClr val="000000"/>
                          </a:solidFill>
                        </a:rPr>
                        <a:t>(日本+海外)</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b="1" dirty="0">
                          <a:solidFill>
                            <a:srgbClr val="27AE60"/>
                          </a:solidFill>
                        </a:rPr>
                        <a:t>✅ 対応</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Visa, MC, Amex</a:t>
                      </a:r>
                      <a:endParaRPr lang="en-US" sz="1000" dirty="0"/>
                    </a:p>
                    <a:p>
                      <a:pPr marL="0" indent="0">
                        <a:buNone/>
                      </a:pPr>
                      <a:r>
                        <a:rPr lang="en-US" sz="1000" dirty="0">
                          <a:solidFill>
                            <a:srgbClr val="000000"/>
                          </a:solidFill>
                        </a:rPr>
                        <a:t>164通貨対応</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協議制</a:t>
                      </a:r>
                      <a:endParaRPr lang="en-US" sz="1000" dirty="0"/>
                    </a:p>
                    <a:p>
                      <a:pPr marL="0" indent="0">
                        <a:buNone/>
                      </a:pPr>
                      <a:r>
                        <a:rPr lang="en-US" sz="1000" dirty="0">
                          <a:solidFill>
                            <a:srgbClr val="000000"/>
                          </a:solidFill>
                        </a:rPr>
                        <a:t>初期/月額協議</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tc>
                  <a:txBody>
                    <a:bodyPr/>
                    <a:lstStyle/>
                    <a:p>
                      <a:pPr marL="0" indent="0">
                        <a:buNone/>
                      </a:pPr>
                      <a:r>
                        <a:rPr lang="en-US" sz="1000" dirty="0">
                          <a:solidFill>
                            <a:srgbClr val="000000"/>
                          </a:solidFill>
                        </a:rPr>
                        <a:t>審査3営業日～</a:t>
                      </a:r>
                      <a:endParaRPr lang="en-US" sz="1000" dirty="0"/>
                    </a:p>
                    <a:p>
                      <a:pPr marL="0" indent="0">
                        <a:buNone/>
                      </a:pPr>
                      <a:r>
                        <a:rPr lang="en-US" sz="1000" dirty="0">
                          <a:solidFill>
                            <a:srgbClr val="000000"/>
                          </a:solidFill>
                        </a:rPr>
                        <a:t>海外PSP迂回承認</a:t>
                      </a:r>
                      <a:endParaRPr lang="en-US" sz="1000" dirty="0"/>
                    </a:p>
                    <a:p>
                      <a:pPr marL="0" indent="0">
                        <a:buNone/>
                      </a:pPr>
                      <a:r>
                        <a:rPr lang="en-US" sz="1000" dirty="0">
                          <a:solidFill>
                            <a:srgbClr val="000000"/>
                          </a:solidFill>
                        </a:rPr>
                        <a:t>PCI DSS準拠</a:t>
                      </a:r>
                      <a:endParaRPr lang="en-US" sz="1000" dirty="0"/>
                    </a:p>
                  </a:txBody>
                  <a:tcPr anchor="ctr">
                    <a:lnL w="12700" cap="flat" cmpd="sng" algn="ctr">
                      <a:solidFill>
                        <a:srgbClr val="BDC3C7"/>
                      </a:solidFill>
                      <a:prstDash val="solid"/>
                      <a:round/>
                      <a:headEnd type="none" w="med" len="med"/>
                      <a:tailEnd type="none" w="med" len="med"/>
                    </a:lnL>
                    <a:lnR w="12700" cap="flat" cmpd="sng" algn="ctr">
                      <a:solidFill>
                        <a:srgbClr val="BDC3C7"/>
                      </a:solidFill>
                      <a:prstDash val="solid"/>
                      <a:round/>
                      <a:headEnd type="none" w="med" len="med"/>
                      <a:tailEnd type="none" w="med" len="med"/>
                    </a:lnR>
                    <a:lnT w="12700" cap="flat" cmpd="sng" algn="ctr">
                      <a:solidFill>
                        <a:srgbClr val="BDC3C7"/>
                      </a:solidFill>
                      <a:prstDash val="solid"/>
                      <a:round/>
                      <a:headEnd type="none" w="med" len="med"/>
                      <a:tailEnd type="none" w="med" len="med"/>
                    </a:lnT>
                    <a:lnB w="12700" cap="flat" cmpd="sng" algn="ctr">
                      <a:solidFill>
                        <a:srgbClr val="BDC3C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第7部：国内成人向けPG詳細 (1/5) - ICPGW</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ICPGW (Be Communications)</a:t>
            </a:r>
            <a:endParaRPr lang="en-US" sz="2400" dirty="0"/>
          </a:p>
        </p:txBody>
      </p:sp>
      <p:sp>
        <p:nvSpPr>
          <p:cNvPr id="4" name="Text 2"/>
          <p:cNvSpPr/>
          <p:nvPr/>
        </p:nvSpPr>
        <p:spPr>
          <a:xfrm>
            <a:off x="7315200" y="914400"/>
            <a:ext cx="1371600" cy="365760"/>
          </a:xfrm>
          <a:prstGeom prst="rect">
            <a:avLst/>
          </a:prstGeom>
          <a:solidFill>
            <a:srgbClr val="27AE60"/>
          </a:solidFill>
          <a:ln/>
        </p:spPr>
        <p:txBody>
          <a:bodyPr wrap="square" rtlCol="0" anchor="ctr"/>
          <a:lstStyle/>
          <a:p>
            <a:pPr marL="0" indent="0" algn="ctr">
              <a:buNone/>
            </a:pPr>
            <a:r>
              <a:rPr lang="en-US" sz="1600" b="1" dirty="0">
                <a:solidFill>
                  <a:srgbClr val="FFFFFF"/>
                </a:solidFill>
              </a:rPr>
              <a:t>推奨</a:t>
            </a:r>
            <a:endParaRPr lang="en-US" sz="1600" dirty="0"/>
          </a:p>
        </p:txBody>
      </p:sp>
      <p:sp>
        <p:nvSpPr>
          <p:cNvPr id="5" name="Text 3"/>
          <p:cNvSpPr/>
          <p:nvPr/>
        </p:nvSpPr>
        <p:spPr>
          <a:xfrm>
            <a:off x="457200" y="1463040"/>
            <a:ext cx="8229600" cy="4937760"/>
          </a:xfrm>
          <a:prstGeom prst="rect">
            <a:avLst/>
          </a:prstGeom>
          <a:noFill/>
          <a:ln/>
        </p:spPr>
        <p:txBody>
          <a:bodyPr wrap="square" rtlCol="0" anchor="ctr"/>
          <a:lstStyle/>
          <a:p>
            <a:pPr marL="342900" indent="-342900">
              <a:lnSpc>
                <a:spcPts val="1800"/>
              </a:lnSpc>
              <a:buSzPct val="100000"/>
              <a:buChar char="•"/>
            </a:pPr>
            <a:r>
              <a:rPr lang="en-US" sz="1200" dirty="0">
                <a:solidFill>
                  <a:srgbClr val="2C3E50"/>
                </a:solidFill>
              </a:rPr>
              <a:t>特徴</a:t>
            </a:r>
            <a:endParaRPr lang="en-US" sz="1200" dirty="0"/>
          </a:p>
          <a:p>
            <a:pPr marL="254000" indent="-254000">
              <a:lnSpc>
                <a:spcPts val="1800"/>
              </a:lnSpc>
              <a:buSzPct val="100000"/>
              <a:buChar char="•"/>
            </a:pPr>
            <a:r>
              <a:rPr lang="en-US" sz="1200" b="1" dirty="0">
                <a:solidFill>
                  <a:srgbClr val="2C3E50"/>
                </a:solidFill>
              </a:rPr>
              <a:t>成人コンテンツへの完全対応を明記</a:t>
            </a:r>
            <a:endParaRPr lang="en-US" sz="1200" dirty="0"/>
          </a:p>
          <a:p>
            <a:pPr marL="254000" indent="-254000">
              <a:lnSpc>
                <a:spcPts val="1800"/>
              </a:lnSpc>
              <a:buSzPct val="100000"/>
              <a:buChar char="•"/>
            </a:pPr>
            <a:r>
              <a:rPr lang="en-US" sz="1200" dirty="0">
                <a:solidFill>
                  <a:srgbClr val="2C3E50"/>
                </a:solidFill>
              </a:rPr>
              <a:t>米国など海外金融ベンダーと提携し承認率向上</a:t>
            </a:r>
            <a:endParaRPr lang="en-US" sz="1200" dirty="0"/>
          </a:p>
          <a:p>
            <a:pPr marL="254000" indent="-254000">
              <a:lnSpc>
                <a:spcPts val="1800"/>
              </a:lnSpc>
              <a:buSzPct val="100000"/>
              <a:buChar char="•"/>
            </a:pPr>
            <a:r>
              <a:rPr lang="en-US" sz="1200" dirty="0">
                <a:solidFill>
                  <a:srgbClr val="2C3E50"/>
                </a:solidFill>
              </a:rPr>
              <a:t>最短7営業日以内のセットアップ</a:t>
            </a:r>
            <a:endParaRPr lang="en-US" sz="1200" dirty="0"/>
          </a:p>
          <a:p>
            <a:pPr marL="342900" indent="-342900">
              <a:lnSpc>
                <a:spcPts val="1800"/>
              </a:lnSpc>
              <a:buSzPct val="100000"/>
              <a:buChar char="•"/>
            </a:pPr>
            <a:r>
              <a:rPr lang="en-US" sz="1200" dirty="0">
                <a:solidFill>
                  <a:srgbClr val="2C3E50"/>
                </a:solidFill>
              </a:rPr>
              <a:t>強み</a:t>
            </a:r>
            <a:endParaRPr lang="en-US" sz="1200" dirty="0"/>
          </a:p>
          <a:p>
            <a:pPr marL="254000" indent="-254000">
              <a:lnSpc>
                <a:spcPts val="1800"/>
              </a:lnSpc>
              <a:buSzPct val="100000"/>
              <a:buChar char="•"/>
            </a:pPr>
            <a:r>
              <a:rPr lang="en-US" sz="1200" dirty="0">
                <a:solidFill>
                  <a:srgbClr val="2C3E50"/>
                </a:solidFill>
              </a:rPr>
              <a:t>顧客カード明細に加盟店名を記載可能</a:t>
            </a:r>
            <a:endParaRPr lang="en-US" sz="1200" dirty="0"/>
          </a:p>
          <a:p>
            <a:pPr marL="254000" indent="-254000">
              <a:lnSpc>
                <a:spcPts val="1800"/>
              </a:lnSpc>
              <a:buSzPct val="100000"/>
              <a:buChar char="•"/>
            </a:pPr>
            <a:r>
              <a:rPr lang="en-US" sz="1200" dirty="0">
                <a:solidFill>
                  <a:srgbClr val="2C3E50"/>
                </a:solidFill>
              </a:rPr>
              <a:t>利用者の信頼度向上</a:t>
            </a:r>
            <a:endParaRPr lang="en-US" sz="1200" dirty="0"/>
          </a:p>
          <a:p>
            <a:pPr marL="254000" indent="-254000">
              <a:lnSpc>
                <a:spcPts val="1800"/>
              </a:lnSpc>
              <a:buSzPct val="100000"/>
              <a:buChar char="•"/>
            </a:pPr>
            <a:r>
              <a:rPr lang="en-US" sz="1200" b="1" dirty="0">
                <a:solidFill>
                  <a:srgbClr val="E74C3C"/>
                </a:solidFill>
              </a:rPr>
              <a:t>「他の業者で断られた場合も相談してほしい」と明記</a:t>
            </a:r>
            <a:endParaRPr lang="en-US" sz="1200" dirty="0"/>
          </a:p>
          <a:p>
            <a:pPr marL="254000" indent="-254000">
              <a:lnSpc>
                <a:spcPts val="1800"/>
              </a:lnSpc>
              <a:buSzPct val="100000"/>
              <a:buChar char="•"/>
            </a:pPr>
            <a:r>
              <a:rPr lang="en-US" sz="1200" dirty="0">
                <a:solidFill>
                  <a:srgbClr val="2C3E50"/>
                </a:solidFill>
              </a:rPr>
              <a:t>15年以上の成人向け決済実績</a:t>
            </a:r>
            <a:endParaRPr lang="en-US" sz="1200" dirty="0"/>
          </a:p>
          <a:p>
            <a:pPr marL="342900" indent="-342900">
              <a:lnSpc>
                <a:spcPts val="1800"/>
              </a:lnSpc>
              <a:buSzPct val="100000"/>
              <a:buChar char="•"/>
            </a:pPr>
            <a:r>
              <a:rPr lang="en-US" sz="1200" dirty="0">
                <a:solidFill>
                  <a:srgbClr val="2C3E50"/>
                </a:solidFill>
              </a:rPr>
              <a:t>費用</a:t>
            </a:r>
            <a:endParaRPr lang="en-US" sz="1200" dirty="0"/>
          </a:p>
          <a:p>
            <a:pPr marL="254000" indent="-254000">
              <a:lnSpc>
                <a:spcPts val="1800"/>
              </a:lnSpc>
              <a:buSzPct val="100000"/>
              <a:buChar char="•"/>
            </a:pPr>
            <a:r>
              <a:rPr lang="en-US" sz="1200" dirty="0">
                <a:solidFill>
                  <a:srgbClr val="2C3E50"/>
                </a:solidFill>
              </a:rPr>
              <a:t>手数料：約6.75%～（取扱商品・売上規模により変動）</a:t>
            </a:r>
            <a:endParaRPr lang="en-US" sz="1200" dirty="0"/>
          </a:p>
          <a:p>
            <a:pPr marL="254000" indent="-254000">
              <a:lnSpc>
                <a:spcPts val="1800"/>
              </a:lnSpc>
              <a:buSzPct val="100000"/>
              <a:buChar char="•"/>
            </a:pPr>
            <a:r>
              <a:rPr lang="en-US" sz="1200" dirty="0">
                <a:solidFill>
                  <a:srgbClr val="2C3E50"/>
                </a:solidFill>
              </a:rPr>
              <a:t>初期費用/月額費用：¥0（条件により変動）</a:t>
            </a:r>
            <a:endParaRPr lang="en-US" sz="1200" dirty="0"/>
          </a:p>
          <a:p>
            <a:pPr marL="254000" indent="-254000">
              <a:lnSpc>
                <a:spcPts val="1800"/>
              </a:lnSpc>
              <a:buSzPct val="100000"/>
              <a:buChar char="•"/>
            </a:pPr>
            <a:r>
              <a:rPr lang="en-US" sz="1200" dirty="0">
                <a:solidFill>
                  <a:srgbClr val="2C3E50"/>
                </a:solidFill>
              </a:rPr>
              <a:t>トランザクション料金：¥55/件</a:t>
            </a:r>
            <a:endParaRPr lang="en-US" sz="1200" dirty="0"/>
          </a:p>
          <a:p>
            <a:pPr marL="254000" indent="-254000">
              <a:lnSpc>
                <a:spcPts val="1800"/>
              </a:lnSpc>
              <a:buSzPct val="100000"/>
              <a:buChar char="•"/>
            </a:pPr>
            <a:r>
              <a:rPr lang="en-US" sz="1200" dirty="0">
                <a:solidFill>
                  <a:srgbClr val="2C3E50"/>
                </a:solidFill>
              </a:rPr>
              <a:t>チャージバック：¥5,500/件</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第7部：国内成人向けPG詳細 (2/5) - SUI Credit</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SUI Credit Service (SHIMATOMO Inc.)</a:t>
            </a:r>
            <a:endParaRPr lang="en-US" sz="2400" dirty="0"/>
          </a:p>
        </p:txBody>
      </p:sp>
      <p:sp>
        <p:nvSpPr>
          <p:cNvPr id="4" name="Text 2"/>
          <p:cNvSpPr/>
          <p:nvPr/>
        </p:nvSpPr>
        <p:spPr>
          <a:xfrm>
            <a:off x="7315200" y="914400"/>
            <a:ext cx="1371600" cy="365760"/>
          </a:xfrm>
          <a:prstGeom prst="rect">
            <a:avLst/>
          </a:prstGeom>
          <a:solidFill>
            <a:srgbClr val="27AE60"/>
          </a:solidFill>
          <a:ln/>
        </p:spPr>
        <p:txBody>
          <a:bodyPr wrap="square" rtlCol="0" anchor="ctr"/>
          <a:lstStyle/>
          <a:p>
            <a:pPr marL="0" indent="0" algn="ctr">
              <a:buNone/>
            </a:pPr>
            <a:r>
              <a:rPr lang="en-US" sz="1600" b="1" dirty="0">
                <a:solidFill>
                  <a:srgbClr val="FFFFFF"/>
                </a:solidFill>
              </a:rPr>
              <a:t>推奨</a:t>
            </a:r>
            <a:endParaRPr lang="en-US" sz="1600" dirty="0"/>
          </a:p>
        </p:txBody>
      </p:sp>
      <p:sp>
        <p:nvSpPr>
          <p:cNvPr id="5" name="Text 3"/>
          <p:cNvSpPr/>
          <p:nvPr/>
        </p:nvSpPr>
        <p:spPr>
          <a:xfrm>
            <a:off x="457200" y="1463040"/>
            <a:ext cx="8229600" cy="4937760"/>
          </a:xfrm>
          <a:prstGeom prst="rect">
            <a:avLst/>
          </a:prstGeom>
          <a:noFill/>
          <a:ln/>
        </p:spPr>
        <p:txBody>
          <a:bodyPr wrap="square" rtlCol="0" anchor="ctr"/>
          <a:lstStyle/>
          <a:p>
            <a:pPr marL="342900" indent="-342900">
              <a:lnSpc>
                <a:spcPts val="1800"/>
              </a:lnSpc>
              <a:buSzPct val="100000"/>
              <a:buChar char="•"/>
            </a:pPr>
            <a:r>
              <a:rPr lang="en-US" sz="1200" dirty="0">
                <a:solidFill>
                  <a:srgbClr val="2C3E50"/>
                </a:solidFill>
              </a:rPr>
              <a:t>特徴</a:t>
            </a:r>
            <a:endParaRPr lang="en-US" sz="1200" dirty="0"/>
          </a:p>
          <a:p>
            <a:pPr marL="254000" indent="-254000">
              <a:lnSpc>
                <a:spcPts val="1800"/>
              </a:lnSpc>
              <a:buSzPct val="100000"/>
              <a:buChar char="•"/>
            </a:pPr>
            <a:r>
              <a:rPr lang="en-US" sz="1200" b="1" dirty="0">
                <a:solidFill>
                  <a:srgbClr val="2C3E50"/>
                </a:solidFill>
              </a:rPr>
              <a:t>アダルトサイト運営者向けとして広報</a:t>
            </a:r>
            <a:endParaRPr lang="en-US" sz="1200" dirty="0"/>
          </a:p>
          <a:p>
            <a:pPr marL="254000" indent="-254000">
              <a:lnSpc>
                <a:spcPts val="1800"/>
              </a:lnSpc>
              <a:buSzPct val="100000"/>
              <a:buChar char="•"/>
            </a:pPr>
            <a:r>
              <a:rPr lang="en-US" sz="1200" dirty="0">
                <a:solidFill>
                  <a:srgbClr val="2C3E50"/>
                </a:solidFill>
              </a:rPr>
              <a:t>初期費用0円、審査最短1日完了</a:t>
            </a:r>
            <a:endParaRPr lang="en-US" sz="1200" dirty="0"/>
          </a:p>
          <a:p>
            <a:pPr marL="254000" indent="-254000">
              <a:lnSpc>
                <a:spcPts val="1800"/>
              </a:lnSpc>
              <a:buSzPct val="100000"/>
              <a:buChar char="•"/>
            </a:pPr>
            <a:r>
              <a:rPr lang="en-US" sz="1200" dirty="0">
                <a:solidFill>
                  <a:srgbClr val="2C3E50"/>
                </a:solidFill>
              </a:rPr>
              <a:t>リンク決済/メール決済などの簡易決済機能</a:t>
            </a:r>
            <a:endParaRPr lang="en-US" sz="1200" dirty="0"/>
          </a:p>
          <a:p>
            <a:pPr marL="342900" indent="-342900">
              <a:lnSpc>
                <a:spcPts val="1800"/>
              </a:lnSpc>
              <a:buSzPct val="100000"/>
              <a:buChar char="•"/>
            </a:pPr>
            <a:r>
              <a:rPr lang="en-US" sz="1200" dirty="0">
                <a:solidFill>
                  <a:srgbClr val="2C3E50"/>
                </a:solidFill>
              </a:rPr>
              <a:t>強み</a:t>
            </a:r>
            <a:endParaRPr lang="en-US" sz="1200" dirty="0"/>
          </a:p>
          <a:p>
            <a:pPr marL="254000" indent="-254000">
              <a:lnSpc>
                <a:spcPts val="1800"/>
              </a:lnSpc>
              <a:buSzPct val="100000"/>
              <a:buChar char="•"/>
            </a:pPr>
            <a:r>
              <a:rPr lang="en-US" sz="1200" dirty="0">
                <a:solidFill>
                  <a:srgbClr val="E74C3C"/>
                </a:solidFill>
              </a:rPr>
              <a:t>個人事業主や海外法人でも申込可能（ハードル低い）</a:t>
            </a:r>
            <a:endParaRPr lang="en-US" sz="1200" dirty="0"/>
          </a:p>
          <a:p>
            <a:pPr marL="254000" indent="-254000">
              <a:lnSpc>
                <a:spcPts val="1800"/>
              </a:lnSpc>
              <a:buSzPct val="100000"/>
              <a:buChar char="•"/>
            </a:pPr>
            <a:r>
              <a:rPr lang="en-US" sz="1200" dirty="0">
                <a:solidFill>
                  <a:srgbClr val="2C3E50"/>
                </a:solidFill>
              </a:rPr>
              <a:t>決済転換率が非常に高いと評価</a:t>
            </a:r>
            <a:endParaRPr lang="en-US" sz="1200" dirty="0"/>
          </a:p>
          <a:p>
            <a:pPr marL="254000" indent="-254000">
              <a:lnSpc>
                <a:spcPts val="1800"/>
              </a:lnSpc>
              <a:buSzPct val="100000"/>
              <a:buChar char="•"/>
            </a:pPr>
            <a:r>
              <a:rPr lang="en-US" sz="1200" dirty="0">
                <a:solidFill>
                  <a:srgbClr val="2C3E50"/>
                </a:solidFill>
              </a:rPr>
              <a:t>「業界最低水準の手数料」をアピール</a:t>
            </a:r>
            <a:endParaRPr lang="en-US" sz="1200" dirty="0"/>
          </a:p>
          <a:p>
            <a:pPr marL="254000" indent="-254000">
              <a:lnSpc>
                <a:spcPts val="1800"/>
              </a:lnSpc>
              <a:buSzPct val="100000"/>
              <a:buChar char="•"/>
            </a:pPr>
            <a:r>
              <a:rPr lang="en-US" sz="1200" dirty="0">
                <a:solidFill>
                  <a:srgbClr val="2C3E50"/>
                </a:solidFill>
              </a:rPr>
              <a:t>SUI代行会社名義で請求（顧客プライバシー保護）</a:t>
            </a:r>
            <a:endParaRPr lang="en-US" sz="1200" dirty="0"/>
          </a:p>
          <a:p>
            <a:pPr marL="342900" indent="-342900">
              <a:lnSpc>
                <a:spcPts val="1800"/>
              </a:lnSpc>
              <a:buSzPct val="100000"/>
              <a:buChar char="•"/>
            </a:pPr>
            <a:r>
              <a:rPr lang="en-US" sz="1200" dirty="0">
                <a:solidFill>
                  <a:srgbClr val="2C3E50"/>
                </a:solidFill>
              </a:rPr>
              <a:t>費用</a:t>
            </a:r>
            <a:endParaRPr lang="en-US" sz="1200" dirty="0"/>
          </a:p>
          <a:p>
            <a:pPr marL="254000" indent="-254000">
              <a:lnSpc>
                <a:spcPts val="1800"/>
              </a:lnSpc>
              <a:buSzPct val="100000"/>
              <a:buChar char="•"/>
            </a:pPr>
            <a:r>
              <a:rPr lang="en-US" sz="1200" dirty="0">
                <a:solidFill>
                  <a:srgbClr val="2C3E50"/>
                </a:solidFill>
              </a:rPr>
              <a:t>手数料：売上規模・内容により個別算定（非公開）</a:t>
            </a:r>
            <a:endParaRPr lang="en-US" sz="1200" dirty="0"/>
          </a:p>
          <a:p>
            <a:pPr marL="254000" indent="-254000">
              <a:lnSpc>
                <a:spcPts val="1800"/>
              </a:lnSpc>
              <a:buSzPct val="100000"/>
              <a:buChar char="•"/>
            </a:pPr>
            <a:r>
              <a:rPr lang="en-US" sz="1200" dirty="0">
                <a:solidFill>
                  <a:srgbClr val="2C3E50"/>
                </a:solidFill>
              </a:rPr>
              <a:t>初期費用：¥0（無料）</a:t>
            </a:r>
            <a:endParaRPr lang="en-US" sz="1200" dirty="0"/>
          </a:p>
          <a:p>
            <a:pPr marL="254000" indent="-254000">
              <a:lnSpc>
                <a:spcPts val="1800"/>
              </a:lnSpc>
              <a:buSzPct val="100000"/>
              <a:buChar char="•"/>
            </a:pPr>
            <a:r>
              <a:rPr lang="en-US" sz="1200" dirty="0">
                <a:solidFill>
                  <a:srgbClr val="2C3E50"/>
                </a:solidFill>
              </a:rPr>
              <a:t>月額基本料：なし（取引ごと課金）</a:t>
            </a:r>
            <a:endParaRPr lang="en-US" sz="1200" dirty="0"/>
          </a:p>
          <a:p>
            <a:pPr marL="254000" indent="-254000">
              <a:lnSpc>
                <a:spcPts val="1800"/>
              </a:lnSpc>
              <a:buSzPct val="100000"/>
              <a:buChar char="•"/>
            </a:pPr>
            <a:r>
              <a:rPr lang="en-US" sz="1200" dirty="0">
                <a:solidFill>
                  <a:srgbClr val="2C3E50"/>
                </a:solidFill>
              </a:rPr>
              <a:t>トランザクション：¥55/件、チャージバック：¥5,500/件</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第7部：国内成人向けPG詳細 (3/5) - CREDIX</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CREDIX (株式会社ZERO)</a:t>
            </a:r>
            <a:endParaRPr lang="en-US" sz="2400" dirty="0"/>
          </a:p>
        </p:txBody>
      </p:sp>
      <p:sp>
        <p:nvSpPr>
          <p:cNvPr id="4" name="Text 2"/>
          <p:cNvSpPr/>
          <p:nvPr/>
        </p:nvSpPr>
        <p:spPr>
          <a:xfrm>
            <a:off x="7315200" y="914400"/>
            <a:ext cx="1371600" cy="365760"/>
          </a:xfrm>
          <a:prstGeom prst="rect">
            <a:avLst/>
          </a:prstGeom>
          <a:solidFill>
            <a:srgbClr val="27AE60"/>
          </a:solidFill>
          <a:ln/>
        </p:spPr>
        <p:txBody>
          <a:bodyPr wrap="square" rtlCol="0" anchor="ctr"/>
          <a:lstStyle/>
          <a:p>
            <a:pPr marL="0" indent="0" algn="ctr">
              <a:buNone/>
            </a:pPr>
            <a:r>
              <a:rPr lang="en-US" sz="1600" b="1" dirty="0">
                <a:solidFill>
                  <a:srgbClr val="FFFFFF"/>
                </a:solidFill>
              </a:rPr>
              <a:t>推奨</a:t>
            </a:r>
            <a:endParaRPr lang="en-US" sz="1600" dirty="0"/>
          </a:p>
        </p:txBody>
      </p:sp>
      <p:sp>
        <p:nvSpPr>
          <p:cNvPr id="5" name="Text 3"/>
          <p:cNvSpPr/>
          <p:nvPr/>
        </p:nvSpPr>
        <p:spPr>
          <a:xfrm>
            <a:off x="457200" y="1463040"/>
            <a:ext cx="8229600" cy="4937760"/>
          </a:xfrm>
          <a:prstGeom prst="rect">
            <a:avLst/>
          </a:prstGeom>
          <a:noFill/>
          <a:ln/>
        </p:spPr>
        <p:txBody>
          <a:bodyPr wrap="square" rtlCol="0" anchor="ctr"/>
          <a:lstStyle/>
          <a:p>
            <a:pPr marL="342900" indent="-342900">
              <a:lnSpc>
                <a:spcPts val="1800"/>
              </a:lnSpc>
              <a:buSzPct val="100000"/>
              <a:buChar char="•"/>
            </a:pPr>
            <a:r>
              <a:rPr lang="en-US" sz="1200" dirty="0">
                <a:solidFill>
                  <a:srgbClr val="2C3E50"/>
                </a:solidFill>
              </a:rPr>
              <a:t>特徴</a:t>
            </a:r>
            <a:endParaRPr lang="en-US" sz="1200" dirty="0"/>
          </a:p>
          <a:p>
            <a:pPr marL="254000" indent="-254000">
              <a:lnSpc>
                <a:spcPts val="1800"/>
              </a:lnSpc>
              <a:buSzPct val="100000"/>
              <a:buChar char="•"/>
            </a:pPr>
            <a:r>
              <a:rPr lang="en-US" sz="1200" b="1" dirty="0">
                <a:solidFill>
                  <a:srgbClr val="2C3E50"/>
                </a:solidFill>
              </a:rPr>
              <a:t>成人向けサイトに特化した決済代行会社</a:t>
            </a:r>
            <a:endParaRPr lang="en-US" sz="1200" dirty="0"/>
          </a:p>
          <a:p>
            <a:pPr marL="254000" indent="-254000">
              <a:lnSpc>
                <a:spcPts val="1800"/>
              </a:lnSpc>
              <a:buSzPct val="100000"/>
              <a:buChar char="•"/>
            </a:pPr>
            <a:r>
              <a:rPr lang="en-US" sz="1200" dirty="0">
                <a:solidFill>
                  <a:srgbClr val="2C3E50"/>
                </a:solidFill>
              </a:rPr>
              <a:t>国際セキュリティ基準PCI-DSS Ver.4準拠</a:t>
            </a:r>
            <a:endParaRPr lang="en-US" sz="1200" dirty="0"/>
          </a:p>
          <a:p>
            <a:pPr marL="254000" indent="-254000">
              <a:lnSpc>
                <a:spcPts val="1800"/>
              </a:lnSpc>
              <a:buSzPct val="100000"/>
              <a:buChar char="•"/>
            </a:pPr>
            <a:r>
              <a:rPr lang="en-US" sz="1200" dirty="0">
                <a:solidFill>
                  <a:srgbClr val="2C3E50"/>
                </a:solidFill>
              </a:rPr>
              <a:t>5～10営業日での迅速な導入サポート</a:t>
            </a:r>
            <a:endParaRPr lang="en-US" sz="1200" dirty="0"/>
          </a:p>
          <a:p>
            <a:pPr marL="342900" indent="-342900">
              <a:lnSpc>
                <a:spcPts val="1800"/>
              </a:lnSpc>
              <a:buSzPct val="100000"/>
              <a:buChar char="•"/>
            </a:pPr>
            <a:r>
              <a:rPr lang="en-US" sz="1200" dirty="0">
                <a:solidFill>
                  <a:srgbClr val="2C3E50"/>
                </a:solidFill>
              </a:rPr>
              <a:t>強み</a:t>
            </a:r>
            <a:endParaRPr lang="en-US" sz="1200" dirty="0"/>
          </a:p>
          <a:p>
            <a:pPr marL="254000" indent="-254000">
              <a:lnSpc>
                <a:spcPts val="1800"/>
              </a:lnSpc>
              <a:buSzPct val="100000"/>
              <a:buChar char="•"/>
            </a:pPr>
            <a:r>
              <a:rPr lang="en-US" sz="1200" b="1" dirty="0">
                <a:solidFill>
                  <a:srgbClr val="E74C3C"/>
                </a:solidFill>
              </a:rPr>
              <a:t>独自の審査基準で他社拒否案件も受入</a:t>
            </a:r>
            <a:endParaRPr lang="en-US" sz="1200" dirty="0"/>
          </a:p>
          <a:p>
            <a:pPr marL="254000" indent="-254000">
              <a:lnSpc>
                <a:spcPts val="1800"/>
              </a:lnSpc>
              <a:buSzPct val="100000"/>
              <a:buChar char="•"/>
            </a:pPr>
            <a:r>
              <a:rPr lang="en-US" sz="1200" dirty="0">
                <a:solidFill>
                  <a:srgbClr val="2C3E50"/>
                </a:solidFill>
              </a:rPr>
              <a:t>BitCashなど成人向けプリペイド電子マネー対応</a:t>
            </a:r>
            <a:endParaRPr lang="en-US" sz="1200" dirty="0"/>
          </a:p>
          <a:p>
            <a:pPr marL="254000" indent="-254000">
              <a:lnSpc>
                <a:spcPts val="1800"/>
              </a:lnSpc>
              <a:buSzPct val="100000"/>
              <a:buChar char="•"/>
            </a:pPr>
            <a:r>
              <a:rPr lang="en-US" sz="1200" dirty="0">
                <a:solidFill>
                  <a:srgbClr val="2C3E50"/>
                </a:solidFill>
              </a:rPr>
              <a:t>少額決済/定期決済/会員制など多様な機能</a:t>
            </a:r>
            <a:endParaRPr lang="en-US" sz="1200" dirty="0"/>
          </a:p>
          <a:p>
            <a:pPr marL="254000" indent="-254000">
              <a:lnSpc>
                <a:spcPts val="1800"/>
              </a:lnSpc>
              <a:buSzPct val="100000"/>
              <a:buChar char="•"/>
            </a:pPr>
            <a:r>
              <a:rPr lang="en-US" sz="1200" dirty="0">
                <a:solidFill>
                  <a:srgbClr val="2C3E50"/>
                </a:solidFill>
              </a:rPr>
              <a:t>24時間顧客サポート体制</a:t>
            </a:r>
            <a:endParaRPr lang="en-US" sz="1200" dirty="0"/>
          </a:p>
          <a:p>
            <a:pPr marL="254000" indent="-254000">
              <a:lnSpc>
                <a:spcPts val="1800"/>
              </a:lnSpc>
              <a:buSzPct val="100000"/>
              <a:buChar char="•"/>
            </a:pPr>
            <a:r>
              <a:rPr lang="en-US" sz="1200" dirty="0">
                <a:solidFill>
                  <a:srgbClr val="2C3E50"/>
                </a:solidFill>
              </a:rPr>
              <a:t>CREDIX名義で請求（購入履歴を隠す）</a:t>
            </a:r>
            <a:endParaRPr lang="en-US" sz="1200" dirty="0"/>
          </a:p>
          <a:p>
            <a:pPr marL="342900" indent="-342900">
              <a:lnSpc>
                <a:spcPts val="1800"/>
              </a:lnSpc>
              <a:buSzPct val="100000"/>
              <a:buChar char="•"/>
            </a:pPr>
            <a:r>
              <a:rPr lang="en-US" sz="1200" dirty="0">
                <a:solidFill>
                  <a:srgbClr val="2C3E50"/>
                </a:solidFill>
              </a:rPr>
              <a:t>費用</a:t>
            </a:r>
            <a:endParaRPr lang="en-US" sz="1200" dirty="0"/>
          </a:p>
          <a:p>
            <a:pPr marL="254000" indent="-254000">
              <a:lnSpc>
                <a:spcPts val="1800"/>
              </a:lnSpc>
              <a:buSzPct val="100000"/>
              <a:buChar char="•"/>
            </a:pPr>
            <a:r>
              <a:rPr lang="en-US" sz="1200" dirty="0">
                <a:solidFill>
                  <a:srgbClr val="2C3E50"/>
                </a:solidFill>
              </a:rPr>
              <a:t>手数料：柔軟な価格体系、業種/規模に合わせて低い手数料提案可能</a:t>
            </a:r>
            <a:endParaRPr lang="en-US" sz="1200" dirty="0"/>
          </a:p>
          <a:p>
            <a:pPr marL="254000" indent="-254000">
              <a:lnSpc>
                <a:spcPts val="1800"/>
              </a:lnSpc>
              <a:buSzPct val="100000"/>
              <a:buChar char="•"/>
            </a:pPr>
            <a:r>
              <a:rPr lang="en-US" sz="1200" dirty="0">
                <a:solidFill>
                  <a:srgbClr val="2C3E50"/>
                </a:solidFill>
              </a:rPr>
              <a:t>初期費用：協議（開設契約金が発生）</a:t>
            </a:r>
            <a:endParaRPr lang="en-US" sz="1200" dirty="0"/>
          </a:p>
          <a:p>
            <a:pPr marL="254000" indent="-254000">
              <a:lnSpc>
                <a:spcPts val="1800"/>
              </a:lnSpc>
              <a:buSzPct val="100000"/>
              <a:buChar char="•"/>
            </a:pPr>
            <a:r>
              <a:rPr lang="en-US" sz="1200" dirty="0">
                <a:solidFill>
                  <a:srgbClr val="2C3E50"/>
                </a:solidFill>
              </a:rPr>
              <a:t>月額費用：協議（規模により調整）</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第7部：国内成人向けPG詳細 (4/5) - Zeus</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Zeus（SBIグループ）</a:t>
            </a:r>
            <a:endParaRPr lang="en-US" sz="2400" dirty="0"/>
          </a:p>
        </p:txBody>
      </p:sp>
      <p:sp>
        <p:nvSpPr>
          <p:cNvPr id="4" name="Text 2"/>
          <p:cNvSpPr/>
          <p:nvPr/>
        </p:nvSpPr>
        <p:spPr>
          <a:xfrm>
            <a:off x="7315200" y="914400"/>
            <a:ext cx="1371600" cy="365760"/>
          </a:xfrm>
          <a:prstGeom prst="rect">
            <a:avLst/>
          </a:prstGeom>
          <a:solidFill>
            <a:srgbClr val="F39C12"/>
          </a:solidFill>
          <a:ln/>
        </p:spPr>
        <p:txBody>
          <a:bodyPr wrap="square" rtlCol="0" anchor="ctr"/>
          <a:lstStyle/>
          <a:p>
            <a:pPr marL="0" indent="0" algn="ctr">
              <a:buNone/>
            </a:pPr>
            <a:r>
              <a:rPr lang="en-US" sz="1600" b="1" dirty="0">
                <a:solidFill>
                  <a:srgbClr val="FFFFFF"/>
                </a:solidFill>
              </a:rPr>
              <a:t>注意</a:t>
            </a:r>
            <a:endParaRPr lang="en-US" sz="1600" dirty="0"/>
          </a:p>
        </p:txBody>
      </p:sp>
      <p:sp>
        <p:nvSpPr>
          <p:cNvPr id="5" name="Text 3"/>
          <p:cNvSpPr/>
          <p:nvPr/>
        </p:nvSpPr>
        <p:spPr>
          <a:xfrm>
            <a:off x="457200" y="1463040"/>
            <a:ext cx="8229600" cy="4937760"/>
          </a:xfrm>
          <a:prstGeom prst="rect">
            <a:avLst/>
          </a:prstGeom>
          <a:noFill/>
          <a:ln/>
        </p:spPr>
        <p:txBody>
          <a:bodyPr wrap="square" rtlCol="0" anchor="ctr"/>
          <a:lstStyle/>
          <a:p>
            <a:pPr marL="342900" indent="-342900">
              <a:lnSpc>
                <a:spcPts val="1800"/>
              </a:lnSpc>
              <a:buSzPct val="100000"/>
              <a:buChar char="•"/>
            </a:pPr>
            <a:r>
              <a:rPr lang="en-US" sz="1200" dirty="0">
                <a:solidFill>
                  <a:srgbClr val="2C3E50"/>
                </a:solidFill>
              </a:rPr>
              <a:t>特徴</a:t>
            </a:r>
            <a:endParaRPr lang="en-US" sz="1200" dirty="0"/>
          </a:p>
          <a:p>
            <a:pPr marL="254000" indent="-254000">
              <a:lnSpc>
                <a:spcPts val="1800"/>
              </a:lnSpc>
              <a:buSzPct val="100000"/>
              <a:buChar char="•"/>
            </a:pPr>
            <a:r>
              <a:rPr lang="en-US" sz="1200" dirty="0">
                <a:solidFill>
                  <a:srgbClr val="2C3E50"/>
                </a:solidFill>
              </a:rPr>
              <a:t>1990年代から運営の老舗オンライン決済代行</a:t>
            </a:r>
            <a:endParaRPr lang="en-US" sz="1200" dirty="0"/>
          </a:p>
          <a:p>
            <a:pPr marL="254000" indent="-254000">
              <a:lnSpc>
                <a:spcPts val="1800"/>
              </a:lnSpc>
              <a:buSzPct val="100000"/>
              <a:buChar char="•"/>
            </a:pPr>
            <a:r>
              <a:rPr lang="en-US" sz="1200" dirty="0">
                <a:solidFill>
                  <a:srgbClr val="2C3E50"/>
                </a:solidFill>
              </a:rPr>
              <a:t>現在はSBIグループ傘下</a:t>
            </a:r>
            <a:endParaRPr lang="en-US" sz="1200" dirty="0"/>
          </a:p>
          <a:p>
            <a:pPr marL="254000" indent="-254000">
              <a:lnSpc>
                <a:spcPts val="1800"/>
              </a:lnSpc>
              <a:buSzPct val="100000"/>
              <a:buChar char="•"/>
            </a:pPr>
            <a:r>
              <a:rPr lang="en-US" sz="1200" dirty="0">
                <a:solidFill>
                  <a:srgbClr val="2C3E50"/>
                </a:solidFill>
              </a:rPr>
              <a:t>公式に「成人向けコンテンツ決済サポート」を言及</a:t>
            </a:r>
            <a:endParaRPr lang="en-US" sz="1200" dirty="0"/>
          </a:p>
          <a:p>
            <a:pPr marL="254000" indent="-254000">
              <a:lnSpc>
                <a:spcPts val="1800"/>
              </a:lnSpc>
              <a:buSzPct val="100000"/>
              <a:buChar char="•"/>
            </a:pPr>
            <a:r>
              <a:rPr lang="en-US" sz="1200" dirty="0">
                <a:solidFill>
                  <a:srgbClr val="2C3E50"/>
                </a:solidFill>
              </a:rPr>
              <a:t>クレジットカードのほか多様な決済手段を統合提供</a:t>
            </a:r>
            <a:endParaRPr lang="en-US" sz="1200" dirty="0"/>
          </a:p>
          <a:p>
            <a:pPr marL="342900" indent="-342900">
              <a:lnSpc>
                <a:spcPts val="1800"/>
              </a:lnSpc>
              <a:buSzPct val="100000"/>
              <a:buChar char="•"/>
            </a:pPr>
            <a:r>
              <a:rPr lang="en-US" sz="1200" dirty="0">
                <a:solidFill>
                  <a:srgbClr val="2C3E50"/>
                </a:solidFill>
              </a:rPr>
              <a:t>注意事項</a:t>
            </a:r>
            <a:endParaRPr lang="en-US" sz="1200" dirty="0"/>
          </a:p>
          <a:p>
            <a:pPr marL="254000" indent="-254000">
              <a:lnSpc>
                <a:spcPts val="1800"/>
              </a:lnSpc>
              <a:buSzPct val="100000"/>
              <a:buChar char="•"/>
            </a:pPr>
            <a:r>
              <a:rPr lang="en-US" sz="1200" b="1" dirty="0">
                <a:solidFill>
                  <a:srgbClr val="F39C12"/>
                </a:solidFill>
              </a:rPr>
              <a:t>Visa/Mastercardが日本の成人向け決済を相次いで停止</a:t>
            </a:r>
            <a:endParaRPr lang="en-US" sz="1200" dirty="0"/>
          </a:p>
          <a:p>
            <a:pPr marL="254000" indent="-254000">
              <a:lnSpc>
                <a:spcPts val="1800"/>
              </a:lnSpc>
              <a:buSzPct val="100000"/>
              <a:buChar char="•"/>
            </a:pPr>
            <a:r>
              <a:rPr lang="en-US" sz="1200" dirty="0">
                <a:solidFill>
                  <a:srgbClr val="F39C12"/>
                </a:solidFill>
              </a:rPr>
              <a:t>Zeus経由のVISA/MC承認率が低下、JCB中心化の傾向</a:t>
            </a:r>
            <a:endParaRPr lang="en-US" sz="1200" dirty="0"/>
          </a:p>
          <a:p>
            <a:pPr marL="254000" indent="-254000">
              <a:lnSpc>
                <a:spcPts val="1800"/>
              </a:lnSpc>
              <a:buSzPct val="100000"/>
              <a:buChar char="•"/>
            </a:pPr>
            <a:r>
              <a:rPr lang="en-US" sz="1200" dirty="0">
                <a:solidFill>
                  <a:srgbClr val="F39C12"/>
                </a:solidFill>
              </a:rPr>
              <a:t>コンテンツ審査により一部カードブランドのみ提供される可能性</a:t>
            </a:r>
            <a:endParaRPr lang="en-US" sz="1200" dirty="0"/>
          </a:p>
          <a:p>
            <a:pPr marL="342900" indent="-342900">
              <a:lnSpc>
                <a:spcPts val="1800"/>
              </a:lnSpc>
              <a:buSzPct val="100000"/>
              <a:buChar char="•"/>
            </a:pPr>
            <a:r>
              <a:rPr lang="en-US" sz="1200" dirty="0">
                <a:solidFill>
                  <a:srgbClr val="2C3E50"/>
                </a:solidFill>
              </a:rPr>
              <a:t>費用</a:t>
            </a:r>
            <a:endParaRPr lang="en-US" sz="1200" dirty="0"/>
          </a:p>
          <a:p>
            <a:pPr marL="254000" indent="-254000">
              <a:lnSpc>
                <a:spcPts val="1800"/>
              </a:lnSpc>
              <a:buSzPct val="100000"/>
              <a:buChar char="•"/>
            </a:pPr>
            <a:r>
              <a:rPr lang="en-US" sz="1200" dirty="0">
                <a:solidFill>
                  <a:srgbClr val="2C3E50"/>
                </a:solidFill>
              </a:rPr>
              <a:t>手数料：デジタルコンテンツ5～7%台（規模協議可能）</a:t>
            </a:r>
            <a:endParaRPr lang="en-US" sz="1200" dirty="0"/>
          </a:p>
          <a:p>
            <a:pPr marL="254000" indent="-254000">
              <a:lnSpc>
                <a:spcPts val="1800"/>
              </a:lnSpc>
              <a:buSzPct val="100000"/>
              <a:buChar char="•"/>
            </a:pPr>
            <a:r>
              <a:rPr lang="en-US" sz="1200" dirty="0">
                <a:solidFill>
                  <a:srgbClr val="2C3E50"/>
                </a:solidFill>
              </a:rPr>
              <a:t>初期費用：約¥100,000</a:t>
            </a:r>
            <a:endParaRPr lang="en-US" sz="1200" dirty="0"/>
          </a:p>
          <a:p>
            <a:pPr marL="254000" indent="-254000">
              <a:lnSpc>
                <a:spcPts val="1800"/>
              </a:lnSpc>
              <a:buSzPct val="100000"/>
              <a:buChar char="•"/>
            </a:pPr>
            <a:r>
              <a:rPr lang="en-US" sz="1200" dirty="0">
                <a:solidFill>
                  <a:srgbClr val="2C3E50"/>
                </a:solidFill>
              </a:rPr>
              <a:t>月額費用：約¥10,000</a:t>
            </a:r>
            <a:endParaRPr lang="en-US" sz="1200" dirty="0"/>
          </a:p>
          <a:p>
            <a:pPr marL="254000" indent="-254000">
              <a:lnSpc>
                <a:spcPts val="1800"/>
              </a:lnSpc>
              <a:buSzPct val="100000"/>
              <a:buChar char="•"/>
            </a:pPr>
            <a:r>
              <a:rPr lang="en-US" sz="1200" dirty="0">
                <a:solidFill>
                  <a:srgbClr val="F39C12"/>
                </a:solidFill>
              </a:rPr>
              <a:t>審査期間：1.5～3ヶ月</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第7部：国内成人向けPG詳細 (5/5) - Billmont</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Billmont（国内法人利用可能 海外PSP）</a:t>
            </a:r>
            <a:endParaRPr lang="en-US" sz="2400" dirty="0"/>
          </a:p>
        </p:txBody>
      </p:sp>
      <p:sp>
        <p:nvSpPr>
          <p:cNvPr id="4" name="Text 2"/>
          <p:cNvSpPr/>
          <p:nvPr/>
        </p:nvSpPr>
        <p:spPr>
          <a:xfrm>
            <a:off x="7315200" y="914400"/>
            <a:ext cx="1371600" cy="365760"/>
          </a:xfrm>
          <a:prstGeom prst="rect">
            <a:avLst/>
          </a:prstGeom>
          <a:solidFill>
            <a:srgbClr val="27AE60"/>
          </a:solidFill>
          <a:ln/>
        </p:spPr>
        <p:txBody>
          <a:bodyPr wrap="square" rtlCol="0" anchor="ctr"/>
          <a:lstStyle/>
          <a:p>
            <a:pPr marL="0" indent="0" algn="ctr">
              <a:buNone/>
            </a:pPr>
            <a:r>
              <a:rPr lang="en-US" sz="1600" b="1" dirty="0">
                <a:solidFill>
                  <a:srgbClr val="FFFFFF"/>
                </a:solidFill>
              </a:rPr>
              <a:t>推奨</a:t>
            </a:r>
            <a:endParaRPr lang="en-US" sz="1600" dirty="0"/>
          </a:p>
        </p:txBody>
      </p:sp>
      <p:sp>
        <p:nvSpPr>
          <p:cNvPr id="5" name="Text 3"/>
          <p:cNvSpPr/>
          <p:nvPr/>
        </p:nvSpPr>
        <p:spPr>
          <a:xfrm>
            <a:off x="457200" y="1463040"/>
            <a:ext cx="8229600" cy="4937760"/>
          </a:xfrm>
          <a:prstGeom prst="rect">
            <a:avLst/>
          </a:prstGeom>
          <a:noFill/>
          <a:ln/>
        </p:spPr>
        <p:txBody>
          <a:bodyPr wrap="square" rtlCol="0" anchor="ctr"/>
          <a:lstStyle/>
          <a:p>
            <a:pPr marL="342900" indent="-342900">
              <a:lnSpc>
                <a:spcPts val="1800"/>
              </a:lnSpc>
              <a:buSzPct val="100000"/>
              <a:buChar char="•"/>
            </a:pPr>
            <a:r>
              <a:rPr lang="en-US" sz="1200" dirty="0">
                <a:solidFill>
                  <a:srgbClr val="2C3E50"/>
                </a:solidFill>
              </a:rPr>
              <a:t>特徴</a:t>
            </a:r>
            <a:endParaRPr lang="en-US" sz="1200" dirty="0"/>
          </a:p>
          <a:p>
            <a:pPr marL="254000" indent="-254000">
              <a:lnSpc>
                <a:spcPts val="1800"/>
              </a:lnSpc>
              <a:buSzPct val="100000"/>
              <a:buChar char="•"/>
            </a:pPr>
            <a:r>
              <a:rPr lang="en-US" sz="1200" dirty="0">
                <a:solidFill>
                  <a:srgbClr val="2C3E50"/>
                </a:solidFill>
              </a:rPr>
              <a:t>日本語サポートを備えたグローバル決済代行</a:t>
            </a:r>
            <a:endParaRPr lang="en-US" sz="1200" dirty="0"/>
          </a:p>
          <a:p>
            <a:pPr marL="254000" indent="-254000">
              <a:lnSpc>
                <a:spcPts val="1800"/>
              </a:lnSpc>
              <a:buSzPct val="100000"/>
              <a:buChar char="•"/>
            </a:pPr>
            <a:r>
              <a:rPr lang="en-US" sz="1200" b="1" dirty="0">
                <a:solidFill>
                  <a:srgbClr val="2C3E50"/>
                </a:solidFill>
              </a:rPr>
              <a:t>「海外決済代行」として国内取扱困難業種も対応</a:t>
            </a:r>
            <a:endParaRPr lang="en-US" sz="1200" dirty="0"/>
          </a:p>
          <a:p>
            <a:pPr marL="254000" indent="-254000">
              <a:lnSpc>
                <a:spcPts val="1800"/>
              </a:lnSpc>
              <a:buSzPct val="100000"/>
              <a:buChar char="•"/>
            </a:pPr>
            <a:r>
              <a:rPr lang="en-US" sz="1200" dirty="0">
                <a:solidFill>
                  <a:srgbClr val="2C3E50"/>
                </a:solidFill>
              </a:rPr>
              <a:t>全世界196カ国、164通貨での決済処理</a:t>
            </a:r>
            <a:endParaRPr lang="en-US" sz="1200" dirty="0"/>
          </a:p>
          <a:p>
            <a:pPr marL="254000" indent="-254000">
              <a:lnSpc>
                <a:spcPts val="1800"/>
              </a:lnSpc>
              <a:buSzPct val="100000"/>
              <a:buChar char="•"/>
            </a:pPr>
            <a:r>
              <a:rPr lang="en-US" sz="1200" dirty="0">
                <a:solidFill>
                  <a:srgbClr val="2C3E50"/>
                </a:solidFill>
              </a:rPr>
              <a:t>審査期間最短3営業日</a:t>
            </a:r>
            <a:endParaRPr lang="en-US" sz="1200" dirty="0"/>
          </a:p>
          <a:p>
            <a:pPr marL="342900" indent="-342900">
              <a:lnSpc>
                <a:spcPts val="1800"/>
              </a:lnSpc>
              <a:buSzPct val="100000"/>
              <a:buChar char="•"/>
            </a:pPr>
            <a:r>
              <a:rPr lang="en-US" sz="1200" dirty="0">
                <a:solidFill>
                  <a:srgbClr val="2C3E50"/>
                </a:solidFill>
              </a:rPr>
              <a:t>強み</a:t>
            </a:r>
            <a:endParaRPr lang="en-US" sz="1200" dirty="0"/>
          </a:p>
          <a:p>
            <a:pPr marL="254000" indent="-254000">
              <a:lnSpc>
                <a:spcPts val="1800"/>
              </a:lnSpc>
              <a:buSzPct val="100000"/>
              <a:buChar char="•"/>
            </a:pPr>
            <a:r>
              <a:rPr lang="en-US" sz="1200" dirty="0">
                <a:solidFill>
                  <a:srgbClr val="2C3E50"/>
                </a:solidFill>
              </a:rPr>
              <a:t>複数の海外アクワイアリング銀行と提携</a:t>
            </a:r>
            <a:endParaRPr lang="en-US" sz="1200" dirty="0"/>
          </a:p>
          <a:p>
            <a:pPr marL="254000" indent="-254000">
              <a:lnSpc>
                <a:spcPts val="1800"/>
              </a:lnSpc>
              <a:buSzPct val="100000"/>
              <a:buChar char="•"/>
            </a:pPr>
            <a:r>
              <a:rPr lang="en-US" sz="1200" b="1" dirty="0">
                <a:solidFill>
                  <a:srgbClr val="E74C3C"/>
                </a:solidFill>
              </a:rPr>
              <a:t>国内カード会社の業種制限を迂回可能</a:t>
            </a:r>
            <a:endParaRPr lang="en-US" sz="1200" dirty="0"/>
          </a:p>
          <a:p>
            <a:pPr marL="254000" indent="-254000">
              <a:lnSpc>
                <a:spcPts val="1800"/>
              </a:lnSpc>
              <a:buSzPct val="100000"/>
              <a:buChar char="•"/>
            </a:pPr>
            <a:r>
              <a:rPr lang="en-US" sz="1200" dirty="0">
                <a:solidFill>
                  <a:srgbClr val="2C3E50"/>
                </a:solidFill>
              </a:rPr>
              <a:t>PCI DSS準拠、3Dセキュア、AI不正防止システム導入</a:t>
            </a:r>
            <a:endParaRPr lang="en-US" sz="1200" dirty="0"/>
          </a:p>
          <a:p>
            <a:pPr marL="254000" indent="-254000">
              <a:lnSpc>
                <a:spcPts val="1800"/>
              </a:lnSpc>
              <a:buSzPct val="100000"/>
              <a:buChar char="•"/>
            </a:pPr>
            <a:r>
              <a:rPr lang="en-US" sz="1200" dirty="0">
                <a:solidFill>
                  <a:srgbClr val="2C3E50"/>
                </a:solidFill>
              </a:rPr>
              <a:t>チャージバック・詐欺リスク管理に強み</a:t>
            </a:r>
            <a:endParaRPr lang="en-US" sz="1200" dirty="0"/>
          </a:p>
          <a:p>
            <a:pPr marL="342900" indent="-342900">
              <a:lnSpc>
                <a:spcPts val="1800"/>
              </a:lnSpc>
              <a:buSzPct val="100000"/>
              <a:buChar char="•"/>
            </a:pPr>
            <a:r>
              <a:rPr lang="en-US" sz="1200" dirty="0">
                <a:solidFill>
                  <a:srgbClr val="2C3E50"/>
                </a:solidFill>
              </a:rPr>
              <a:t>費用</a:t>
            </a:r>
            <a:endParaRPr lang="en-US" sz="1200" dirty="0"/>
          </a:p>
          <a:p>
            <a:pPr marL="254000" indent="-254000">
              <a:lnSpc>
                <a:spcPts val="1800"/>
              </a:lnSpc>
              <a:buSzPct val="100000"/>
              <a:buChar char="•"/>
            </a:pPr>
            <a:r>
              <a:rPr lang="en-US" sz="1200" dirty="0">
                <a:solidFill>
                  <a:srgbClr val="2C3E50"/>
                </a:solidFill>
              </a:rPr>
              <a:t>手数料：協議制（ハイリスク向けカスタム料率、2.65%～事例あり）</a:t>
            </a:r>
            <a:endParaRPr lang="en-US" sz="1200" dirty="0"/>
          </a:p>
          <a:p>
            <a:pPr marL="254000" indent="-254000">
              <a:lnSpc>
                <a:spcPts val="1800"/>
              </a:lnSpc>
              <a:buSzPct val="100000"/>
              <a:buChar char="•"/>
            </a:pPr>
            <a:r>
              <a:rPr lang="en-US" sz="1200" dirty="0">
                <a:solidFill>
                  <a:srgbClr val="2C3E50"/>
                </a:solidFill>
              </a:rPr>
              <a:t>初期/月額費用：ケースバイケースで相談</a:t>
            </a:r>
            <a:endParaRPr lang="en-US" sz="1200" dirty="0"/>
          </a:p>
          <a:p>
            <a:pPr marL="254000" indent="-254000">
              <a:lnSpc>
                <a:spcPts val="1800"/>
              </a:lnSpc>
              <a:buSzPct val="100000"/>
              <a:buChar char="•"/>
            </a:pPr>
            <a:r>
              <a:rPr lang="en-US" sz="1200" dirty="0">
                <a:solidFill>
                  <a:srgbClr val="2C3E50"/>
                </a:solidFill>
              </a:rPr>
              <a:t>その他：年950ドル（VISAハイリスク登録費）など別途</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第8部：総合戦略提言 (1/2)</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実行可能な決済導入ロードマップ</a:t>
            </a:r>
            <a:endParaRPr lang="en-US" sz="2400" dirty="0"/>
          </a:p>
        </p:txBody>
      </p:sp>
      <p:sp>
        <p:nvSpPr>
          <p:cNvPr id="4" name="Text 2"/>
          <p:cNvSpPr/>
          <p:nvPr/>
        </p:nvSpPr>
        <p:spPr>
          <a:xfrm>
            <a:off x="457200" y="1371600"/>
            <a:ext cx="8229600" cy="5029200"/>
          </a:xfrm>
          <a:prstGeom prst="rect">
            <a:avLst/>
          </a:prstGeom>
          <a:noFill/>
          <a:ln/>
        </p:spPr>
        <p:txBody>
          <a:bodyPr wrap="square" rtlCol="0" anchor="ctr"/>
          <a:lstStyle/>
          <a:p>
            <a:pPr marL="342900" indent="-342900">
              <a:lnSpc>
                <a:spcPts val="1800"/>
              </a:lnSpc>
              <a:buSzPct val="100000"/>
              <a:buChar char="•"/>
            </a:pPr>
            <a:r>
              <a:rPr lang="en-US" sz="1200" dirty="0">
                <a:solidFill>
                  <a:srgbClr val="2C3E50"/>
                </a:solidFill>
              </a:rPr>
              <a:t>Phase 1：準備段階（審査前）</a:t>
            </a:r>
            <a:endParaRPr lang="en-US" sz="1200" dirty="0"/>
          </a:p>
          <a:p>
            <a:pPr marL="254000" indent="-254000">
              <a:lnSpc>
                <a:spcPts val="1800"/>
              </a:lnSpc>
              <a:buSzPct val="100000"/>
              <a:buChar char="•"/>
            </a:pPr>
            <a:r>
              <a:rPr lang="en-US" sz="1200" dirty="0">
                <a:solidFill>
                  <a:srgbClr val="2C3E50"/>
                </a:solidFill>
              </a:rPr>
              <a:t>日本法人設立および全必要書類準備</a:t>
            </a:r>
            <a:endParaRPr lang="en-US" sz="1200" dirty="0"/>
          </a:p>
          <a:p>
            <a:pPr marL="254000" indent="-254000">
              <a:lnSpc>
                <a:spcPts val="1800"/>
              </a:lnSpc>
              <a:buSzPct val="100000"/>
              <a:buChar char="•"/>
            </a:pPr>
            <a:r>
              <a:rPr lang="en-US" sz="1200" dirty="0">
                <a:solidFill>
                  <a:srgbClr val="2C3E50"/>
                </a:solidFill>
              </a:rPr>
              <a:t>コンプライアンス文書作成</a:t>
            </a:r>
            <a:endParaRPr lang="en-US" sz="1200" dirty="0"/>
          </a:p>
          <a:p>
            <a:pPr marL="508000" indent="-508000">
              <a:lnSpc>
                <a:spcPts val="1800"/>
              </a:lnSpc>
              <a:buSzPct val="100000"/>
              <a:buChar char="•"/>
            </a:pPr>
            <a:r>
              <a:rPr lang="en-US" sz="1200" dirty="0">
                <a:solidFill>
                  <a:srgbClr val="2C3E50"/>
                </a:solidFill>
              </a:rPr>
              <a:t>AIコンテンツポリシー、利用規約、個人情報保護方針</a:t>
            </a:r>
            <a:endParaRPr lang="en-US" sz="1200" dirty="0"/>
          </a:p>
          <a:p>
            <a:pPr marL="254000" indent="-254000">
              <a:lnSpc>
                <a:spcPts val="1800"/>
              </a:lnSpc>
              <a:buSzPct val="100000"/>
              <a:buChar char="•"/>
            </a:pPr>
            <a:r>
              <a:rPr lang="en-US" sz="1200" dirty="0">
                <a:solidFill>
                  <a:srgbClr val="2C3E50"/>
                </a:solidFill>
              </a:rPr>
              <a:t>年齢確認システムの完全実装</a:t>
            </a:r>
            <a:endParaRPr lang="en-US" sz="1200" dirty="0"/>
          </a:p>
          <a:p>
            <a:pPr marL="254000" indent="-254000">
              <a:lnSpc>
                <a:spcPts val="1800"/>
              </a:lnSpc>
              <a:buSzPct val="100000"/>
              <a:buChar char="•"/>
            </a:pPr>
            <a:r>
              <a:rPr lang="en-US" sz="1200" dirty="0">
                <a:solidFill>
                  <a:srgbClr val="2C3E50"/>
                </a:solidFill>
              </a:rPr>
              <a:t>コンテンツフィルタリングシステムの実装</a:t>
            </a:r>
            <a:endParaRPr lang="en-US" sz="1200" dirty="0"/>
          </a:p>
          <a:p>
            <a:pPr marL="254000" indent="-254000">
              <a:lnSpc>
                <a:spcPts val="1800"/>
              </a:lnSpc>
              <a:buSzPct val="100000"/>
              <a:buChar char="•"/>
            </a:pPr>
            <a:r>
              <a:rPr lang="en-US" sz="1200" dirty="0">
                <a:solidFill>
                  <a:srgbClr val="2C3E50"/>
                </a:solidFill>
              </a:rPr>
              <a:t>全機能実装されたテストサイト構築</a:t>
            </a:r>
            <a:endParaRPr lang="en-US" sz="1200" dirty="0"/>
          </a:p>
          <a:p>
            <a:pPr marL="342900" indent="-342900">
              <a:lnSpc>
                <a:spcPts val="1800"/>
              </a:lnSpc>
              <a:buSzPct val="100000"/>
              <a:buChar char="•"/>
            </a:pPr>
            <a:r>
              <a:rPr lang="en-US" sz="1200" dirty="0">
                <a:solidFill>
                  <a:srgbClr val="2C3E50"/>
                </a:solidFill>
              </a:rPr>
              <a:t>Phase 2：第1候補への申請</a:t>
            </a:r>
            <a:endParaRPr lang="en-US" sz="1200" dirty="0"/>
          </a:p>
          <a:p>
            <a:pPr marL="254000" indent="-254000">
              <a:lnSpc>
                <a:spcPts val="1800"/>
              </a:lnSpc>
              <a:buSzPct val="100000"/>
              <a:buChar char="•"/>
            </a:pPr>
            <a:r>
              <a:rPr lang="en-US" sz="1200" dirty="0">
                <a:solidFill>
                  <a:srgbClr val="2C3E50"/>
                </a:solidFill>
              </a:rPr>
              <a:t>AXES Paymentへの問合せとヒアリング</a:t>
            </a:r>
            <a:endParaRPr lang="en-US" sz="1200" dirty="0"/>
          </a:p>
          <a:p>
            <a:pPr marL="508000" indent="-508000">
              <a:lnSpc>
                <a:spcPts val="1800"/>
              </a:lnSpc>
              <a:buSzPct val="100000"/>
              <a:buChar char="•"/>
            </a:pPr>
            <a:r>
              <a:rPr lang="en-US" sz="1200" b="1" dirty="0">
                <a:solidFill>
                  <a:srgbClr val="E74C3C"/>
                </a:solidFill>
              </a:rPr>
              <a:t>BitCash/C-CHECK取扱可否を最優先確認</a:t>
            </a:r>
            <a:endParaRPr lang="en-US" sz="1200" dirty="0"/>
          </a:p>
          <a:p>
            <a:pPr marL="254000" indent="-254000">
              <a:lnSpc>
                <a:spcPts val="1800"/>
              </a:lnSpc>
              <a:buSzPct val="100000"/>
              <a:buChar char="•"/>
            </a:pPr>
            <a:r>
              <a:rPr lang="en-US" sz="1200" dirty="0">
                <a:solidFill>
                  <a:srgbClr val="2C3E50"/>
                </a:solidFill>
              </a:rPr>
              <a:t>リスク緩和資料を準備して審査対応</a:t>
            </a:r>
            <a:endParaRPr lang="en-US" sz="1200" dirty="0"/>
          </a:p>
          <a:p>
            <a:pPr marL="342900" indent="-342900">
              <a:lnSpc>
                <a:spcPts val="1800"/>
              </a:lnSpc>
              <a:buSzPct val="100000"/>
              <a:buChar char="•"/>
            </a:pPr>
            <a:r>
              <a:rPr lang="en-US" sz="1200" dirty="0">
                <a:solidFill>
                  <a:srgbClr val="2C3E50"/>
                </a:solidFill>
              </a:rPr>
              <a:t>Phase 3：第2候補への並行申請</a:t>
            </a:r>
            <a:endParaRPr lang="en-US" sz="1200" dirty="0"/>
          </a:p>
          <a:p>
            <a:pPr marL="254000" indent="-254000">
              <a:lnSpc>
                <a:spcPts val="1800"/>
              </a:lnSpc>
              <a:buSzPct val="100000"/>
              <a:buChar char="•"/>
            </a:pPr>
            <a:r>
              <a:rPr lang="en-US" sz="1200" dirty="0">
                <a:solidFill>
                  <a:srgbClr val="2C3E50"/>
                </a:solidFill>
              </a:rPr>
              <a:t>ICPGW、SUI Credit、CREDIXへの同時申請</a:t>
            </a:r>
            <a:endParaRPr lang="en-US" sz="1200" dirty="0"/>
          </a:p>
          <a:p>
            <a:pPr marL="254000" indent="-254000">
              <a:lnSpc>
                <a:spcPts val="1800"/>
              </a:lnSpc>
              <a:buSzPct val="100000"/>
              <a:buChar char="•"/>
            </a:pPr>
            <a:r>
              <a:rPr lang="en-US" sz="1200" dirty="0">
                <a:solidFill>
                  <a:srgbClr val="2C3E50"/>
                </a:solidFill>
              </a:rPr>
              <a:t>複数PGで承認可能性を最大化</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r>
              <a:rPr lang="en-US" sz="1400" b="1" dirty="0">
                <a:solidFill>
                  <a:srgbClr val="2C3E50"/>
                </a:solidFill>
              </a:rPr>
              <a:t>第8部：総合戦略提言 (2/2)</a:t>
            </a:r>
            <a:endParaRPr lang="en-US" sz="14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2400" b="1" dirty="0">
                <a:solidFill>
                  <a:srgbClr val="3498DB"/>
                </a:solidFill>
              </a:rPr>
              <a:t>リスク認識と現実的な期待値設定</a:t>
            </a:r>
            <a:endParaRPr lang="en-US" sz="2400" dirty="0"/>
          </a:p>
        </p:txBody>
      </p:sp>
      <p:sp>
        <p:nvSpPr>
          <p:cNvPr id="4" name="Text 2"/>
          <p:cNvSpPr/>
          <p:nvPr/>
        </p:nvSpPr>
        <p:spPr>
          <a:xfrm>
            <a:off x="457200" y="1371600"/>
            <a:ext cx="8229600" cy="5029200"/>
          </a:xfrm>
          <a:prstGeom prst="rect">
            <a:avLst/>
          </a:prstGeom>
          <a:noFill/>
          <a:ln/>
        </p:spPr>
        <p:txBody>
          <a:bodyPr wrap="square" rtlCol="0" anchor="ctr"/>
          <a:lstStyle/>
          <a:p>
            <a:pPr marL="342900" indent="-342900">
              <a:lnSpc>
                <a:spcPts val="1800"/>
              </a:lnSpc>
              <a:buSzPct val="100000"/>
              <a:buChar char="•"/>
            </a:pPr>
            <a:r>
              <a:rPr lang="en-US" sz="1200" dirty="0">
                <a:solidFill>
                  <a:srgbClr val="2C3E50"/>
                </a:solidFill>
              </a:rPr>
              <a:t>認識すべき現実</a:t>
            </a:r>
            <a:endParaRPr lang="en-US" sz="1200" dirty="0"/>
          </a:p>
          <a:p>
            <a:pPr marL="254000" indent="-254000">
              <a:lnSpc>
                <a:spcPts val="1800"/>
              </a:lnSpc>
              <a:buSzPct val="100000"/>
              <a:buChar char="•"/>
            </a:pPr>
            <a:r>
              <a:rPr lang="en-US" sz="1200" b="1" dirty="0">
                <a:solidFill>
                  <a:srgbClr val="E74C3C"/>
                </a:solidFill>
              </a:rPr>
              <a:t>AIアダルトチャットは決済市場のリスクスペクトルの最先端</a:t>
            </a:r>
            <a:endParaRPr lang="en-US" sz="1200" dirty="0"/>
          </a:p>
          <a:p>
            <a:pPr marL="254000" indent="-254000">
              <a:lnSpc>
                <a:spcPts val="1800"/>
              </a:lnSpc>
              <a:buSzPct val="100000"/>
              <a:buChar char="•"/>
            </a:pPr>
            <a:r>
              <a:rPr lang="en-US" sz="1200" dirty="0">
                <a:solidFill>
                  <a:srgbClr val="2C3E50"/>
                </a:solidFill>
              </a:rPr>
              <a:t>市場は既にAI生成コンテンツをリスク要素と見なし自主規制開始</a:t>
            </a:r>
            <a:endParaRPr lang="en-US" sz="1200" dirty="0"/>
          </a:p>
          <a:p>
            <a:pPr marL="254000" indent="-254000">
              <a:lnSpc>
                <a:spcPts val="1800"/>
              </a:lnSpc>
              <a:buSzPct val="100000"/>
              <a:buChar char="•"/>
            </a:pPr>
            <a:r>
              <a:rPr lang="en-US" sz="1200" dirty="0">
                <a:solidFill>
                  <a:srgbClr val="C0392B"/>
                </a:solidFill>
              </a:rPr>
              <a:t>審査通過は決して保証されない</a:t>
            </a:r>
            <a:endParaRPr lang="en-US" sz="1200" dirty="0"/>
          </a:p>
          <a:p>
            <a:pPr marL="342900" indent="-342900">
              <a:lnSpc>
                <a:spcPts val="1800"/>
              </a:lnSpc>
              <a:buSzPct val="100000"/>
              <a:buChar char="•"/>
            </a:pPr>
            <a:r>
              <a:rPr lang="en-US" sz="1200" dirty="0">
                <a:solidFill>
                  <a:srgbClr val="2C3E50"/>
                </a:solidFill>
              </a:rPr>
              <a:t>成功の鍵</a:t>
            </a:r>
            <a:endParaRPr lang="en-US" sz="1200" dirty="0"/>
          </a:p>
          <a:p>
            <a:pPr marL="254000" indent="-254000">
              <a:lnSpc>
                <a:spcPts val="1800"/>
              </a:lnSpc>
              <a:buSzPct val="100000"/>
              <a:buChar char="•"/>
            </a:pPr>
            <a:r>
              <a:rPr lang="en-US" sz="1200" dirty="0">
                <a:solidFill>
                  <a:srgbClr val="2C3E50"/>
                </a:solidFill>
              </a:rPr>
              <a:t>専門PGの発掘（AXES、ICPGW、SUI、CREDIXなど）</a:t>
            </a:r>
            <a:endParaRPr lang="en-US" sz="1200" dirty="0"/>
          </a:p>
          <a:p>
            <a:pPr marL="254000" indent="-254000">
              <a:lnSpc>
                <a:spcPts val="1800"/>
              </a:lnSpc>
              <a:buSzPct val="100000"/>
              <a:buChar char="•"/>
            </a:pPr>
            <a:r>
              <a:rPr lang="en-US" sz="1200" b="1" dirty="0">
                <a:solidFill>
                  <a:srgbClr val="E74C3C"/>
                </a:solidFill>
              </a:rPr>
              <a:t>サービスが「制御不可能なディープフェイク責任爆弾」ではなく「管理可能なリスク」であることを説得</a:t>
            </a:r>
            <a:endParaRPr lang="en-US" sz="1200" dirty="0"/>
          </a:p>
          <a:p>
            <a:pPr marL="254000" indent="-254000">
              <a:lnSpc>
                <a:spcPts val="1800"/>
              </a:lnSpc>
              <a:buSzPct val="100000"/>
              <a:buChar char="•"/>
            </a:pPr>
            <a:r>
              <a:rPr lang="en-US" sz="1200" dirty="0">
                <a:solidFill>
                  <a:srgbClr val="2C3E50"/>
                </a:solidFill>
              </a:rPr>
              <a:t>圧倒的に説得力のある回答資料の準備</a:t>
            </a:r>
            <a:endParaRPr lang="en-US" sz="1200" dirty="0"/>
          </a:p>
          <a:p>
            <a:pPr marL="342900" indent="-342900">
              <a:lnSpc>
                <a:spcPts val="1800"/>
              </a:lnSpc>
              <a:buSzPct val="100000"/>
              <a:buChar char="•"/>
            </a:pPr>
            <a:r>
              <a:rPr lang="en-US" sz="1200" dirty="0">
                <a:solidFill>
                  <a:srgbClr val="2C3E50"/>
                </a:solidFill>
              </a:rPr>
              <a:t>覚悟すべき事項</a:t>
            </a:r>
            <a:endParaRPr lang="en-US" sz="1200" dirty="0"/>
          </a:p>
          <a:p>
            <a:pPr marL="254000" indent="-254000">
              <a:lnSpc>
                <a:spcPts val="1800"/>
              </a:lnSpc>
              <a:buSzPct val="100000"/>
              <a:buChar char="•"/>
            </a:pPr>
            <a:r>
              <a:rPr lang="en-US" sz="1200" dirty="0">
                <a:solidFill>
                  <a:srgbClr val="2C3E50"/>
                </a:solidFill>
              </a:rPr>
              <a:t>高額な初期費用（50,000～300,000円）</a:t>
            </a:r>
            <a:endParaRPr lang="en-US" sz="1200" dirty="0"/>
          </a:p>
          <a:p>
            <a:pPr marL="254000" indent="-254000">
              <a:lnSpc>
                <a:spcPts val="1800"/>
              </a:lnSpc>
              <a:buSzPct val="100000"/>
              <a:buChar char="•"/>
            </a:pPr>
            <a:r>
              <a:rPr lang="en-US" sz="1200" dirty="0">
                <a:solidFill>
                  <a:srgbClr val="2C3E50"/>
                </a:solidFill>
              </a:rPr>
              <a:t>高い決済手数料（5～12%）</a:t>
            </a:r>
            <a:endParaRPr lang="en-US" sz="1200" dirty="0"/>
          </a:p>
          <a:p>
            <a:pPr marL="254000" indent="-254000">
              <a:lnSpc>
                <a:spcPts val="1800"/>
              </a:lnSpc>
              <a:buSzPct val="100000"/>
              <a:buChar char="•"/>
            </a:pPr>
            <a:r>
              <a:rPr lang="en-US" sz="1200" dirty="0">
                <a:solidFill>
                  <a:srgbClr val="2C3E50"/>
                </a:solidFill>
              </a:rPr>
              <a:t>長く困難な審査プロセス（数週間～数ヶ月）</a:t>
            </a:r>
            <a:endParaRPr lang="en-US" sz="1200" dirty="0"/>
          </a:p>
          <a:p>
            <a:pPr marL="254000" indent="-254000">
              <a:lnSpc>
                <a:spcPts val="1800"/>
              </a:lnSpc>
              <a:buSzPct val="100000"/>
              <a:buChar char="•"/>
            </a:pPr>
            <a:r>
              <a:rPr lang="en-US" sz="1200" dirty="0">
                <a:solidFill>
                  <a:srgbClr val="2C3E50"/>
                </a:solidFill>
              </a:rPr>
              <a:t>複数PGへの並行申請の必要性</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C3E50"/>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lgn="l">
              <a:buNone/>
            </a:pPr>
            <a:endParaRPr lang="en-US" sz="1400" dirty="0"/>
          </a:p>
        </p:txBody>
      </p:sp>
      <p:sp>
        <p:nvSpPr>
          <p:cNvPr id="3" name="Text 1"/>
          <p:cNvSpPr/>
          <p:nvPr/>
        </p:nvSpPr>
        <p:spPr>
          <a:xfrm>
            <a:off x="457200" y="1371600"/>
            <a:ext cx="8229600" cy="548640"/>
          </a:xfrm>
          <a:prstGeom prst="rect">
            <a:avLst/>
          </a:prstGeom>
          <a:noFill/>
          <a:ln/>
        </p:spPr>
        <p:txBody>
          <a:bodyPr wrap="square" rtlCol="0" anchor="ctr"/>
          <a:lstStyle/>
          <a:p>
            <a:pPr marL="0" indent="0" algn="ctr">
              <a:buNone/>
            </a:pPr>
            <a:r>
              <a:rPr lang="en-US" sz="3200" b="1" dirty="0">
                <a:solidFill>
                  <a:srgbClr val="FFFFFF"/>
                </a:solidFill>
              </a:rPr>
              <a:t>最終結論</a:t>
            </a:r>
            <a:endParaRPr lang="en-US" sz="3200" dirty="0"/>
          </a:p>
        </p:txBody>
      </p:sp>
      <p:sp>
        <p:nvSpPr>
          <p:cNvPr id="4" name="Text 2"/>
          <p:cNvSpPr/>
          <p:nvPr/>
        </p:nvSpPr>
        <p:spPr>
          <a:xfrm>
            <a:off x="914400" y="2286000"/>
            <a:ext cx="7315200" cy="3657600"/>
          </a:xfrm>
          <a:prstGeom prst="rect">
            <a:avLst/>
          </a:prstGeom>
          <a:noFill/>
          <a:ln/>
        </p:spPr>
        <p:txBody>
          <a:bodyPr wrap="square" rtlCol="0" anchor="ctr"/>
          <a:lstStyle/>
          <a:p>
            <a:pPr marL="0" indent="0" algn="l">
              <a:lnSpc>
                <a:spcPts val="2800"/>
              </a:lnSpc>
              <a:buNone/>
            </a:pPr>
            <a:r>
              <a:rPr lang="en-US" sz="1600" dirty="0">
                <a:solidFill>
                  <a:srgbClr val="FFFFFF"/>
                </a:solidFill>
              </a:rPr>
              <a:t>✅ 実行可能性：あり（但し困難を伴う）</a:t>
            </a:r>
            <a:endParaRPr lang="en-US" sz="1600" dirty="0"/>
          </a:p>
          <a:p>
            <a:pPr marL="0" indent="0" algn="l">
              <a:lnSpc>
                <a:spcPts val="2800"/>
              </a:lnSpc>
              <a:buNone/>
            </a:pPr>
            <a:endParaRPr lang="en-US" sz="1600" dirty="0"/>
          </a:p>
          <a:p>
            <a:pPr marL="0" indent="0" algn="l">
              <a:lnSpc>
                <a:spcPts val="2800"/>
              </a:lnSpc>
              <a:buNone/>
            </a:pPr>
            <a:r>
              <a:rPr lang="en-US" sz="1600" dirty="0">
                <a:solidFill>
                  <a:srgbClr val="FFFFFF"/>
                </a:solidFill>
              </a:rPr>
              <a:t>🎯 最優先戦略</a:t>
            </a:r>
            <a:endParaRPr lang="en-US" sz="1600" dirty="0"/>
          </a:p>
          <a:p>
            <a:pPr marL="0" indent="0" algn="l">
              <a:lnSpc>
                <a:spcPts val="2800"/>
              </a:lnSpc>
              <a:buNone/>
            </a:pPr>
            <a:r>
              <a:rPr lang="en-US" sz="1600" dirty="0">
                <a:solidFill>
                  <a:srgbClr val="FFFFFF"/>
                </a:solidFill>
              </a:rPr>
              <a:t>BitCash/C-CHECK導入（AXES Paymentまたは専門PG経由）</a:t>
            </a:r>
            <a:endParaRPr lang="en-US" sz="1600" dirty="0"/>
          </a:p>
          <a:p>
            <a:pPr marL="0" indent="0" algn="l">
              <a:lnSpc>
                <a:spcPts val="2800"/>
              </a:lnSpc>
              <a:buNone/>
            </a:pPr>
            <a:endParaRPr lang="en-US" sz="1600" dirty="0"/>
          </a:p>
          <a:p>
            <a:pPr marL="0" indent="0" algn="l">
              <a:lnSpc>
                <a:spcPts val="2800"/>
              </a:lnSpc>
              <a:buNone/>
            </a:pPr>
            <a:r>
              <a:rPr lang="en-US" sz="1600" dirty="0">
                <a:solidFill>
                  <a:srgbClr val="FFFFFF"/>
                </a:solidFill>
              </a:rPr>
              <a:t>⚠️ 回避対象</a:t>
            </a:r>
            <a:endParaRPr lang="en-US" sz="1600" dirty="0"/>
          </a:p>
          <a:p>
            <a:pPr marL="0" indent="0" algn="l">
              <a:lnSpc>
                <a:spcPts val="2800"/>
              </a:lnSpc>
              <a:buNone/>
            </a:pPr>
            <a:r>
              <a:rPr lang="en-US" sz="1600" dirty="0">
                <a:solidFill>
                  <a:srgbClr val="FFFFFF"/>
                </a:solidFill>
              </a:rPr>
              <a:t>GMO-PG、VeriTrans、QR決済への申請</a:t>
            </a:r>
            <a:endParaRPr lang="en-US" sz="1600" dirty="0"/>
          </a:p>
          <a:p>
            <a:pPr marL="0" indent="0" algn="l">
              <a:lnSpc>
                <a:spcPts val="2800"/>
              </a:lnSpc>
              <a:buNone/>
            </a:pPr>
            <a:endParaRPr lang="en-US" sz="1600" dirty="0"/>
          </a:p>
          <a:p>
            <a:pPr marL="0" indent="0" algn="l">
              <a:lnSpc>
                <a:spcPts val="2800"/>
              </a:lnSpc>
              <a:buNone/>
            </a:pPr>
            <a:r>
              <a:rPr lang="en-US" sz="1600" dirty="0">
                <a:solidFill>
                  <a:srgbClr val="FFFFFF"/>
                </a:solidFill>
              </a:rPr>
              <a:t>💰 予想費用</a:t>
            </a:r>
            <a:endParaRPr lang="en-US" sz="1600" dirty="0"/>
          </a:p>
          <a:p>
            <a:pPr marL="0" indent="0" algn="l">
              <a:lnSpc>
                <a:spcPts val="2800"/>
              </a:lnSpc>
              <a:buNone/>
            </a:pPr>
            <a:r>
              <a:rPr lang="en-US" sz="1600" dirty="0">
                <a:solidFill>
                  <a:srgbClr val="FFFFFF"/>
                </a:solidFill>
              </a:rPr>
              <a:t>初期費用50,000～300,000円 + 手数料5～12%</a:t>
            </a:r>
            <a:endParaRPr lang="en-US" sz="1600" dirty="0"/>
          </a:p>
          <a:p>
            <a:pPr marL="0" indent="0" algn="l">
              <a:lnSpc>
                <a:spcPts val="2800"/>
              </a:lnSpc>
              <a:buNone/>
            </a:pPr>
            <a:endParaRPr lang="en-US" sz="1600" dirty="0"/>
          </a:p>
          <a:p>
            <a:pPr marL="0" indent="0" algn="l">
              <a:lnSpc>
                <a:spcPts val="2800"/>
              </a:lnSpc>
              <a:buNone/>
            </a:pPr>
            <a:r>
              <a:rPr lang="en-US" sz="1600" dirty="0">
                <a:solidFill>
                  <a:srgbClr val="FFFFFF"/>
                </a:solidFill>
              </a:rPr>
              <a:t>⏱️ 審査期間</a:t>
            </a:r>
            <a:endParaRPr lang="en-US" sz="1600" dirty="0"/>
          </a:p>
          <a:p>
            <a:pPr marL="0" indent="0" algn="l">
              <a:lnSpc>
                <a:spcPts val="2800"/>
              </a:lnSpc>
              <a:buNone/>
            </a:pPr>
            <a:r>
              <a:rPr lang="en-US" sz="1600" dirty="0">
                <a:solidFill>
                  <a:srgbClr val="FFFFFF"/>
                </a:solidFill>
              </a:rPr>
              <a:t>数週間～数ヶ月（長期戦を覚悟）</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1815</Words>
  <Application>Microsoft Office PowerPoint</Application>
  <PresentationFormat>화면 슬라이드 쇼(4:3)</PresentationFormat>
  <Paragraphs>550</Paragraphs>
  <Slides>30</Slides>
  <Notes>30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30</vt:i4>
      </vt:variant>
    </vt:vector>
  </HeadingPairs>
  <TitlesOfParts>
    <vt:vector size="34"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日本AI成人コンテンツ決済PG総合分析</dc:title>
  <dc:subject>決済代行会社調査レポート</dc:subject>
  <dc:creator>namos-chat-v1</dc:creator>
  <cp:lastModifiedBy>park sengchur</cp:lastModifiedBy>
  <cp:revision>2</cp:revision>
  <dcterms:created xsi:type="dcterms:W3CDTF">2025-11-13T05:39:19Z</dcterms:created>
  <dcterms:modified xsi:type="dcterms:W3CDTF">2025-11-13T05:54:39Z</dcterms:modified>
</cp:coreProperties>
</file>